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media/image1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323000"/>
            <a:ext cx="9070560" cy="3740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40F7D45-D4CF-4C05-A784-EB6886E2CD6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504000" y="1323000"/>
            <a:ext cx="9070560" cy="3740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109D648-0819-46EB-8FDB-3A405139CD1B}"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504000" y="1323000"/>
            <a:ext cx="9070560" cy="3740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12A7D68-5DB3-4BC2-B41D-98E2B937AD8E}"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_">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504000" y="1323000"/>
            <a:ext cx="9070560" cy="3740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C84E538-C9E2-4A41-9177-F290DC85EF3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504000" y="1323000"/>
            <a:ext cx="9070560" cy="37404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86A50BBD-8190-4FD8-BD44-EFAAED759800}" type="slidenum">
              <a:t>&lt;#&gt;</a:t>
            </a:fld>
          </a:p>
        </p:txBody>
      </p:sp>
      <p:sp>
        <p:nvSpPr>
          <p:cNvPr id="6" name="PlaceHolder 5"/>
          <p:cNvSpPr>
            <a:spLocks noGrp="1"/>
          </p:cNvSpPr>
          <p:nvPr>
            <p:ph type="dt" idx="1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504000" y="1323000"/>
            <a:ext cx="9070560" cy="3740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3447360" y="5165280"/>
            <a:ext cx="3193920" cy="3895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7227360" y="5165280"/>
            <a:ext cx="2347200" cy="389520"/>
          </a:xfrm>
          <a:prstGeom prst="rect">
            <a:avLst/>
          </a:prstGeom>
          <a:noFill/>
          <a:ln w="0">
            <a:noFill/>
          </a:ln>
        </p:spPr>
        <p:txBody>
          <a:bodyPr lIns="0" rIns="0" tIns="0" bIns="0" anchor="t">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6CEF5ECA-A210-4DE8-951E-0256CB7B2A9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 name="PlaceHolder 5"/>
          <p:cNvSpPr>
            <a:spLocks noGrp="1"/>
          </p:cNvSpPr>
          <p:nvPr>
            <p:ph type="dt" idx="3"/>
          </p:nvPr>
        </p:nvSpPr>
        <p:spPr>
          <a:xfrm>
            <a:off x="504000" y="5165280"/>
            <a:ext cx="234720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body"/>
          </p:nvPr>
        </p:nvSpPr>
        <p:spPr>
          <a:xfrm>
            <a:off x="504000" y="1323000"/>
            <a:ext cx="9070560" cy="3740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 name="PlaceHolder 3"/>
          <p:cNvSpPr>
            <a:spLocks noGrp="1"/>
          </p:cNvSpPr>
          <p:nvPr>
            <p:ph type="ftr" idx="4"/>
          </p:nvPr>
        </p:nvSpPr>
        <p:spPr>
          <a:xfrm>
            <a:off x="3443760" y="5255280"/>
            <a:ext cx="3190320" cy="300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4"/>
          <p:cNvSpPr>
            <a:spLocks noGrp="1"/>
          </p:cNvSpPr>
          <p:nvPr>
            <p:ph type="sldNum" idx="5"/>
          </p:nvPr>
        </p:nvSpPr>
        <p:spPr>
          <a:xfrm>
            <a:off x="7223760" y="5255280"/>
            <a:ext cx="2350800" cy="300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0D5C865-5D1A-45AD-B496-9C63BEA89E8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5"/>
          <p:cNvSpPr>
            <a:spLocks noGrp="1"/>
          </p:cNvSpPr>
          <p:nvPr>
            <p:ph type="dt" idx="6"/>
          </p:nvPr>
        </p:nvSpPr>
        <p:spPr>
          <a:xfrm>
            <a:off x="504000" y="5255280"/>
            <a:ext cx="2350800" cy="300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504000" y="1323000"/>
            <a:ext cx="9070560" cy="3740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ftr" idx="7"/>
          </p:nvPr>
        </p:nvSpPr>
        <p:spPr>
          <a:xfrm>
            <a:off x="3443760" y="5255280"/>
            <a:ext cx="3190320" cy="300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4"/>
          <p:cNvSpPr>
            <a:spLocks noGrp="1"/>
          </p:cNvSpPr>
          <p:nvPr>
            <p:ph type="sldNum" idx="8"/>
          </p:nvPr>
        </p:nvSpPr>
        <p:spPr>
          <a:xfrm>
            <a:off x="7223760" y="5255280"/>
            <a:ext cx="2350800" cy="300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C762920-72F8-4EEA-87A7-CCD8831A84C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8" name="PlaceHolder 5"/>
          <p:cNvSpPr>
            <a:spLocks noGrp="1"/>
          </p:cNvSpPr>
          <p:nvPr>
            <p:ph type="dt" idx="9"/>
          </p:nvPr>
        </p:nvSpPr>
        <p:spPr>
          <a:xfrm>
            <a:off x="504000" y="5255280"/>
            <a:ext cx="2350800" cy="300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body"/>
          </p:nvPr>
        </p:nvSpPr>
        <p:spPr>
          <a:xfrm>
            <a:off x="504000" y="1323000"/>
            <a:ext cx="9070560" cy="3740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 name="PlaceHolder 3"/>
          <p:cNvSpPr>
            <a:spLocks noGrp="1"/>
          </p:cNvSpPr>
          <p:nvPr>
            <p:ph type="ftr" idx="10"/>
          </p:nvPr>
        </p:nvSpPr>
        <p:spPr>
          <a:xfrm>
            <a:off x="3443760" y="5256000"/>
            <a:ext cx="3191040" cy="300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4"/>
          <p:cNvSpPr>
            <a:spLocks noGrp="1"/>
          </p:cNvSpPr>
          <p:nvPr>
            <p:ph type="sldNum" idx="11"/>
          </p:nvPr>
        </p:nvSpPr>
        <p:spPr>
          <a:xfrm>
            <a:off x="7224120" y="5256000"/>
            <a:ext cx="2351160" cy="300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4D2AC7D-75B5-44B0-BBC8-41126EC2739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5" name="PlaceHolder 5"/>
          <p:cNvSpPr>
            <a:spLocks noGrp="1"/>
          </p:cNvSpPr>
          <p:nvPr>
            <p:ph type="dt" idx="12"/>
          </p:nvPr>
        </p:nvSpPr>
        <p:spPr>
          <a:xfrm>
            <a:off x="504000" y="5256000"/>
            <a:ext cx="2351160" cy="300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226800"/>
            <a:ext cx="9070560" cy="943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 name="PlaceHolder 2"/>
          <p:cNvSpPr>
            <a:spLocks noGrp="1"/>
          </p:cNvSpPr>
          <p:nvPr>
            <p:ph type="body"/>
          </p:nvPr>
        </p:nvSpPr>
        <p:spPr>
          <a:xfrm>
            <a:off x="504000" y="1323000"/>
            <a:ext cx="9070560" cy="37404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3"/>
          <p:cNvSpPr>
            <a:spLocks noGrp="1"/>
          </p:cNvSpPr>
          <p:nvPr>
            <p:ph type="ftr" idx="13"/>
          </p:nvPr>
        </p:nvSpPr>
        <p:spPr>
          <a:xfrm>
            <a:off x="3443760" y="5256000"/>
            <a:ext cx="3191040" cy="300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1" name="PlaceHolder 4"/>
          <p:cNvSpPr>
            <a:spLocks noGrp="1"/>
          </p:cNvSpPr>
          <p:nvPr>
            <p:ph type="sldNum" idx="14"/>
          </p:nvPr>
        </p:nvSpPr>
        <p:spPr>
          <a:xfrm>
            <a:off x="7224120" y="5256000"/>
            <a:ext cx="2351160" cy="300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89B2825-8EC9-40CB-9CE4-D0031F8E664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2" name="PlaceHolder 5"/>
          <p:cNvSpPr>
            <a:spLocks noGrp="1"/>
          </p:cNvSpPr>
          <p:nvPr>
            <p:ph type="dt" idx="15"/>
          </p:nvPr>
        </p:nvSpPr>
        <p:spPr>
          <a:xfrm>
            <a:off x="504000" y="5256000"/>
            <a:ext cx="2351160" cy="300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300960" y="1828800"/>
            <a:ext cx="9070560" cy="94536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Support Vector Machine(SVM)</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37" name="" descr=""/>
          <p:cNvPicPr/>
          <p:nvPr/>
        </p:nvPicPr>
        <p:blipFill>
          <a:blip r:embed="rId1"/>
          <a:stretch/>
        </p:blipFill>
        <p:spPr>
          <a:xfrm>
            <a:off x="88560" y="457200"/>
            <a:ext cx="9990360" cy="47995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39" name="" descr=""/>
          <p:cNvPicPr/>
          <p:nvPr/>
        </p:nvPicPr>
        <p:blipFill>
          <a:blip r:embed="rId1"/>
          <a:stretch/>
        </p:blipFill>
        <p:spPr>
          <a:xfrm>
            <a:off x="-4680" y="658440"/>
            <a:ext cx="10078560" cy="43434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p:nvPr>
        </p:nvSpPr>
        <p:spPr>
          <a:xfrm>
            <a:off x="457200" y="914400"/>
            <a:ext cx="9070560" cy="5256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pc="-1" strike="noStrike">
                <a:solidFill>
                  <a:srgbClr val="000000"/>
                </a:solidFill>
                <a:latin typeface="Arial"/>
              </a:rPr>
              <a:t>After training, the parameter of the linear model, the weight vector, can be written down</a:t>
            </a:r>
            <a:endParaRPr b="0" lang="en-US" sz="1600" spc="-1" strike="noStrike">
              <a:solidFill>
                <a:srgbClr val="000000"/>
              </a:solidFill>
              <a:latin typeface="Arial"/>
            </a:endParaRPr>
          </a:p>
          <a:p>
            <a:pPr marL="432000" indent="0">
              <a:lnSpc>
                <a:spcPct val="100000"/>
              </a:lnSpc>
              <a:spcBef>
                <a:spcPts val="1417"/>
              </a:spcBef>
              <a:buNone/>
              <a:tabLst>
                <a:tab algn="l" pos="0"/>
              </a:tabLst>
            </a:pPr>
            <a:r>
              <a:rPr b="0" lang="en-US" sz="1600" spc="-1" strike="noStrike">
                <a:solidFill>
                  <a:srgbClr val="000000"/>
                </a:solidFill>
                <a:latin typeface="Arial"/>
              </a:rPr>
              <a:t>in terms of a subset of the training set, which are the support vectors.</a:t>
            </a:r>
            <a:endParaRPr b="0" lang="en-US" sz="16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600" spc="-1" strike="noStrike">
                <a:solidFill>
                  <a:srgbClr val="000000"/>
                </a:solidFill>
                <a:latin typeface="Arial"/>
              </a:rPr>
              <a:t>In classification, these are the cases that are close to the boundary and as such, knowing</a:t>
            </a:r>
            <a:endParaRPr b="0" lang="en-US" sz="1600" spc="-1" strike="noStrike">
              <a:solidFill>
                <a:srgbClr val="000000"/>
              </a:solidFill>
              <a:latin typeface="Arial"/>
            </a:endParaRPr>
          </a:p>
          <a:p>
            <a:pPr marL="432000" indent="0">
              <a:lnSpc>
                <a:spcPct val="100000"/>
              </a:lnSpc>
              <a:spcBef>
                <a:spcPts val="1417"/>
              </a:spcBef>
              <a:buNone/>
              <a:tabLst>
                <a:tab algn="l" pos="0"/>
              </a:tabLst>
            </a:pPr>
            <a:r>
              <a:rPr b="0" lang="en-US" sz="1600" spc="-1" strike="noStrike">
                <a:solidFill>
                  <a:srgbClr val="000000"/>
                </a:solidFill>
                <a:latin typeface="Arial"/>
              </a:rPr>
              <a:t>them allows knowledge extraction:</a:t>
            </a:r>
            <a:endParaRPr b="0" lang="en-US" sz="16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p:txBody>
      </p:sp>
      <p:pic>
        <p:nvPicPr>
          <p:cNvPr id="41" name="" descr=""/>
          <p:cNvPicPr/>
          <p:nvPr/>
        </p:nvPicPr>
        <p:blipFill>
          <a:blip r:embed="rId1"/>
          <a:stretch/>
        </p:blipFill>
        <p:spPr>
          <a:xfrm>
            <a:off x="3438720" y="2410200"/>
            <a:ext cx="3189600" cy="28465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3"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44" name="" descr=""/>
          <p:cNvPicPr/>
          <p:nvPr/>
        </p:nvPicPr>
        <p:blipFill>
          <a:blip r:embed="rId1"/>
          <a:stretch/>
        </p:blipFill>
        <p:spPr>
          <a:xfrm>
            <a:off x="954000" y="-4320"/>
            <a:ext cx="8161560" cy="5668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6" name="PlaceHolder 2"/>
          <p:cNvSpPr>
            <a:spLocks noGrp="1"/>
          </p:cNvSpPr>
          <p:nvPr>
            <p:ph/>
          </p:nvPr>
        </p:nvSpPr>
        <p:spPr>
          <a:xfrm>
            <a:off x="504000" y="1326600"/>
            <a:ext cx="9070560" cy="3287160"/>
          </a:xfrm>
          <a:prstGeom prst="rect">
            <a:avLst/>
          </a:prstGeom>
          <a:noFill/>
          <a:ln w="0">
            <a:noFill/>
          </a:ln>
        </p:spPr>
        <p:txBody>
          <a:bodyPr lIns="0" rIns="0" tIns="0" bIns="0" anchor="t">
            <a:normAutofit fontScale="87222"/>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SVM chooses the extreme points/vectors that help in creating the hyperplane.</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These extreme cases are called as support vectors, and hence algorithm is termed as Support Vector Machine.</a:t>
            </a:r>
            <a:endParaRPr b="0" lang="en-US" sz="3200" spc="-1" strike="noStrike">
              <a:solidFill>
                <a:srgbClr val="000000"/>
              </a:solidFill>
              <a:latin typeface="Arial"/>
            </a:endParaRPr>
          </a:p>
          <a:p>
            <a:pPr marL="432000" indent="-324000" defTabSz="457200">
              <a:lnSpc>
                <a:spcPct val="100000"/>
              </a:lnSpc>
              <a:spcBef>
                <a:spcPts val="641"/>
              </a:spcBef>
              <a:buClr>
                <a:srgbClr val="000000"/>
              </a:buClr>
              <a:buSzPct val="45000"/>
              <a:buFont typeface="Wingdings" charset="2"/>
              <a:buChar char=""/>
            </a:pPr>
            <a:r>
              <a:rPr b="0" lang="en-US" sz="3200" spc="-1" strike="noStrike">
                <a:solidFill>
                  <a:schemeClr val="dk1"/>
                </a:solidFill>
                <a:latin typeface="Calibri"/>
              </a:rPr>
              <a:t>Data points closest to the hyperplane. They influence the position of the boundary.</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8"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Support vectors are special because they are the training points that define the maximum margin of the hyperplane to the data set and they therefore determine the shape of the hyperplane</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50"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51" name="" descr=""/>
          <p:cNvPicPr/>
          <p:nvPr/>
        </p:nvPicPr>
        <p:blipFill>
          <a:blip r:embed="rId1"/>
          <a:stretch/>
        </p:blipFill>
        <p:spPr>
          <a:xfrm>
            <a:off x="1223280" y="-4320"/>
            <a:ext cx="7622640" cy="56685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53"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54" name="" descr=""/>
          <p:cNvPicPr/>
          <p:nvPr/>
        </p:nvPicPr>
        <p:blipFill>
          <a:blip r:embed="rId1"/>
          <a:stretch/>
        </p:blipFill>
        <p:spPr>
          <a:xfrm rot="69000">
            <a:off x="2004840" y="-63360"/>
            <a:ext cx="5946480" cy="56674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56"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The distance of the vectors from the hyperplane is called the margin, which is a separation of a line to the closest class points.</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We would like to choose a hyperplane that maximizes the margin between classes.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58"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The distances of the gap in-between two classes is 2/|w|. we want to maximize this distance.</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If we want to find a line that perfectly separates the two classes, we call this type of SVM cost function as Hard- Margin cost function.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529560" y="-228600"/>
            <a:ext cx="9070560" cy="94536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Types of SVM</a:t>
            </a:r>
            <a:endParaRPr b="0" lang="en-US" sz="4400" spc="-1" strike="noStrike">
              <a:solidFill>
                <a:srgbClr val="000000"/>
              </a:solidFill>
              <a:latin typeface="Arial"/>
            </a:endParaRPr>
          </a:p>
        </p:txBody>
      </p:sp>
      <p:sp>
        <p:nvSpPr>
          <p:cNvPr id="60"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61" name="" descr=""/>
          <p:cNvPicPr/>
          <p:nvPr/>
        </p:nvPicPr>
        <p:blipFill>
          <a:blip r:embed="rId1"/>
          <a:stretch/>
        </p:blipFill>
        <p:spPr>
          <a:xfrm>
            <a:off x="685800" y="717840"/>
            <a:ext cx="7999920" cy="48016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63"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64" name="" descr=""/>
          <p:cNvPicPr/>
          <p:nvPr/>
        </p:nvPicPr>
        <p:blipFill>
          <a:blip r:embed="rId1"/>
          <a:stretch/>
        </p:blipFill>
        <p:spPr>
          <a:xfrm>
            <a:off x="409320" y="-4320"/>
            <a:ext cx="9250560" cy="56685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800"/>
            <a:ext cx="9071640" cy="944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Linear SVM Definition</a:t>
            </a:r>
            <a:endParaRPr b="0" lang="en-US" sz="4400" spc="-1" strike="noStrike">
              <a:solidFill>
                <a:srgbClr val="000000"/>
              </a:solidFill>
              <a:latin typeface="Arial"/>
            </a:endParaRPr>
          </a:p>
        </p:txBody>
      </p:sp>
      <p:sp>
        <p:nvSpPr>
          <p:cNvPr id="66" name="PlaceHolder 2"/>
          <p:cNvSpPr>
            <a:spLocks noGrp="1"/>
          </p:cNvSpPr>
          <p:nvPr>
            <p:ph/>
          </p:nvPr>
        </p:nvSpPr>
        <p:spPr>
          <a:xfrm>
            <a:off x="504000" y="1323000"/>
            <a:ext cx="9071640" cy="37414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Used when data is linearly separable</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Find w and b such that: w·x + b = 0</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800"/>
            <a:ext cx="9071640" cy="944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Linear SVM Formula</a:t>
            </a:r>
            <a:endParaRPr b="0" lang="en-US" sz="4400" spc="-1" strike="noStrike">
              <a:solidFill>
                <a:srgbClr val="000000"/>
              </a:solidFill>
              <a:latin typeface="Arial"/>
            </a:endParaRPr>
          </a:p>
        </p:txBody>
      </p:sp>
      <p:sp>
        <p:nvSpPr>
          <p:cNvPr id="68" name="PlaceHolder 2"/>
          <p:cNvSpPr>
            <a:spLocks noGrp="1"/>
          </p:cNvSpPr>
          <p:nvPr>
            <p:ph/>
          </p:nvPr>
        </p:nvSpPr>
        <p:spPr>
          <a:xfrm>
            <a:off x="504000" y="1323000"/>
            <a:ext cx="9071640" cy="37414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Decision function: f(x) = w·x + b</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Constraints: yi(w·xi + b) ≥ 1</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Objective: minimize ||w||²</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800"/>
            <a:ext cx="9071640" cy="9442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70"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pPr marL="432000" indent="-324000" defTabSz="457200">
              <a:lnSpc>
                <a:spcPct val="100000"/>
              </a:lnSpc>
              <a:spcBef>
                <a:spcPts val="641"/>
              </a:spcBef>
              <a:buClr>
                <a:srgbClr val="000000"/>
              </a:buClr>
              <a:buSzPct val="45000"/>
              <a:buFont typeface="Wingdings" charset="2"/>
              <a:buChar char=""/>
            </a:pPr>
            <a:r>
              <a:rPr b="0" lang="en-US" sz="3200" spc="-1" strike="noStrike">
                <a:solidFill>
                  <a:schemeClr val="dk1"/>
                </a:solidFill>
                <a:latin typeface="Calibri"/>
              </a:rPr>
              <a:t>Decision function: f(x) = w·x + b</a:t>
            </a:r>
            <a:endParaRPr b="0" lang="en-US" sz="3200" spc="-1" strike="noStrike">
              <a:solidFill>
                <a:srgbClr val="000000"/>
              </a:solidFill>
              <a:latin typeface="Arial"/>
            </a:endParaRPr>
          </a:p>
          <a:p>
            <a:pPr marL="432000" indent="0" defTabSz="457200">
              <a:lnSpc>
                <a:spcPct val="100000"/>
              </a:lnSpc>
              <a:spcBef>
                <a:spcPts val="1191"/>
              </a:spcBef>
              <a:spcAft>
                <a:spcPts val="992"/>
              </a:spcAft>
              <a:buNone/>
              <a:tabLst>
                <a:tab algn="l" pos="0"/>
              </a:tabLst>
            </a:pPr>
            <a:endParaRPr b="0" lang="en-US" sz="1500" spc="-1" strike="noStrike">
              <a:solidFill>
                <a:srgbClr val="000000"/>
              </a:solidFill>
              <a:latin typeface="Arial"/>
            </a:endParaRPr>
          </a:p>
          <a:p>
            <a:pPr marL="432000" indent="-324000" defTabSz="457200">
              <a:lnSpc>
                <a:spcPct val="100000"/>
              </a:lnSpc>
              <a:spcBef>
                <a:spcPts val="1191"/>
              </a:spcBef>
              <a:spcAft>
                <a:spcPts val="992"/>
              </a:spcAft>
              <a:buClr>
                <a:srgbClr val="000000"/>
              </a:buClr>
              <a:buSzPct val="45000"/>
              <a:buFont typeface="Wingdings" charset="2"/>
              <a:buChar char=""/>
              <a:tabLst>
                <a:tab algn="l" pos="0"/>
              </a:tabLst>
            </a:pPr>
            <a:r>
              <a:rPr b="1" lang="en-US" sz="1500" spc="-1" strike="noStrike">
                <a:solidFill>
                  <a:schemeClr val="dk1"/>
                </a:solidFill>
                <a:latin typeface="Calibri"/>
              </a:rPr>
              <a:t>How classification works:</a:t>
            </a:r>
            <a:endParaRPr b="0" lang="en-US" sz="1500" spc="-1" strike="noStrike">
              <a:solidFill>
                <a:srgbClr val="000000"/>
              </a:solidFill>
              <a:latin typeface="Arial"/>
            </a:endParaRPr>
          </a:p>
          <a:p>
            <a:pPr marL="432000" indent="-324000" defTabSz="457200">
              <a:lnSpc>
                <a:spcPct val="100000"/>
              </a:lnSpc>
              <a:spcBef>
                <a:spcPts val="1191"/>
              </a:spcBef>
              <a:spcAft>
                <a:spcPts val="992"/>
              </a:spcAft>
              <a:buClr>
                <a:srgbClr val="000000"/>
              </a:buClr>
              <a:buSzPct val="45000"/>
              <a:buFont typeface="Wingdings" charset="2"/>
              <a:buChar char=""/>
              <a:tabLst>
                <a:tab algn="l" pos="0"/>
              </a:tabLst>
            </a:pPr>
            <a:r>
              <a:rPr b="0" lang="en-US" sz="2800" spc="-1" strike="noStrike">
                <a:solidFill>
                  <a:schemeClr val="dk1"/>
                </a:solidFill>
                <a:latin typeface="Calibri"/>
              </a:rPr>
              <a:t>If f(x)&gt;0 → Class +1</a:t>
            </a:r>
            <a:endParaRPr b="0" lang="en-US" sz="2800" spc="-1" strike="noStrike">
              <a:solidFill>
                <a:srgbClr val="000000"/>
              </a:solidFill>
              <a:latin typeface="Arial"/>
            </a:endParaRPr>
          </a:p>
          <a:p>
            <a:pPr marL="432000" indent="-324000" defTabSz="457200">
              <a:lnSpc>
                <a:spcPct val="100000"/>
              </a:lnSpc>
              <a:spcBef>
                <a:spcPts val="1191"/>
              </a:spcBef>
              <a:spcAft>
                <a:spcPts val="992"/>
              </a:spcAft>
              <a:buClr>
                <a:srgbClr val="000000"/>
              </a:buClr>
              <a:buSzPct val="45000"/>
              <a:buFont typeface="Wingdings" charset="2"/>
              <a:buChar char=""/>
              <a:tabLst>
                <a:tab algn="l" pos="0"/>
              </a:tabLst>
            </a:pPr>
            <a:r>
              <a:rPr b="0" lang="en-US" sz="2800" spc="-1" strike="noStrike">
                <a:solidFill>
                  <a:schemeClr val="dk1"/>
                </a:solidFill>
                <a:latin typeface="Calibri"/>
              </a:rPr>
              <a:t>If f(x)&lt;0 → Class −1</a:t>
            </a:r>
            <a:endParaRPr b="0" lang="en-US" sz="2800" spc="-1" strike="noStrike">
              <a:solidFill>
                <a:srgbClr val="000000"/>
              </a:solidFill>
              <a:latin typeface="Arial"/>
            </a:endParaRPr>
          </a:p>
          <a:p>
            <a:pPr marL="432000" indent="0" defTabSz="457200">
              <a:lnSpc>
                <a:spcPct val="100000"/>
              </a:lnSpc>
              <a:spcBef>
                <a:spcPts val="1191"/>
              </a:spcBef>
              <a:spcAft>
                <a:spcPts val="992"/>
              </a:spcAft>
              <a:buNone/>
              <a:tabLst>
                <a:tab algn="l" pos="0"/>
              </a:tabLst>
            </a:pPr>
            <a:r>
              <a:rPr b="0" lang="en-US" sz="1000" spc="-1" strike="noStrike">
                <a:solidFill>
                  <a:schemeClr val="dk1"/>
                </a:solidFill>
                <a:latin typeface="Calibri"/>
              </a:rPr>
              <a:t> </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04000" y="226800"/>
            <a:ext cx="9071640" cy="944280"/>
          </a:xfrm>
          <a:prstGeom prst="rect">
            <a:avLst/>
          </a:prstGeom>
          <a:noFill/>
          <a:ln w="0">
            <a:noFill/>
          </a:ln>
        </p:spPr>
        <p:txBody>
          <a:bodyPr lIns="0" rIns="0" tIns="0" bIns="0" anchor="ctr">
            <a:noAutofit/>
          </a:bodyPr>
          <a:p>
            <a:pPr indent="0">
              <a:lnSpc>
                <a:spcPct val="100000"/>
              </a:lnSpc>
              <a:buNone/>
              <a:tabLst>
                <a:tab algn="l" pos="0"/>
              </a:tabLst>
            </a:pPr>
            <a:r>
              <a:rPr b="1" lang="en-US" sz="1800" spc="-1" strike="noStrike">
                <a:solidFill>
                  <a:schemeClr val="dk1"/>
                </a:solidFill>
                <a:latin typeface="Calibri"/>
              </a:rPr>
              <a:t>Constraint</a:t>
            </a:r>
            <a:endParaRPr b="0" lang="en-US" sz="1800" spc="-1" strike="noStrike">
              <a:solidFill>
                <a:srgbClr val="000000"/>
              </a:solidFill>
              <a:latin typeface="Arial"/>
            </a:endParaRPr>
          </a:p>
        </p:txBody>
      </p:sp>
      <p:sp>
        <p:nvSpPr>
          <p:cNvPr id="72"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73" name="" descr=""/>
          <p:cNvPicPr/>
          <p:nvPr/>
        </p:nvPicPr>
        <p:blipFill>
          <a:blip r:embed="rId1"/>
          <a:stretch/>
        </p:blipFill>
        <p:spPr>
          <a:xfrm>
            <a:off x="435960" y="914400"/>
            <a:ext cx="7792920" cy="45878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300960" y="228600"/>
            <a:ext cx="9071640" cy="944280"/>
          </a:xfrm>
          <a:prstGeom prst="rect">
            <a:avLst/>
          </a:prstGeom>
          <a:noFill/>
          <a:ln w="0">
            <a:noFill/>
          </a:ln>
        </p:spPr>
        <p:txBody>
          <a:bodyPr lIns="0" rIns="0" tIns="0" bIns="0" anchor="ctr">
            <a:noAutofit/>
          </a:bodyPr>
          <a:p>
            <a:pPr indent="0">
              <a:lnSpc>
                <a:spcPct val="100000"/>
              </a:lnSpc>
              <a:buNone/>
              <a:tabLst>
                <a:tab algn="l" pos="0"/>
              </a:tabLst>
            </a:pPr>
            <a:r>
              <a:rPr b="0" lang="en-US" sz="1490" spc="-1" strike="noStrike">
                <a:solidFill>
                  <a:schemeClr val="dk1"/>
                </a:solidFill>
                <a:latin typeface="Calibri"/>
              </a:rPr>
              <a:t>Objective Function</a:t>
            </a:r>
            <a:endParaRPr b="0" lang="en-US" sz="1490" spc="-1" strike="noStrike">
              <a:solidFill>
                <a:srgbClr val="000000"/>
              </a:solidFill>
              <a:latin typeface="Arial"/>
            </a:endParaRPr>
          </a:p>
        </p:txBody>
      </p:sp>
      <p:sp>
        <p:nvSpPr>
          <p:cNvPr id="75" name="PlaceHolder 2"/>
          <p:cNvSpPr>
            <a:spLocks noGrp="1"/>
          </p:cNvSpPr>
          <p:nvPr>
            <p:ph/>
          </p:nvPr>
        </p:nvSpPr>
        <p:spPr>
          <a:xfrm>
            <a:off x="504000" y="1143000"/>
            <a:ext cx="9071640" cy="37414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76" name="" descr=""/>
          <p:cNvPicPr/>
          <p:nvPr/>
        </p:nvPicPr>
        <p:blipFill>
          <a:blip r:embed="rId1"/>
          <a:stretch/>
        </p:blipFill>
        <p:spPr>
          <a:xfrm rot="21523200">
            <a:off x="2023920" y="1206360"/>
            <a:ext cx="5719320" cy="2641680"/>
          </a:xfrm>
          <a:prstGeom prst="rect">
            <a:avLst/>
          </a:prstGeom>
          <a:ln w="0">
            <a:noFill/>
          </a:ln>
        </p:spPr>
      </p:pic>
      <p:pic>
        <p:nvPicPr>
          <p:cNvPr id="77" name="" descr=""/>
          <p:cNvPicPr/>
          <p:nvPr/>
        </p:nvPicPr>
        <p:blipFill>
          <a:blip r:embed="rId2"/>
          <a:stretch/>
        </p:blipFill>
        <p:spPr>
          <a:xfrm>
            <a:off x="2476800" y="4229280"/>
            <a:ext cx="5067000" cy="5713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226080"/>
            <a:ext cx="9070560" cy="94536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Non Linear SVM</a:t>
            </a:r>
            <a:endParaRPr b="0" lang="en-US" sz="4400" spc="-1" strike="noStrike">
              <a:solidFill>
                <a:srgbClr val="000000"/>
              </a:solidFill>
              <a:latin typeface="Arial"/>
            </a:endParaRPr>
          </a:p>
        </p:txBody>
      </p:sp>
      <p:sp>
        <p:nvSpPr>
          <p:cNvPr id="79" name="PlaceHolder 2"/>
          <p:cNvSpPr>
            <a:spLocks noGrp="1"/>
          </p:cNvSpPr>
          <p:nvPr>
            <p:ph/>
          </p:nvPr>
        </p:nvSpPr>
        <p:spPr>
          <a:xfrm>
            <a:off x="504000" y="1326600"/>
            <a:ext cx="9070560" cy="3287160"/>
          </a:xfrm>
          <a:prstGeom prst="rect">
            <a:avLst/>
          </a:prstGeom>
          <a:noFill/>
          <a:ln w="0">
            <a:noFill/>
          </a:ln>
        </p:spPr>
        <p:txBody>
          <a:bodyPr lIns="0" rIns="0" tIns="0" bIns="0" anchor="t">
            <a:normAutofit/>
          </a:bodyPr>
          <a:p>
            <a:pPr marL="432000" indent="-324000" defTabSz="457200">
              <a:lnSpc>
                <a:spcPct val="100000"/>
              </a:lnSpc>
              <a:spcBef>
                <a:spcPts val="641"/>
              </a:spcBef>
              <a:buClr>
                <a:srgbClr val="000000"/>
              </a:buClr>
              <a:buSzPct val="45000"/>
              <a:buFont typeface="Wingdings" charset="2"/>
              <a:buChar char=""/>
            </a:pPr>
            <a:r>
              <a:rPr b="0" lang="en-US" sz="3200" spc="-1" strike="noStrike">
                <a:solidFill>
                  <a:schemeClr val="dk1"/>
                </a:solidFill>
                <a:latin typeface="Calibri"/>
              </a:rPr>
              <a:t>Used when data is not linearly separable.</a:t>
            </a:r>
            <a:endParaRPr b="0" lang="en-US" sz="3200" spc="-1" strike="noStrike">
              <a:solidFill>
                <a:srgbClr val="000000"/>
              </a:solidFill>
              <a:latin typeface="Arial"/>
            </a:endParaRPr>
          </a:p>
          <a:p>
            <a:pPr marL="432000" indent="-324000" defTabSz="457200">
              <a:lnSpc>
                <a:spcPct val="100000"/>
              </a:lnSpc>
              <a:spcBef>
                <a:spcPts val="641"/>
              </a:spcBef>
              <a:buClr>
                <a:srgbClr val="000000"/>
              </a:buClr>
              <a:buSzPct val="45000"/>
              <a:buFont typeface="Wingdings" charset="2"/>
              <a:buChar char=""/>
            </a:pPr>
            <a:r>
              <a:rPr b="0" lang="en-US" sz="3200" spc="-1" strike="noStrike">
                <a:solidFill>
                  <a:schemeClr val="dk1"/>
                </a:solidFill>
                <a:latin typeface="Calibri"/>
              </a:rPr>
              <a:t>Uses kernel trick.</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504000" y="226800"/>
            <a:ext cx="9071640" cy="944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Kernel Trick</a:t>
            </a:r>
            <a:endParaRPr b="0" lang="en-US" sz="4400" spc="-1" strike="noStrike">
              <a:solidFill>
                <a:srgbClr val="000000"/>
              </a:solidFill>
              <a:latin typeface="Arial"/>
            </a:endParaRPr>
          </a:p>
        </p:txBody>
      </p:sp>
      <p:sp>
        <p:nvSpPr>
          <p:cNvPr id="81" name="PlaceHolder 2"/>
          <p:cNvSpPr>
            <a:spLocks noGrp="1"/>
          </p:cNvSpPr>
          <p:nvPr>
            <p:ph/>
          </p:nvPr>
        </p:nvSpPr>
        <p:spPr>
          <a:xfrm>
            <a:off x="504000" y="1323000"/>
            <a:ext cx="9071640" cy="37414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Avoid explicit transformation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Use kernel function K(xi, xj)</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226800"/>
            <a:ext cx="9070560" cy="9435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Kernel Trick</a:t>
            </a:r>
            <a:endParaRPr b="0" lang="en-US" sz="4400" spc="-1" strike="noStrike">
              <a:solidFill>
                <a:srgbClr val="000000"/>
              </a:solidFill>
              <a:latin typeface="Arial"/>
            </a:endParaRPr>
          </a:p>
        </p:txBody>
      </p:sp>
      <p:sp>
        <p:nvSpPr>
          <p:cNvPr id="83" name="PlaceHolder 2"/>
          <p:cNvSpPr>
            <a:spLocks noGrp="1"/>
          </p:cNvSpPr>
          <p:nvPr>
            <p:ph/>
          </p:nvPr>
        </p:nvSpPr>
        <p:spPr>
          <a:xfrm>
            <a:off x="504000" y="1323000"/>
            <a:ext cx="9070560" cy="37404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Transforms data into higher dimensions.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Common kernels: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Linear</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Polynomial</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RBF</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226800"/>
            <a:ext cx="9071640" cy="944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Common Kernels</a:t>
            </a:r>
            <a:endParaRPr b="0" lang="en-US" sz="4400" spc="-1" strike="noStrike">
              <a:solidFill>
                <a:srgbClr val="000000"/>
              </a:solidFill>
              <a:latin typeface="Arial"/>
            </a:endParaRPr>
          </a:p>
        </p:txBody>
      </p:sp>
      <p:sp>
        <p:nvSpPr>
          <p:cNvPr id="85" name="PlaceHolder 2"/>
          <p:cNvSpPr>
            <a:spLocks noGrp="1"/>
          </p:cNvSpPr>
          <p:nvPr>
            <p:ph/>
          </p:nvPr>
        </p:nvSpPr>
        <p:spPr>
          <a:xfrm>
            <a:off x="504000" y="1323000"/>
            <a:ext cx="9071640" cy="37414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Linear: K(x,y)=x·y</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Polynomial: K(x,y)=(x·y + c)^d</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RBF: K(x,y)=exp(-γ||x-y||²)</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04000" y="226800"/>
            <a:ext cx="9071640" cy="944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Non-Linear SVM Formula</a:t>
            </a:r>
            <a:endParaRPr b="0" lang="en-US" sz="4400" spc="-1" strike="noStrike">
              <a:solidFill>
                <a:srgbClr val="000000"/>
              </a:solidFill>
              <a:latin typeface="Arial"/>
            </a:endParaRPr>
          </a:p>
        </p:txBody>
      </p:sp>
      <p:sp>
        <p:nvSpPr>
          <p:cNvPr id="87" name="PlaceHolder 2"/>
          <p:cNvSpPr>
            <a:spLocks noGrp="1"/>
          </p:cNvSpPr>
          <p:nvPr>
            <p:ph/>
          </p:nvPr>
        </p:nvSpPr>
        <p:spPr>
          <a:xfrm>
            <a:off x="504000" y="1323000"/>
            <a:ext cx="9071640" cy="37414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Decision: f(x)=Σ αi yi K(xi,x) + b</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αi are Lagrange multipliers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226800"/>
            <a:ext cx="9071640" cy="944280"/>
          </a:xfrm>
          <a:prstGeom prst="rect">
            <a:avLst/>
          </a:prstGeom>
          <a:noFill/>
          <a:ln w="0">
            <a:noFill/>
          </a:ln>
        </p:spPr>
        <p:txBody>
          <a:bodyPr lIns="0" rIns="0" tIns="0" bIns="0" anchor="ctr">
            <a:noAutofit/>
          </a:bodyPr>
          <a:p>
            <a:pPr indent="0">
              <a:lnSpc>
                <a:spcPct val="100000"/>
              </a:lnSpc>
              <a:spcBef>
                <a:spcPts val="1191"/>
              </a:spcBef>
              <a:spcAft>
                <a:spcPts val="992"/>
              </a:spcAft>
              <a:buNone/>
              <a:tabLst>
                <a:tab algn="l" pos="0"/>
              </a:tabLst>
            </a:pPr>
            <a:r>
              <a:rPr b="1" lang="en-US" sz="1600" spc="-1" strike="noStrike">
                <a:solidFill>
                  <a:schemeClr val="dk1"/>
                </a:solidFill>
                <a:latin typeface="Calibri"/>
                <a:ea typeface="Noto Sans CJK SC"/>
              </a:rPr>
              <a:t>Multi-Class Classification With SVMs -  Strategies for Multi-class Classification with SVM</a:t>
            </a:r>
            <a:endParaRPr b="0" lang="en-US" sz="1600" spc="-1" strike="noStrike">
              <a:solidFill>
                <a:srgbClr val="000000"/>
              </a:solidFill>
              <a:latin typeface="Arial"/>
            </a:endParaRPr>
          </a:p>
        </p:txBody>
      </p:sp>
      <p:sp>
        <p:nvSpPr>
          <p:cNvPr id="89"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90" name="" descr=""/>
          <p:cNvPicPr/>
          <p:nvPr/>
        </p:nvPicPr>
        <p:blipFill>
          <a:blip r:embed="rId1"/>
          <a:stretch/>
        </p:blipFill>
        <p:spPr>
          <a:xfrm>
            <a:off x="432720" y="1083240"/>
            <a:ext cx="9135000" cy="44805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800"/>
            <a:ext cx="9071640" cy="9442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92"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93" name="" descr=""/>
          <p:cNvPicPr/>
          <p:nvPr/>
        </p:nvPicPr>
        <p:blipFill>
          <a:blip r:embed="rId1"/>
          <a:stretch/>
        </p:blipFill>
        <p:spPr>
          <a:xfrm>
            <a:off x="48960" y="735120"/>
            <a:ext cx="9971640" cy="419004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226800"/>
            <a:ext cx="9070560" cy="9435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Advantages</a:t>
            </a:r>
            <a:endParaRPr b="0" lang="en-US" sz="4400" spc="-1" strike="noStrike">
              <a:solidFill>
                <a:srgbClr val="000000"/>
              </a:solidFill>
              <a:latin typeface="Arial"/>
            </a:endParaRPr>
          </a:p>
        </p:txBody>
      </p:sp>
      <p:sp>
        <p:nvSpPr>
          <p:cNvPr id="95" name="PlaceHolder 2"/>
          <p:cNvSpPr>
            <a:spLocks noGrp="1"/>
          </p:cNvSpPr>
          <p:nvPr>
            <p:ph/>
          </p:nvPr>
        </p:nvSpPr>
        <p:spPr>
          <a:xfrm>
            <a:off x="529560" y="1287720"/>
            <a:ext cx="9070560" cy="37404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Effective in high dimensions.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Works well with clear margin separation.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SVM is one of the most memory-efficient classification algorithms.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Effective on datasets with multiple features</a:t>
            </a:r>
            <a:endParaRPr b="0" lang="en-US" sz="3200" spc="-1" strike="noStrike">
              <a:solidFill>
                <a:srgbClr val="000000"/>
              </a:solidFill>
              <a:latin typeface="Arial"/>
            </a:endParaRPr>
          </a:p>
          <a:p>
            <a:pPr marL="343080" indent="0" defTabSz="457200">
              <a:lnSpc>
                <a:spcPct val="100000"/>
              </a:lnSpc>
              <a:spcBef>
                <a:spcPts val="641"/>
              </a:spcBef>
              <a:buNone/>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6800"/>
            <a:ext cx="9070560" cy="9435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Disadvantages</a:t>
            </a:r>
            <a:endParaRPr b="0" lang="en-US" sz="4400" spc="-1" strike="noStrike">
              <a:solidFill>
                <a:srgbClr val="000000"/>
              </a:solidFill>
              <a:latin typeface="Arial"/>
            </a:endParaRPr>
          </a:p>
        </p:txBody>
      </p:sp>
      <p:sp>
        <p:nvSpPr>
          <p:cNvPr id="97" name="PlaceHolder 2"/>
          <p:cNvSpPr>
            <a:spLocks noGrp="1"/>
          </p:cNvSpPr>
          <p:nvPr>
            <p:ph/>
          </p:nvPr>
        </p:nvSpPr>
        <p:spPr>
          <a:xfrm>
            <a:off x="504000" y="1323000"/>
            <a:ext cx="9070560" cy="37404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Sensitive to noise.</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226800"/>
            <a:ext cx="9070560" cy="9435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Applications</a:t>
            </a:r>
            <a:endParaRPr b="0" lang="en-US" sz="4400" spc="-1" strike="noStrike">
              <a:solidFill>
                <a:srgbClr val="000000"/>
              </a:solidFill>
              <a:latin typeface="Arial"/>
            </a:endParaRPr>
          </a:p>
        </p:txBody>
      </p:sp>
      <p:sp>
        <p:nvSpPr>
          <p:cNvPr id="99" name="PlaceHolder 2"/>
          <p:cNvSpPr>
            <a:spLocks noGrp="1"/>
          </p:cNvSpPr>
          <p:nvPr>
            <p:ph/>
          </p:nvPr>
        </p:nvSpPr>
        <p:spPr>
          <a:xfrm>
            <a:off x="504000" y="1323000"/>
            <a:ext cx="9070560" cy="37404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Text classification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Image recognition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Bioinformatics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178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2026-03-18T19:53:24Z</dcterms:created>
  <dc:creator/>
  <dc:description/>
  <dc:language>en-US</dc:language>
  <cp:lastModifiedBy/>
  <dcterms:modified xsi:type="dcterms:W3CDTF">2026-03-23T13:08:24Z</dcterms:modified>
  <cp:revision>35</cp:revision>
  <dc:subject/>
  <dc:title/>
</cp:coreProperties>
</file>

<file path=docProps/custom.xml><?xml version="1.0" encoding="utf-8"?>
<Properties xmlns="http://schemas.openxmlformats.org/officeDocument/2006/custom-properties" xmlns:vt="http://schemas.openxmlformats.org/officeDocument/2006/docPropsVTypes"/>
</file>