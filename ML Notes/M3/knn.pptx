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sldIdLst>
    <p:sldId id="256" r:id="rId15"/>
    <p:sldId id="257" r:id="rId16"/>
    <p:sldId id="258" r:id="rId17"/>
    <p:sldId id="259" r:id="rId18"/>
    <p:sldId id="260" r:id="rId19"/>
    <p:sldId id="261" r:id="rId20"/>
    <p:sldId id="262" r:id="rId21"/>
    <p:sldId id="263" r:id="rId22"/>
    <p:sldId id="264" r:id="rId23"/>
    <p:sldId id="265" r:id="rId2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838080" y="1825560"/>
            <a:ext cx="10513800" cy="43495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C9E98A6-2D33-49FB-8215-A5BC1CE70A5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621F65E-69D2-485D-B8CA-BC40AC31C5FC}"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8C525F1B-D564-42B7-9C7C-4EA1DE2B9F72}"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E66F5BC-A0BA-41CF-97E7-CB4F5B69E1E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5F33CA96-B721-42A7-AA99-B6A74B8B6BBE}"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F89E3501-0605-4BEA-8EE9-82CFE3DF09F2}"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6500EA2-DA03-4C99-8B3A-42740B03AE79}"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 name="PlaceHolder 2"/>
          <p:cNvSpPr>
            <a:spLocks noGrp="1"/>
          </p:cNvSpPr>
          <p:nvPr>
            <p:ph/>
          </p:nvPr>
        </p:nvSpPr>
        <p:spPr>
          <a:xfrm>
            <a:off x="83808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 name="PlaceHolder 3"/>
          <p:cNvSpPr>
            <a:spLocks noGrp="1"/>
          </p:cNvSpPr>
          <p:nvPr>
            <p:ph/>
          </p:nvPr>
        </p:nvSpPr>
        <p:spPr>
          <a:xfrm>
            <a:off x="6225840" y="1825560"/>
            <a:ext cx="5130720" cy="4349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C15ADB6F-F9AC-49E3-B048-03E08653469B}"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2A04144-4318-40F1-94D0-3997C4E683E0}"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7045EC98-6BBF-4D60-84A1-C8141CDEA3D0}"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C9609C5B-53FF-449A-891C-EA6A84A12671}"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DA2968DC-9398-4207-B78D-768A676BE43B}"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1741E406-C7B3-481D-AED5-B172F282D0BA}" type="slidenum">
              <a:t>&lt;#&gt;</a:t>
            </a:fld>
          </a:p>
        </p:txBody>
      </p:sp>
      <p:sp>
        <p:nvSpPr>
          <p:cNvPr id="4" name="PlaceHolder 3"/>
          <p:cNvSpPr>
            <a:spLocks noGrp="1"/>
          </p:cNvSpPr>
          <p:nvPr>
            <p:ph type="dt" idx="3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83BF14D3-6622-4579-8FB6-148B43F6D26C}" type="slidenum">
              <a:rPr b="0" lang="en-US" sz="1400" spc="-1" strike="noStrike">
                <a:solidFill>
                  <a:srgbClr val="000000"/>
                </a:solidFill>
                <a:latin typeface="Times New Roman"/>
              </a:rPr>
              <a:t>10</a:t>
            </a:fld>
            <a:endParaRPr b="0" lang="en-US" sz="1400" spc="-1" strike="noStrike">
              <a:solidFill>
                <a:srgbClr val="000000"/>
              </a:solidFill>
              <a:latin typeface="Times New Roman"/>
            </a:endParaRPr>
          </a:p>
        </p:txBody>
      </p:sp>
      <p:sp>
        <p:nvSpPr>
          <p:cNvPr id="3" name="PlaceHolder 4"/>
          <p:cNvSpPr>
            <a:spLocks noGrp="1"/>
          </p:cNvSpPr>
          <p:nvPr>
            <p:ph type="dt" idx="3"/>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018D5FD9-AE74-4B2D-B39F-974EE897566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8" name="PlaceHolder 3"/>
          <p:cNvSpPr>
            <a:spLocks noGrp="1"/>
          </p:cNvSpPr>
          <p:nvPr>
            <p:ph type="dt" idx="6"/>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578A7A6A-17DE-40FE-9577-82ED2F218BA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1" name="PlaceHolder 3"/>
          <p:cNvSpPr>
            <a:spLocks noGrp="1"/>
          </p:cNvSpPr>
          <p:nvPr>
            <p:ph type="dt" idx="9"/>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CE2E5702-6B36-46DA-9319-0656B940C0B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16" name="PlaceHolder 5"/>
          <p:cNvSpPr>
            <a:spLocks noGrp="1"/>
          </p:cNvSpPr>
          <p:nvPr>
            <p:ph type="dt" idx="12"/>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 name="PlaceHolder 3"/>
          <p:cNvSpPr>
            <a:spLocks noGrp="1"/>
          </p:cNvSpPr>
          <p:nvPr>
            <p:ph type="ftr" idx="13"/>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 name="PlaceHolder 4"/>
          <p:cNvSpPr>
            <a:spLocks noGrp="1"/>
          </p:cNvSpPr>
          <p:nvPr>
            <p:ph type="sldNum" idx="14"/>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D5BE009F-B23D-42F7-8CEA-1531FB1353A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3" name="PlaceHolder 5"/>
          <p:cNvSpPr>
            <a:spLocks noGrp="1"/>
          </p:cNvSpPr>
          <p:nvPr>
            <p:ph type="dt" idx="15"/>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3"/>
          <p:cNvSpPr>
            <a:spLocks noGrp="1"/>
          </p:cNvSpPr>
          <p:nvPr>
            <p:ph type="ftr" idx="16"/>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4"/>
          <p:cNvSpPr>
            <a:spLocks noGrp="1"/>
          </p:cNvSpPr>
          <p:nvPr>
            <p:ph type="sldNum" idx="17"/>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89A44C52-F780-4B15-B045-54B3D8F8F27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0" name="PlaceHolder 5"/>
          <p:cNvSpPr>
            <a:spLocks noGrp="1"/>
          </p:cNvSpPr>
          <p:nvPr>
            <p:ph type="dt" idx="18"/>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ftr" idx="19"/>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2"/>
          <p:cNvSpPr>
            <a:spLocks noGrp="1"/>
          </p:cNvSpPr>
          <p:nvPr>
            <p:ph type="sldNum" idx="20"/>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73B51FFC-10AC-45AD-9851-6820D756B00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35" name="PlaceHolder 3"/>
          <p:cNvSpPr>
            <a:spLocks noGrp="1"/>
          </p:cNvSpPr>
          <p:nvPr>
            <p:ph type="dt" idx="21"/>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body"/>
          </p:nvPr>
        </p:nvSpPr>
        <p:spPr>
          <a:xfrm>
            <a:off x="83808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3"/>
          <p:cNvSpPr>
            <a:spLocks noGrp="1"/>
          </p:cNvSpPr>
          <p:nvPr>
            <p:ph type="body"/>
          </p:nvPr>
        </p:nvSpPr>
        <p:spPr>
          <a:xfrm>
            <a:off x="622584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4"/>
          <p:cNvSpPr>
            <a:spLocks noGrp="1"/>
          </p:cNvSpPr>
          <p:nvPr>
            <p:ph type="ftr" idx="22"/>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5"/>
          <p:cNvSpPr>
            <a:spLocks noGrp="1"/>
          </p:cNvSpPr>
          <p:nvPr>
            <p:ph type="sldNum" idx="23"/>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E374411B-5417-41CC-813A-9F1ADDDBBAC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1" name="PlaceHolder 6"/>
          <p:cNvSpPr>
            <a:spLocks noGrp="1"/>
          </p:cNvSpPr>
          <p:nvPr>
            <p:ph type="dt" idx="24"/>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5"/>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2"/>
          <p:cNvSpPr>
            <a:spLocks noGrp="1"/>
          </p:cNvSpPr>
          <p:nvPr>
            <p:ph type="sldNum" idx="26"/>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517BEFDB-7A09-4183-97A0-B8D94069FCE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47" name="PlaceHolder 3"/>
          <p:cNvSpPr>
            <a:spLocks noGrp="1"/>
          </p:cNvSpPr>
          <p:nvPr>
            <p:ph type="dt" idx="27"/>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 name="PlaceHolder 2"/>
          <p:cNvSpPr>
            <a:spLocks noGrp="1"/>
          </p:cNvSpPr>
          <p:nvPr>
            <p:ph type="ftr" idx="28"/>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3"/>
          <p:cNvSpPr>
            <a:spLocks noGrp="1"/>
          </p:cNvSpPr>
          <p:nvPr>
            <p:ph type="sldNum" idx="29"/>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5D71AE4F-7D2C-4112-9D5C-A007D0A0247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1" name="PlaceHolder 4"/>
          <p:cNvSpPr>
            <a:spLocks noGrp="1"/>
          </p:cNvSpPr>
          <p:nvPr>
            <p:ph type="dt" idx="30"/>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 name="PlaceHolder 2"/>
          <p:cNvSpPr>
            <a:spLocks noGrp="1"/>
          </p:cNvSpPr>
          <p:nvPr>
            <p:ph type="sldNum" idx="32"/>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43F8BB5C-6277-4F16-BB4E-D9624DB4797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5" name="PlaceHolder 3"/>
          <p:cNvSpPr>
            <a:spLocks noGrp="1"/>
          </p:cNvSpPr>
          <p:nvPr>
            <p:ph type="dt" idx="33"/>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ftr" idx="3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 name="PlaceHolder 2"/>
          <p:cNvSpPr>
            <a:spLocks noGrp="1"/>
          </p:cNvSpPr>
          <p:nvPr>
            <p:ph type="sldNum" idx="35"/>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F4C3F05C-64CD-4C03-B3C0-2D34370D120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8" name="PlaceHolder 3"/>
          <p:cNvSpPr>
            <a:spLocks noGrp="1"/>
          </p:cNvSpPr>
          <p:nvPr>
            <p:ph type="dt" idx="36"/>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ftr" idx="37"/>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2"/>
          <p:cNvSpPr>
            <a:spLocks noGrp="1"/>
          </p:cNvSpPr>
          <p:nvPr>
            <p:ph type="sldNum" idx="38"/>
          </p:nvPr>
        </p:nvSpPr>
        <p:spPr>
          <a:xfrm>
            <a:off x="8610480" y="6356520"/>
            <a:ext cx="2741400" cy="3632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pc="-1" strike="noStrike">
                <a:solidFill>
                  <a:srgbClr val="000000"/>
                </a:solidFill>
                <a:latin typeface="Times New Roman"/>
              </a:defRPr>
            </a:lvl1pPr>
          </a:lstStyle>
          <a:p>
            <a:pPr indent="0">
              <a:lnSpc>
                <a:spcPct val="100000"/>
              </a:lnSpc>
              <a:buNone/>
              <a:tabLst>
                <a:tab algn="l" pos="0"/>
              </a:tabLst>
            </a:pPr>
            <a:fld id="{9AE3B251-0CD7-473B-8121-C6AE46BA73F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61" name="PlaceHolder 3"/>
          <p:cNvSpPr>
            <a:spLocks noGrp="1"/>
          </p:cNvSpPr>
          <p:nvPr>
            <p:ph type="dt" idx="39"/>
          </p:nvPr>
        </p:nvSpPr>
        <p:spPr>
          <a:xfrm>
            <a:off x="838080" y="6356520"/>
            <a:ext cx="2741400" cy="3632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lnSpc>
                <a:spcPct val="100000"/>
              </a:lnSpc>
              <a:buNone/>
              <a:tabLst>
                <a:tab algn="l" pos="0"/>
              </a:tabLst>
            </a:pPr>
            <a:r>
              <a:rPr b="0" lang="en-US" sz="4000" spc="-1" strike="noStrike">
                <a:solidFill>
                  <a:schemeClr val="dk1"/>
                </a:solidFill>
                <a:latin typeface="Calibri"/>
              </a:rPr>
              <a:t>K Nearest Neighbour</a:t>
            </a:r>
            <a:endParaRPr b="0" lang="en-US" sz="4000" spc="-1" strike="noStrike">
              <a:solidFill>
                <a:srgbClr val="000000"/>
              </a:solidFill>
              <a:latin typeface="Arial"/>
            </a:endParaRPr>
          </a:p>
        </p:txBody>
      </p:sp>
      <p:sp>
        <p:nvSpPr>
          <p:cNvPr id="63" name="PlaceHolder 2"/>
          <p:cNvSpPr>
            <a:spLocks noGrp="1"/>
          </p:cNvSpPr>
          <p:nvPr>
            <p:ph/>
          </p:nvPr>
        </p:nvSpPr>
        <p:spPr>
          <a:xfrm>
            <a:off x="914400" y="1600200"/>
            <a:ext cx="10513800" cy="4570560"/>
          </a:xfrm>
          <a:prstGeom prst="rect">
            <a:avLst/>
          </a:prstGeom>
          <a:noFill/>
          <a:ln w="0">
            <a:noFill/>
          </a:ln>
        </p:spPr>
        <p:txBody>
          <a:bodyPr lIns="0" rIns="0" tIns="0" bIns="0" anchor="t">
            <a:normAutofit/>
          </a:bodyPr>
          <a:p>
            <a:pPr marL="432000" indent="-324000" algn="just">
              <a:lnSpc>
                <a:spcPct val="90000"/>
              </a:lnSpc>
              <a:spcBef>
                <a:spcPts val="1191"/>
              </a:spcBef>
              <a:spcAft>
                <a:spcPts val="992"/>
              </a:spcAft>
              <a:buClr>
                <a:srgbClr val="000000"/>
              </a:buClr>
              <a:buSzPct val="45000"/>
              <a:buFont typeface="Wingdings" charset="2"/>
              <a:buChar char=""/>
            </a:pPr>
            <a:r>
              <a:rPr b="0" lang="en-US" sz="2200" spc="-1" strike="noStrike">
                <a:solidFill>
                  <a:schemeClr val="dk1"/>
                </a:solidFill>
                <a:latin typeface="Times New Roman"/>
              </a:rPr>
              <a:t>KNN (K-Nearest Neighbors) is a simple, non-parametric, supervised machine learning algorithm used for both classification (predicting categories) and regression (predicting values) by classifying new data points based on the majority class or average value of their 'k' closest neighbors in the training data.</a:t>
            </a:r>
            <a:endParaRPr b="0" lang="en-US" sz="2200" spc="-1" strike="noStrike">
              <a:solidFill>
                <a:srgbClr val="000000"/>
              </a:solidFill>
              <a:latin typeface="Arial"/>
            </a:endParaRPr>
          </a:p>
          <a:p>
            <a:pPr marL="432000" indent="-324000" algn="just">
              <a:lnSpc>
                <a:spcPct val="90000"/>
              </a:lnSpc>
              <a:spcBef>
                <a:spcPts val="1191"/>
              </a:spcBef>
              <a:spcAft>
                <a:spcPts val="992"/>
              </a:spcAft>
              <a:buClr>
                <a:srgbClr val="000000"/>
              </a:buClr>
              <a:buSzPct val="45000"/>
              <a:buFont typeface="Wingdings" charset="2"/>
              <a:buChar char=""/>
            </a:pPr>
            <a:r>
              <a:rPr b="0" lang="en-US" sz="2200" spc="-1" strike="noStrike">
                <a:solidFill>
                  <a:schemeClr val="dk1"/>
                </a:solidFill>
                <a:latin typeface="Times New Roman"/>
              </a:rPr>
              <a:t>It relies on distance metrics like Euclidean distance to find proximity. </a:t>
            </a:r>
            <a:endParaRPr b="0" lang="en-US" sz="2200" spc="-1" strike="noStrike">
              <a:solidFill>
                <a:srgbClr val="000000"/>
              </a:solidFill>
              <a:latin typeface="Arial"/>
            </a:endParaRPr>
          </a:p>
          <a:p>
            <a:pPr marL="432000" indent="-324000" algn="just">
              <a:lnSpc>
                <a:spcPct val="90000"/>
              </a:lnSpc>
              <a:spcBef>
                <a:spcPts val="1191"/>
              </a:spcBef>
              <a:spcAft>
                <a:spcPts val="992"/>
              </a:spcAft>
              <a:buClr>
                <a:srgbClr val="000000"/>
              </a:buClr>
              <a:buSzPct val="45000"/>
              <a:buFont typeface="Wingdings" charset="2"/>
              <a:buChar char=""/>
            </a:pPr>
            <a:r>
              <a:rPr b="0" lang="en-US" sz="2200" spc="-1" strike="noStrike">
                <a:solidFill>
                  <a:schemeClr val="dk1"/>
                </a:solidFill>
                <a:latin typeface="Times New Roman"/>
              </a:rPr>
              <a:t>It's known as a "lazy learner" because it doesn't build a model during training but rather memorizes the dataset, making decisions only when a prediction is needed. </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p:nvPr>
        </p:nvSpPr>
        <p:spPr>
          <a:xfrm>
            <a:off x="914760" y="1364040"/>
            <a:ext cx="10513800" cy="50353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When K is small, we are restraining the region of a given prediction and forcing our classifier to be “more blind” to the overall distribution.</a:t>
            </a:r>
            <a:endParaRPr b="0" lang="en-US" sz="2800" spc="-1" strike="noStrike">
              <a:solidFill>
                <a:srgbClr val="000000"/>
              </a:solidFill>
              <a:latin typeface="Arial"/>
            </a:endParaRPr>
          </a:p>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A small value for K provides the most flexible fit, which</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will have low bias but high variance.</a:t>
            </a:r>
            <a:endParaRPr b="0" lang="en-US" sz="2800" spc="-1" strike="noStrike">
              <a:solidFill>
                <a:srgbClr val="000000"/>
              </a:solidFill>
              <a:latin typeface="Arial"/>
            </a:endParaRPr>
          </a:p>
          <a:p>
            <a:pPr marL="432000" indent="-324000">
              <a:lnSpc>
                <a:spcPct val="90000"/>
              </a:lnSpc>
              <a:spcBef>
                <a:spcPts val="1417"/>
              </a:spcBef>
              <a:buClr>
                <a:srgbClr val="000000"/>
              </a:buClr>
              <a:buSzPct val="45000"/>
              <a:buFont typeface="Wingdings" charset="2"/>
              <a:buChar char=""/>
              <a:tabLst>
                <a:tab algn="l" pos="0"/>
              </a:tabLst>
            </a:pPr>
            <a:r>
              <a:rPr b="0" lang="en-US" sz="2800" spc="-1" strike="noStrike">
                <a:solidFill>
                  <a:schemeClr val="dk1"/>
                </a:solidFill>
                <a:latin typeface="Calibri"/>
              </a:rPr>
              <a:t>Larger values of K will have smoother decision boundaries</a:t>
            </a:r>
            <a:endParaRPr b="0" lang="en-US" sz="2800" spc="-1" strike="noStrike">
              <a:solidFill>
                <a:srgbClr val="000000"/>
              </a:solidFill>
              <a:latin typeface="Arial"/>
            </a:endParaRPr>
          </a:p>
          <a:p>
            <a:pPr marL="432000" indent="0">
              <a:lnSpc>
                <a:spcPct val="90000"/>
              </a:lnSpc>
              <a:spcBef>
                <a:spcPts val="1417"/>
              </a:spcBef>
              <a:buNone/>
              <a:tabLst>
                <a:tab algn="l" pos="0"/>
              </a:tabLst>
            </a:pPr>
            <a:r>
              <a:rPr b="0" lang="en-US" sz="2800" spc="-1" strike="noStrike">
                <a:solidFill>
                  <a:schemeClr val="dk1"/>
                </a:solidFill>
                <a:latin typeface="Calibri"/>
              </a:rPr>
              <a:t>which means lower variance but increased bias. </a:t>
            </a:r>
            <a:endParaRPr b="0" lang="en-US" sz="2800" spc="-1" strike="noStrike">
              <a:solidFill>
                <a:srgbClr val="000000"/>
              </a:solidFill>
              <a:latin typeface="Arial"/>
            </a:endParaRPr>
          </a:p>
        </p:txBody>
      </p:sp>
      <p:sp>
        <p:nvSpPr>
          <p:cNvPr id="65" name="PlaceHolder 2"/>
          <p:cNvSpPr>
            <a:spLocks noGrp="1"/>
          </p:cNvSpPr>
          <p:nvPr>
            <p:ph type="title"/>
          </p:nvPr>
        </p:nvSpPr>
        <p:spPr>
          <a:xfrm>
            <a:off x="838080" y="365040"/>
            <a:ext cx="10513800" cy="7765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3800" cy="1005120"/>
          </a:xfrm>
          <a:prstGeom prst="rect">
            <a:avLst/>
          </a:prstGeom>
          <a:noFill/>
          <a:ln w="0">
            <a:noFill/>
          </a:ln>
        </p:spPr>
        <p:txBody>
          <a:bodyPr lIns="0" rIns="0" tIns="0" bIns="0" anchor="ctr">
            <a:noAutofit/>
          </a:bodyPr>
          <a:p>
            <a:pPr indent="0">
              <a:lnSpc>
                <a:spcPct val="100000"/>
              </a:lnSpc>
              <a:buNone/>
              <a:tabLst>
                <a:tab algn="l" pos="0"/>
              </a:tabLst>
            </a:pPr>
            <a:r>
              <a:rPr b="0" lang="en-US" sz="2600" spc="-1" strike="noStrike">
                <a:solidFill>
                  <a:schemeClr val="dk1"/>
                </a:solidFill>
                <a:latin typeface="Calibri"/>
              </a:rPr>
              <a:t>Distance Measure</a:t>
            </a:r>
            <a:endParaRPr b="0" lang="en-US" sz="2600" spc="-1" strike="noStrike">
              <a:solidFill>
                <a:srgbClr val="000000"/>
              </a:solidFill>
              <a:latin typeface="Arial"/>
            </a:endParaRPr>
          </a:p>
        </p:txBody>
      </p:sp>
      <p:sp>
        <p:nvSpPr>
          <p:cNvPr id="67"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68" name="" descr=""/>
          <p:cNvPicPr/>
          <p:nvPr/>
        </p:nvPicPr>
        <p:blipFill>
          <a:blip r:embed="rId1"/>
          <a:stretch/>
        </p:blipFill>
        <p:spPr>
          <a:xfrm>
            <a:off x="1828800" y="1371600"/>
            <a:ext cx="7999560" cy="48034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774720" y="174600"/>
            <a:ext cx="10513800" cy="776520"/>
          </a:xfrm>
          <a:prstGeom prst="rect">
            <a:avLst/>
          </a:prstGeom>
          <a:noFill/>
          <a:ln w="0">
            <a:noFill/>
          </a:ln>
        </p:spPr>
        <p:txBody>
          <a:bodyPr lIns="0" rIns="0" tIns="0" bIns="0" anchor="ctr">
            <a:noAutofit/>
          </a:bodyPr>
          <a:p>
            <a:pPr indent="0">
              <a:lnSpc>
                <a:spcPct val="100000"/>
              </a:lnSpc>
              <a:buNone/>
              <a:tabLst>
                <a:tab algn="l" pos="0"/>
              </a:tabLst>
            </a:pPr>
            <a:r>
              <a:rPr b="0" lang="en-US" sz="2800" spc="-1" strike="noStrike">
                <a:solidFill>
                  <a:schemeClr val="dk1"/>
                </a:solidFill>
                <a:latin typeface="Calibri"/>
              </a:rPr>
              <a:t>KNN Algorithm</a:t>
            </a:r>
            <a:endParaRPr b="0" lang="en-US" sz="2800" spc="-1" strike="noStrike">
              <a:solidFill>
                <a:srgbClr val="000000"/>
              </a:solidFill>
              <a:latin typeface="Arial"/>
            </a:endParaRPr>
          </a:p>
        </p:txBody>
      </p:sp>
      <p:sp>
        <p:nvSpPr>
          <p:cNvPr id="70" name="PlaceHolder 2"/>
          <p:cNvSpPr>
            <a:spLocks noGrp="1"/>
          </p:cNvSpPr>
          <p:nvPr>
            <p:ph/>
          </p:nvPr>
        </p:nvSpPr>
        <p:spPr>
          <a:xfrm>
            <a:off x="838080" y="1371600"/>
            <a:ext cx="10513800" cy="48034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1" name="" descr=""/>
          <p:cNvPicPr/>
          <p:nvPr/>
        </p:nvPicPr>
        <p:blipFill>
          <a:blip r:embed="rId1"/>
          <a:stretch/>
        </p:blipFill>
        <p:spPr>
          <a:xfrm>
            <a:off x="414720" y="1017720"/>
            <a:ext cx="11447280" cy="53416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365040"/>
            <a:ext cx="10513800" cy="776520"/>
          </a:xfrm>
          <a:prstGeom prst="rect">
            <a:avLst/>
          </a:prstGeom>
          <a:noFill/>
          <a:ln w="0">
            <a:noFill/>
          </a:ln>
        </p:spPr>
        <p:txBody>
          <a:bodyPr lIns="0" rIns="0" tIns="0" bIns="0" anchor="ctr">
            <a:noAutofit/>
          </a:bodyPr>
          <a:p>
            <a:pPr indent="0" algn="ctr">
              <a:lnSpc>
                <a:spcPct val="100000"/>
              </a:lnSpc>
              <a:buNone/>
              <a:tabLst>
                <a:tab algn="l" pos="0"/>
              </a:tabLst>
            </a:pPr>
            <a:r>
              <a:rPr b="0" lang="en-US" sz="4200" spc="-1" strike="noStrike">
                <a:solidFill>
                  <a:schemeClr val="dk1"/>
                </a:solidFill>
                <a:latin typeface="Calibri"/>
              </a:rPr>
              <a:t>KNN- Classifier</a:t>
            </a:r>
            <a:br>
              <a:rPr sz="4200"/>
            </a:br>
            <a:endParaRPr b="0" lang="en-US" sz="4200" spc="-1" strike="noStrike">
              <a:solidFill>
                <a:srgbClr val="000000"/>
              </a:solidFill>
              <a:latin typeface="Arial"/>
            </a:endParaRPr>
          </a:p>
        </p:txBody>
      </p:sp>
      <p:sp>
        <p:nvSpPr>
          <p:cNvPr id="73" name="PlaceHolder 2"/>
          <p:cNvSpPr>
            <a:spLocks noGrp="1"/>
          </p:cNvSpPr>
          <p:nvPr>
            <p:ph/>
          </p:nvPr>
        </p:nvSpPr>
        <p:spPr>
          <a:xfrm>
            <a:off x="838080" y="1143000"/>
            <a:ext cx="10513800" cy="5027760"/>
          </a:xfrm>
          <a:prstGeom prst="rect">
            <a:avLst/>
          </a:prstGeom>
          <a:noFill/>
          <a:ln w="0">
            <a:noFill/>
          </a:ln>
        </p:spPr>
        <p:txBody>
          <a:bodyPr lIns="0" rIns="0" tIns="0" bIns="0" anchor="t">
            <a:normAutofit/>
          </a:bodyPr>
          <a:p>
            <a:pPr marL="432000" indent="0">
              <a:lnSpc>
                <a:spcPct val="100000"/>
              </a:lnSpc>
              <a:buNone/>
              <a:tabLst>
                <a:tab algn="l" pos="0"/>
              </a:tabLst>
            </a:pPr>
            <a:r>
              <a:rPr b="0" lang="en-US" sz="1800" spc="-1" strike="noStrike">
                <a:solidFill>
                  <a:schemeClr val="dk1"/>
                </a:solidFill>
                <a:latin typeface="Calibri"/>
              </a:rPr>
              <a:t> </a:t>
            </a:r>
            <a:endParaRPr b="0" lang="en-US" sz="1800" spc="-1" strike="noStrike">
              <a:solidFill>
                <a:srgbClr val="000000"/>
              </a:solidFill>
              <a:latin typeface="Arial"/>
            </a:endParaRPr>
          </a:p>
          <a:p>
            <a:pPr marL="432000" indent="-324000">
              <a:lnSpc>
                <a:spcPct val="100000"/>
              </a:lnSpc>
              <a:buClr>
                <a:srgbClr val="000000"/>
              </a:buClr>
              <a:buSzPct val="45000"/>
              <a:buFont typeface="Wingdings" charset="2"/>
              <a:buChar char=""/>
              <a:tabLst>
                <a:tab algn="l" pos="0"/>
              </a:tabLst>
            </a:pPr>
            <a:r>
              <a:rPr b="0" lang="en-US" sz="1800" spc="-1" strike="noStrike">
                <a:solidFill>
                  <a:schemeClr val="dk1"/>
                </a:solidFill>
                <a:latin typeface="Calibri"/>
              </a:rPr>
              <a:t>Classify the following by considering the value of K=3</a:t>
            </a:r>
            <a:endParaRPr b="0" lang="en-US" sz="1800" spc="-1" strike="noStrike">
              <a:solidFill>
                <a:srgbClr val="000000"/>
              </a:solidFill>
              <a:latin typeface="Arial"/>
            </a:endParaRPr>
          </a:p>
        </p:txBody>
      </p:sp>
      <p:pic>
        <p:nvPicPr>
          <p:cNvPr id="74" name="" descr=""/>
          <p:cNvPicPr/>
          <p:nvPr/>
        </p:nvPicPr>
        <p:blipFill>
          <a:blip r:embed="rId1"/>
          <a:stretch/>
        </p:blipFill>
        <p:spPr>
          <a:xfrm>
            <a:off x="1609920" y="1710000"/>
            <a:ext cx="9018360" cy="4055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nSpc>
                <a:spcPct val="100000"/>
              </a:lnSpc>
              <a:buNone/>
            </a:pPr>
            <a:r>
              <a:rPr b="0" lang="en-US" sz="1800" spc="-1" strike="noStrike">
                <a:solidFill>
                  <a:srgbClr val="000000"/>
                </a:solidFill>
                <a:latin typeface="Arial"/>
              </a:rPr>
              <a:t>  </a:t>
            </a:r>
            <a:r>
              <a:rPr b="0" lang="en-US" sz="1800" spc="-1" strike="noStrike">
                <a:solidFill>
                  <a:srgbClr val="000000"/>
                </a:solidFill>
                <a:latin typeface="Arial"/>
              </a:rPr>
              <a:t>Use Euclidean Distance measure</a:t>
            </a:r>
            <a:endParaRPr b="0" lang="en-US" sz="1800" spc="-1" strike="noStrike">
              <a:solidFill>
                <a:srgbClr val="000000"/>
              </a:solidFill>
              <a:latin typeface="Arial"/>
            </a:endParaRPr>
          </a:p>
        </p:txBody>
      </p:sp>
      <p:sp>
        <p:nvSpPr>
          <p:cNvPr id="76"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77" name="" descr=""/>
          <p:cNvPicPr/>
          <p:nvPr/>
        </p:nvPicPr>
        <p:blipFill>
          <a:blip r:embed="rId1"/>
          <a:stretch/>
        </p:blipFill>
        <p:spPr>
          <a:xfrm>
            <a:off x="1636920" y="1933560"/>
            <a:ext cx="8932680" cy="29890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79"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80" name="" descr=""/>
          <p:cNvPicPr/>
          <p:nvPr/>
        </p:nvPicPr>
        <p:blipFill>
          <a:blip r:embed="rId1"/>
          <a:stretch/>
        </p:blipFill>
        <p:spPr>
          <a:xfrm>
            <a:off x="1323000" y="1933560"/>
            <a:ext cx="9246600" cy="30942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82"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3200" spc="-1" strike="noStrike">
                <a:solidFill>
                  <a:srgbClr val="000000"/>
                </a:solidFill>
                <a:latin typeface="Arial"/>
              </a:rPr>
              <a:t>-</a:t>
            </a:r>
            <a:r>
              <a:rPr b="0" lang="en-US" sz="2100" spc="-1" strike="noStrike">
                <a:solidFill>
                  <a:srgbClr val="000000"/>
                </a:solidFill>
                <a:latin typeface="Arial"/>
              </a:rPr>
              <a:t> In the above example,take the square root for the squared euclidean distance(As per euclidean distance formula) and rank it.</a:t>
            </a:r>
            <a:endParaRPr b="0" lang="en-US" sz="2100" spc="-1" strike="noStrike">
              <a:solidFill>
                <a:srgbClr val="000000"/>
              </a:solidFill>
              <a:latin typeface="Arial"/>
            </a:endParaRPr>
          </a:p>
        </p:txBody>
      </p:sp>
      <p:pic>
        <p:nvPicPr>
          <p:cNvPr id="83" name="" descr=""/>
          <p:cNvPicPr/>
          <p:nvPr/>
        </p:nvPicPr>
        <p:blipFill>
          <a:blip r:embed="rId1"/>
          <a:stretch/>
        </p:blipFill>
        <p:spPr>
          <a:xfrm>
            <a:off x="1513080" y="1731960"/>
            <a:ext cx="9180360" cy="34081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algn="ctr">
              <a:lnSpc>
                <a:spcPct val="100000"/>
              </a:lnSpc>
              <a:buNone/>
              <a:tabLst>
                <a:tab algn="l" pos="0"/>
              </a:tabLst>
            </a:pPr>
            <a:r>
              <a:rPr b="0" lang="en-US" sz="4000" spc="-1" strike="noStrike">
                <a:solidFill>
                  <a:srgbClr val="000000"/>
                </a:solidFill>
                <a:latin typeface="Arial"/>
              </a:rPr>
              <a:t>What will be the category for weight=57 and height = 170, considering k=3?</a:t>
            </a:r>
            <a:endParaRPr b="0" lang="en-US" sz="4000" spc="-1" strike="noStrike">
              <a:solidFill>
                <a:srgbClr val="000000"/>
              </a:solidFill>
              <a:latin typeface="Arial"/>
            </a:endParaRPr>
          </a:p>
        </p:txBody>
      </p:sp>
      <p:sp>
        <p:nvSpPr>
          <p:cNvPr id="85" name="PlaceHolder 2"/>
          <p:cNvSpPr>
            <a:spLocks noGrp="1"/>
          </p:cNvSpPr>
          <p:nvPr>
            <p:ph/>
          </p:nvPr>
        </p:nvSpPr>
        <p:spPr>
          <a:xfrm>
            <a:off x="838080" y="1821240"/>
            <a:ext cx="10513800" cy="434952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86" name="" descr=""/>
          <p:cNvPicPr/>
          <p:nvPr/>
        </p:nvPicPr>
        <p:blipFill>
          <a:blip r:embed="rId1"/>
          <a:stretch/>
        </p:blipFill>
        <p:spPr>
          <a:xfrm>
            <a:off x="1829520" y="1600200"/>
            <a:ext cx="7085160" cy="44881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914400" y="47160"/>
            <a:ext cx="10437480" cy="86652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KNN - Regressor</a:t>
            </a:r>
            <a:endParaRPr b="0" lang="en-US" sz="4400" spc="-1" strike="noStrike">
              <a:solidFill>
                <a:srgbClr val="000000"/>
              </a:solidFill>
              <a:latin typeface="Arial"/>
            </a:endParaRPr>
          </a:p>
        </p:txBody>
      </p:sp>
      <p:sp>
        <p:nvSpPr>
          <p:cNvPr id="88" name="PlaceHolder 2"/>
          <p:cNvSpPr>
            <a:spLocks noGrp="1"/>
          </p:cNvSpPr>
          <p:nvPr>
            <p:ph/>
          </p:nvPr>
        </p:nvSpPr>
        <p:spPr>
          <a:xfrm>
            <a:off x="685800" y="1143000"/>
            <a:ext cx="10591200" cy="5257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Find the weight(Target Class) for the height=5.5 and age =38, with k=5.</a:t>
            </a:r>
            <a:endParaRPr b="0" lang="en-US" sz="3200" spc="-1" strike="noStrike">
              <a:solidFill>
                <a:srgbClr val="000000"/>
              </a:solidFill>
              <a:latin typeface="Arial"/>
            </a:endParaRPr>
          </a:p>
        </p:txBody>
      </p:sp>
      <p:pic>
        <p:nvPicPr>
          <p:cNvPr id="89" name="" descr=""/>
          <p:cNvPicPr/>
          <p:nvPr/>
        </p:nvPicPr>
        <p:blipFill>
          <a:blip r:embed="rId1"/>
          <a:stretch/>
        </p:blipFill>
        <p:spPr>
          <a:xfrm>
            <a:off x="1667880" y="2057400"/>
            <a:ext cx="7932600" cy="43495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902</TotalTime>
  <Application>LibreOffice/24.2.7.2$Linux_X86_64 LibreOffice_project/420$Build-2</Application>
  <AppVersion>15.0000</AppVersion>
  <Words>68</Words>
  <Paragraphs>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2022-09-16T04:39:05Z</dcterms:created>
  <dc:creator>mahi</dc:creator>
  <dc:description/>
  <dc:language>en-US</dc:language>
  <cp:lastModifiedBy/>
  <dcterms:modified xsi:type="dcterms:W3CDTF">2026-01-24T10:51:14Z</dcterms:modified>
  <cp:revision>32</cp:revision>
  <dc:subject/>
  <dc:title>WPS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1033-11.1.0.8722</vt:lpwstr>
  </property>
  <property fmtid="{D5CDD505-2E9C-101B-9397-08002B2CF9AE}" pid="3" name="PresentationFormat">
    <vt:lpwstr>Widescreen</vt:lpwstr>
  </property>
  <property fmtid="{D5CDD505-2E9C-101B-9397-08002B2CF9AE}" pid="4" name="Slides">
    <vt:i4>4</vt:i4>
  </property>
</Properties>
</file>