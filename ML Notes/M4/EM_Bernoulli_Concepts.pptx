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8.png" ContentType="image/png"/>
  <Override PartName="/ppt/media/image1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4E86AE-143F-49F6-A4DD-26F77B39DA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2982CF-4C6D-455B-A2AE-9C2AE67342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060BA4A-E625-46C0-82D3-421F7099FB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31C23DF-261E-41B5-96D7-6495B2E967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B955AAE-61E3-4767-8A90-76859273AE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D9709AC-7C01-401A-B259-689E4A7CA7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B1B81CB-04F9-47E4-837B-98D8C31DB5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E2C0E31-AC2C-4D6C-B829-396BB6B706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BACE674-EFD4-47C0-8EED-0A8316E100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27D75D8-C447-44CF-BA6E-A44E5DDD80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FF90874-B362-436C-8BF5-D77D2D63CC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2D5DAB9-493A-44F2-9F5A-EAEB174212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03A98BB-90E9-4A67-824F-5301939EEA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12A70CE-C018-4FE5-AB8F-0643EDEF36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0851E17-EFE4-4DBD-A0C6-E7D7269BD5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8EE57F6-F4A4-4BF2-B8DC-1B22B17356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B462451-10AE-4BA9-9012-3A411CDE15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73BF549-5C54-45D0-8AAE-B037EBB961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95DFB3C-55FA-46B7-B499-9F45493797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414CB52-7933-4F34-85B2-6D369B5327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A3A66B-188A-4D8B-93E3-4A2E160E244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361D10E-0BC5-41D6-BD56-F3613EA0046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E2E59E-C9E7-451F-922C-14CCAB42FA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9EAF92-D121-4021-8898-21DB72EE1E3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274356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Expectation Maximization(EM) 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with Bernoulli Distribution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is EM?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457120" cy="548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It is a </a:t>
            </a: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general framework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used whenever a model has </a:t>
            </a: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hidden (latent) variables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EM is used when: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Model has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hidden variables</a:t>
            </a:r>
            <a:br>
              <a:rPr sz="2400"/>
            </a:b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Direct MLE(Maximum Likelihood Estimation) is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difficult</a:t>
            </a:r>
            <a:br>
              <a:rPr sz="2400"/>
            </a:b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Data is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incomplete or uncertain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Iterative: E-step and M-step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Bernoulli Distribution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for binary data (0/1)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P(x|θ)=θ^x (1-θ)^(1-x)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Model Assumption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 from mixture of Bernoulli distributions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Each cluster has its own θ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Hidden Variable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Cluster label Zi is unknown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 estimate it using probabilities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Assigning a data point to a cluster in EM corresponds to estimating hidden variables, but instead of hard assignment, EM computes probabilistic (soft) assignments using responsibilities.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E-Step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Compute responsibility r_ik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Probability point belongs to cluster 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M-Step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Update parameters: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θ_k = Σ(r_ik * x_i) / Σ(r_ik)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π_k = Σr_ik / 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Responsibility Concept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 rot="21580800">
            <a:off x="227160" y="1599480"/>
            <a:ext cx="890460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Soft assignment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Values between 0 and 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658800" y="3002760"/>
            <a:ext cx="6075360" cy="882360"/>
          </a:xfrm>
          <a:prstGeom prst="rect">
            <a:avLst/>
          </a:prstGeom>
          <a:ln w="0">
            <a:noFill/>
          </a:ln>
        </p:spPr>
      </p:pic>
      <p:pic>
        <p:nvPicPr>
          <p:cNvPr id="71" name="" descr=""/>
          <p:cNvPicPr/>
          <p:nvPr/>
        </p:nvPicPr>
        <p:blipFill>
          <a:blip r:embed="rId2"/>
          <a:stretch/>
        </p:blipFill>
        <p:spPr>
          <a:xfrm>
            <a:off x="213120" y="4170240"/>
            <a:ext cx="8904600" cy="131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Iteration Process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Initialize parameters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Repeat E-step and M-step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Until convergence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chemeClr val="dk1"/>
                </a:solidFill>
                <a:latin typeface="Calibri"/>
              </a:rPr>
              <a:t>Example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667080" y="1828800"/>
            <a:ext cx="8019000" cy="432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469080" y="486720"/>
            <a:ext cx="8216280" cy="580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85800" y="3886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1362600" y="448200"/>
            <a:ext cx="6180120" cy="2751120"/>
          </a:xfrm>
          <a:prstGeom prst="rect">
            <a:avLst/>
          </a:prstGeom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2"/>
          <a:stretch/>
        </p:blipFill>
        <p:spPr>
          <a:xfrm>
            <a:off x="685800" y="3200400"/>
            <a:ext cx="8000640" cy="356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37080" y="685800"/>
            <a:ext cx="9142560" cy="450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8160" cy="566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457200" y="1143000"/>
            <a:ext cx="8038800" cy="251352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914400" y="3886200"/>
            <a:ext cx="7367760" cy="182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280080" y="457560"/>
            <a:ext cx="8635320" cy="48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-432000" y="1828800"/>
            <a:ext cx="10032120" cy="159912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2"/>
          <a:stretch/>
        </p:blipFill>
        <p:spPr>
          <a:xfrm>
            <a:off x="-228600" y="3886200"/>
            <a:ext cx="8736480" cy="139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Responsibility Table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70520" y="1600200"/>
            <a:ext cx="8275680" cy="434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229680" y="504360"/>
            <a:ext cx="8228160" cy="612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018080" y="457200"/>
            <a:ext cx="718056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289440" y="685800"/>
            <a:ext cx="8637840" cy="543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184680" y="1958760"/>
            <a:ext cx="8847360" cy="297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457200" y="914400"/>
            <a:ext cx="7689240" cy="525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Final Parameters (After Iteration 1)</a:t>
            </a:r>
            <a:br>
              <a:rPr sz="2000"/>
            </a:b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956160" y="2082240"/>
            <a:ext cx="7304400" cy="363168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457200" y="914760"/>
            <a:ext cx="3999240" cy="45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/>
          </p:nvPr>
        </p:nvSpPr>
        <p:spPr>
          <a:xfrm>
            <a:off x="228600" y="228600"/>
            <a:ext cx="8914320" cy="617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Noto Sans CJK SC"/>
              </a:rPr>
              <a:t>Assigning a data point to a cluster in EM corresponds to estimating hidden variables, but instead of hard assignment, EM computes probabilistic (soft) assignments using responsibilities.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Noto Sans CJK SC"/>
              </a:rPr>
              <a:t>(Note: Iterations will be continued. Above steps are for iteration 1, Based on new parameters iterations can be continued..)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2324520" y="3200400"/>
            <a:ext cx="4303800" cy="201852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2"/>
          <a:stretch/>
        </p:blipFill>
        <p:spPr>
          <a:xfrm>
            <a:off x="167400" y="1819800"/>
            <a:ext cx="8999640" cy="137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Advantages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Handles binary 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Probabilistic clustering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Applications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Document classification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Survey 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Binary feature clustering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2026-04-02T16:28:41Z</dcterms:modified>
  <cp:revision>34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