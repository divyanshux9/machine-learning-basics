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A8CE87-B766-47C3-A514-7E909DBD2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1CEC0B-FD4F-4B2A-9EA2-B1BA86F199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ACA3AE8-7E22-442B-9FE6-E61572EC88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E81CD2-3284-41BF-B2F8-359A6F3C4C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6067530-7AF8-48DE-8BB0-BDF310EDFC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15C32A8-2E20-426B-B50C-C114258C52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7CD94C6-475A-4997-B03D-43F0F8C6FF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52A7DC3-338B-41E2-BB79-B209D1068B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6B96EF2-7BEC-4694-8F11-8159D3A7B6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DF58385-AA8A-4A0B-BE2C-BC3184CFD9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B909FE5-8C39-4DD8-A309-773E1744A2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7ED979B-21FD-4F70-807A-A969F0D62B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324ED-B3F4-4029-AC55-2103A55A7F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0B67BB-8D8A-48C9-95C4-3019B8AAEE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BC3A4C-6248-4FE0-A5C1-4EF3D1ACC2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8DFC7B-70E6-4773-BD70-2F431A9FCC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0A423E-29F7-4E55-8E78-7006776534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57C806-6F20-48B1-B861-5A101B2227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01F040-0685-423D-B052-D9715B0BCD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7049DD-CB27-4277-98A5-9BE6E93320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D17F4E-BBC2-4062-B199-1A517AF024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9F5B90-B2AE-425D-AFCA-8F879F9F53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FD8DE8-DFFA-44AD-9950-743CBDD1C6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2"/>
    <p:sldLayoutId id="214748367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Unsupervised Clustering Algorithms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Grouping data without labeled outputs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pattern discovery and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segmentation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Clustering?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Unsupervised learning technique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Groups similar data points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target variable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240" cy="56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93"/>
          </a:bodyPr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Clustering can be considered the most important unsupervised learning technique; it deals with finding a structure in a collection of unlabeled data.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Clustering is “ the process of organizing objects into groups whose members are similar in some way”. i.e. the process of grouping a set of objects into classes of similar objects.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commonest form of subsets of data set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cluster is therefore a collection of objects which are “similar” between them (i.e. similarity in the cluster) and are “dissimilar” to the objects belonging to other clusters.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Cluster: A collection of data objects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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similar (or related) to one another within the same group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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dissimilar (or unrelated) to the objects in other groups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26640" y="685800"/>
            <a:ext cx="9143640" cy="571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228600" y="1276920"/>
            <a:ext cx="9143640" cy="489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280" y="456840"/>
            <a:ext cx="8839440" cy="685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IN" sz="4000" spc="-1" strike="noStrike">
                <a:solidFill>
                  <a:srgbClr val="330066"/>
                </a:solidFill>
                <a:latin typeface="Arial"/>
              </a:rPr>
              <a:t>Major Clustering Approaches</a:t>
            </a:r>
            <a:endParaRPr b="1" lang="en-US" sz="4000" spc="-1" strike="noStrike">
              <a:solidFill>
                <a:srgbClr val="330066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04920" y="1523880"/>
            <a:ext cx="8534160" cy="47246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39840" indent="-3398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IN" sz="2000" spc="-1" strike="noStrike" u="sng">
                <a:solidFill>
                  <a:srgbClr val="000000"/>
                </a:solidFill>
                <a:uFillTx/>
                <a:latin typeface="Arial"/>
              </a:rPr>
              <a:t>Partitioning algorithms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: Construct various partitions and then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evaluate them by some criterion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39840" indent="-3398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IN" sz="2000" spc="-1" strike="noStrike" u="sng">
                <a:solidFill>
                  <a:srgbClr val="000000"/>
                </a:solidFill>
                <a:uFillTx/>
                <a:latin typeface="Arial"/>
              </a:rPr>
              <a:t>Hierarchical algorithms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: Create a hierarchical decomposition of the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set of data (or objects) using some criterion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39840" indent="-3398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IN" sz="2000" spc="-1" strike="noStrike" u="sng">
                <a:solidFill>
                  <a:srgbClr val="000000"/>
                </a:solidFill>
                <a:uFillTx/>
                <a:latin typeface="Arial"/>
              </a:rPr>
              <a:t>Density-based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: based on connectivity and density functions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39840" indent="-3398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IN" sz="2000" spc="-1" strike="noStrike" u="sng">
                <a:solidFill>
                  <a:srgbClr val="000000"/>
                </a:solidFill>
                <a:uFillTx/>
                <a:latin typeface="Arial"/>
              </a:rPr>
              <a:t>Grid-based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: based on a multiple-level granularity structure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39840" indent="-3398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IN" sz="2000" spc="-1" strike="noStrike" u="sng">
                <a:solidFill>
                  <a:srgbClr val="000000"/>
                </a:solidFill>
                <a:uFillTx/>
                <a:latin typeface="Arial"/>
              </a:rPr>
              <a:t>Model-based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: A model is hypothesized for each of the clusters and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the idea is to find the best fit of that model to each other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39840" indent="0">
              <a:lnSpc>
                <a:spcPct val="130000"/>
              </a:lnSpc>
              <a:spcBef>
                <a:spcPts val="499"/>
              </a:spcBef>
              <a:buNone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split dir="in" orient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with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dur="indefinite" fill="hold">
                      <p:stCondLst>
                        <p:cond delay="indefinite"/>
                      </p:stCondLst>
                      <p:childTnLst>
                        <p:par>
                          <p:cTn id="1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10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dur="indefinite" fill="hold">
                      <p:stCondLst>
                        <p:cond delay="indefinite"/>
                      </p:stCondLst>
                      <p:childTnLst>
                        <p:par>
                          <p:cTn id="1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9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3" dur="10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fill="hold">
                      <p:stCondLst>
                        <p:cond delay="indefinite"/>
                      </p:stCondLst>
                      <p:childTnLst>
                        <p:par>
                          <p:cTn id="2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6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1000" fill="hold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" dur="10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dur="indefinite" fill="hold">
                      <p:stCondLst>
                        <p:cond delay="indefinite"/>
                      </p:stCondLst>
                      <p:childTnLst>
                        <p:par>
                          <p:cTn id="3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1000" fill="hold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" dur="10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dur="indefinite" fill="hold">
                      <p:stCondLst>
                        <p:cond delay="indefinite"/>
                      </p:stCondLst>
                      <p:childTnLst>
                        <p:par>
                          <p:cTn id="3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0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1000" fill="hold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1000" fill="hold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4" dur="10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dur="indefinite" fill="hold">
                      <p:stCondLst>
                        <p:cond delay="indefinite"/>
                      </p:stCondLst>
                      <p:childTnLst>
                        <p:par>
                          <p:cTn id="4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7" dur="indefinite" nodeType="clickEffect" fill="hold" presetClass="entr" presetID="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1000" fill="hold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1000" fill="hold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1" dur="10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Clustering  Techniques</a:t>
            </a:r>
            <a:endParaRPr b="1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9240" cy="521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0320" y="914400"/>
            <a:ext cx="9143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0320" y="457200"/>
            <a:ext cx="91436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57560" y="914400"/>
            <a:ext cx="8457840" cy="48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Heuristic methods: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k-means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and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k-medoids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algorithms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i="1" lang="en-US" sz="2400" spc="-1" strike="noStrike" u="sng">
                <a:solidFill>
                  <a:schemeClr val="dk1"/>
                </a:solidFill>
                <a:uFillTx/>
                <a:latin typeface="Calibri"/>
              </a:rPr>
              <a:t>k-means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Each cluster is represented by the center of the cluster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339840"/>
                <a:tab algn="l" pos="444600"/>
                <a:tab algn="l" pos="893880"/>
                <a:tab algn="l" pos="1343160"/>
                <a:tab algn="l" pos="1792440"/>
                <a:tab algn="l" pos="2241720"/>
                <a:tab algn="l" pos="2690640"/>
                <a:tab algn="l" pos="3139920"/>
                <a:tab algn="l" pos="3589200"/>
                <a:tab algn="l" pos="4038480"/>
                <a:tab algn="l" pos="4487760"/>
                <a:tab algn="l" pos="4937040"/>
                <a:tab algn="l" pos="5386320"/>
                <a:tab algn="l" pos="5835600"/>
                <a:tab algn="l" pos="6284880"/>
                <a:tab algn="l" pos="6734160"/>
                <a:tab algn="l" pos="7183440"/>
                <a:tab algn="l" pos="7632720"/>
                <a:tab algn="l" pos="8082000"/>
                <a:tab algn="l" pos="8531280"/>
                <a:tab algn="l" pos="89805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i="1" lang="en-US" sz="2400" spc="-1" strike="noStrike" u="sng">
                <a:solidFill>
                  <a:schemeClr val="dk1"/>
                </a:solidFill>
                <a:uFillTx/>
                <a:latin typeface="Calibri"/>
              </a:rPr>
              <a:t>k-medoids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or PAM (Partition around medoids): Each cluster is represented by one of the objects in the cluster 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K-Means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Partition-based algorithm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centroids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Minimizes within-cluster variance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Requires K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K-Means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segmentation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compression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Document clustering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Hierarchical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Agglomerative (bottom-up)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Divisive (top-down)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Dendrogram representation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Hierarchical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Gene expression analysis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Text mining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Biological taxonomy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DBSCAN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Density-based clustering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Finds arbitrary-shaped clusters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Detects noise/outliers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DBSCAN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Anomaly detection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Geographic data analysis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segmentation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Gaussian Mixture Model (GMM)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Model-based clustering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probability distributions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Soft clustering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GMM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Speech recognition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Financial modeling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processing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Fuzzy C-Means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points belong to multiple clusters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Membership values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Fuzzy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Medical image analysis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Pattern recognition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 of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labeled data required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Finds hidden patterns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Useful in exploration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Limitations of Clustering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Choosing correct algorithm &amp; parameters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Sensitive to noise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Interpretation can be subjective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2026-02-09T13:57:40Z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