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27.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29.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slide29.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28.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11.png" ContentType="image/png"/>
  <Override PartName="/ppt/media/image2.png" ContentType="image/png"/>
  <Override PartName="/ppt/media/image24.png" ContentType="image/png"/>
  <Override PartName="/ppt/media/image23.png" ContentType="image/png"/>
  <Override PartName="/ppt/media/image22.png" ContentType="image/png"/>
  <Override PartName="/ppt/media/image21.png" ContentType="image/png"/>
  <Override PartName="/ppt/media/image19.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7.png" ContentType="image/png"/>
  <Override PartName="/ppt/media/image16.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838080" y="1825560"/>
            <a:ext cx="10514520" cy="43502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C355D8A-FCC5-4F67-9A0F-3A1E8729B870}"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9F94BE06-2D95-493F-8035-43811D840CD8}"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BFBBEA25-F6C4-4A22-9F95-6F0BDB764090}"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86566310-2C3D-4E49-8FC2-8279A62C8B32}"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3D9F354C-DFDD-4C20-98B0-1FF54B4C64AD}"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35D74123-1636-4E94-AAB4-126DF8F26342}"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7" name="PlaceHolder 2"/>
          <p:cNvSpPr>
            <a:spLocks noGrp="1"/>
          </p:cNvSpPr>
          <p:nvPr>
            <p:ph/>
          </p:nvPr>
        </p:nvSpPr>
        <p:spPr>
          <a:xfrm>
            <a:off x="838080" y="1825560"/>
            <a:ext cx="513108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 name="PlaceHolder 3"/>
          <p:cNvSpPr>
            <a:spLocks noGrp="1"/>
          </p:cNvSpPr>
          <p:nvPr>
            <p:ph/>
          </p:nvPr>
        </p:nvSpPr>
        <p:spPr>
          <a:xfrm>
            <a:off x="6226200" y="1825560"/>
            <a:ext cx="5131080" cy="4350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CF156500-4464-44FC-AF11-6E14382662AC}" type="slidenum">
              <a:t>&lt;#&gt;</a:t>
            </a:fld>
          </a:p>
        </p:txBody>
      </p:sp>
      <p:sp>
        <p:nvSpPr>
          <p:cNvPr id="7" name="PlaceHolder 6"/>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C40C7EE2-0B7F-4D7D-94B8-5EBCFCDE0D18}"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E2A27761-3C76-4B59-BCDD-A218B0680429}" type="slidenum">
              <a:t>&lt;#&gt;</a:t>
            </a:fld>
          </a:p>
        </p:txBody>
      </p:sp>
      <p:sp>
        <p:nvSpPr>
          <p:cNvPr id="5" name="PlaceHolder 4"/>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514E3D73-3F06-44B6-BD5B-E567A66EE73F}"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2DED6EDD-99BC-47D1-B307-E39584EB5376}"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E3E076FA-CCFD-4218-B867-B3B5BB4468B7}" type="slidenum">
              <a:t>&lt;#&gt;</a:t>
            </a:fld>
          </a:p>
        </p:txBody>
      </p:sp>
      <p:sp>
        <p:nvSpPr>
          <p:cNvPr id="4" name="PlaceHolder 3"/>
          <p:cNvSpPr>
            <a:spLocks noGrp="1"/>
          </p:cNvSpPr>
          <p:nvPr>
            <p:ph type="dt" idx="3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91E23935-CE4A-4BA2-ADAB-4BB4462B926E}"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2"/>
          <p:cNvSpPr>
            <a:spLocks noGrp="1"/>
          </p:cNvSpPr>
          <p:nvPr>
            <p:ph type="sldNum" idx="5"/>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4B902A2F-6102-4602-87B5-0BF9A7E585BB}"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9" name="PlaceHolder 3"/>
          <p:cNvSpPr>
            <a:spLocks noGrp="1"/>
          </p:cNvSpPr>
          <p:nvPr>
            <p:ph type="dt" idx="6"/>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2"/>
          <p:cNvSpPr>
            <a:spLocks noGrp="1"/>
          </p:cNvSpPr>
          <p:nvPr>
            <p:ph type="sldNum" idx="8"/>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8E938C4D-5482-42C5-A98C-32FAE0176BEA}"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2" name="PlaceHolder 3"/>
          <p:cNvSpPr>
            <a:spLocks noGrp="1"/>
          </p:cNvSpPr>
          <p:nvPr>
            <p:ph type="dt" idx="9"/>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838080" y="1825560"/>
            <a:ext cx="105145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ftr" idx="10"/>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 name="PlaceHolder 4"/>
          <p:cNvSpPr>
            <a:spLocks noGrp="1"/>
          </p:cNvSpPr>
          <p:nvPr>
            <p:ph type="sldNum" idx="11"/>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B79C5CE3-9921-486E-A13C-DA5D5FDA893F}"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7" name="PlaceHolder 5"/>
          <p:cNvSpPr>
            <a:spLocks noGrp="1"/>
          </p:cNvSpPr>
          <p:nvPr>
            <p:ph type="dt" idx="12"/>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 name="PlaceHolder 2"/>
          <p:cNvSpPr>
            <a:spLocks noGrp="1"/>
          </p:cNvSpPr>
          <p:nvPr>
            <p:ph type="body"/>
          </p:nvPr>
        </p:nvSpPr>
        <p:spPr>
          <a:xfrm>
            <a:off x="838080" y="1825560"/>
            <a:ext cx="105145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 name="PlaceHolder 3"/>
          <p:cNvSpPr>
            <a:spLocks noGrp="1"/>
          </p:cNvSpPr>
          <p:nvPr>
            <p:ph type="ftr" idx="13"/>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 name="PlaceHolder 4"/>
          <p:cNvSpPr>
            <a:spLocks noGrp="1"/>
          </p:cNvSpPr>
          <p:nvPr>
            <p:ph type="sldNum" idx="14"/>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0F9F27A6-6584-4B7A-8CE9-7F0BFF3617A2}"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4" name="PlaceHolder 5"/>
          <p:cNvSpPr>
            <a:spLocks noGrp="1"/>
          </p:cNvSpPr>
          <p:nvPr>
            <p:ph type="dt" idx="15"/>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ftr" idx="16"/>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 name="PlaceHolder 2"/>
          <p:cNvSpPr>
            <a:spLocks noGrp="1"/>
          </p:cNvSpPr>
          <p:nvPr>
            <p:ph type="sldNum" idx="17"/>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D28A78B4-F44E-4A4A-AAFD-27FF893A77FB}"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9" name="PlaceHolder 3"/>
          <p:cNvSpPr>
            <a:spLocks noGrp="1"/>
          </p:cNvSpPr>
          <p:nvPr>
            <p:ph type="dt" idx="18"/>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 name="PlaceHolder 2"/>
          <p:cNvSpPr>
            <a:spLocks noGrp="1"/>
          </p:cNvSpPr>
          <p:nvPr>
            <p:ph type="body"/>
          </p:nvPr>
        </p:nvSpPr>
        <p:spPr>
          <a:xfrm>
            <a:off x="838080" y="1825560"/>
            <a:ext cx="51307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 name="PlaceHolder 3"/>
          <p:cNvSpPr>
            <a:spLocks noGrp="1"/>
          </p:cNvSpPr>
          <p:nvPr>
            <p:ph type="body"/>
          </p:nvPr>
        </p:nvSpPr>
        <p:spPr>
          <a:xfrm>
            <a:off x="6226200" y="1825560"/>
            <a:ext cx="5130720" cy="4350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 name="PlaceHolder 4"/>
          <p:cNvSpPr>
            <a:spLocks noGrp="1"/>
          </p:cNvSpPr>
          <p:nvPr>
            <p:ph type="ftr" idx="19"/>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4" name="PlaceHolder 5"/>
          <p:cNvSpPr>
            <a:spLocks noGrp="1"/>
          </p:cNvSpPr>
          <p:nvPr>
            <p:ph type="sldNum" idx="20"/>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3D74C8E5-4560-4A5D-9B3B-ABF289645E1A}"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5" name="PlaceHolder 6"/>
          <p:cNvSpPr>
            <a:spLocks noGrp="1"/>
          </p:cNvSpPr>
          <p:nvPr>
            <p:ph type="dt" idx="21"/>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2"/>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3"/>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44E3A926-FB93-493D-8739-F111FB7C579A}"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1" name="PlaceHolder 3"/>
          <p:cNvSpPr>
            <a:spLocks noGrp="1"/>
          </p:cNvSpPr>
          <p:nvPr>
            <p:ph type="dt" idx="24"/>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3" name="PlaceHolder 2"/>
          <p:cNvSpPr>
            <a:spLocks noGrp="1"/>
          </p:cNvSpPr>
          <p:nvPr>
            <p:ph type="ftr" idx="25"/>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3"/>
          <p:cNvSpPr>
            <a:spLocks noGrp="1"/>
          </p:cNvSpPr>
          <p:nvPr>
            <p:ph type="sldNum" idx="26"/>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BA29A2FF-022D-4625-A680-5006C6C22557}"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5" name="PlaceHolder 4"/>
          <p:cNvSpPr>
            <a:spLocks noGrp="1"/>
          </p:cNvSpPr>
          <p:nvPr>
            <p:ph type="dt" idx="27"/>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28"/>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29"/>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D38429B5-30EA-449A-952F-41F5B87BBA51}"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0"/>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ftr" idx="3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1" name="PlaceHolder 2"/>
          <p:cNvSpPr>
            <a:spLocks noGrp="1"/>
          </p:cNvSpPr>
          <p:nvPr>
            <p:ph type="sldNum" idx="32"/>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12E6A5D3-DBE1-4305-82B4-8516B0623D57}"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2" name="PlaceHolder 3"/>
          <p:cNvSpPr>
            <a:spLocks noGrp="1"/>
          </p:cNvSpPr>
          <p:nvPr>
            <p:ph type="dt" idx="33"/>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ftr" idx="3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4" name="PlaceHolder 2"/>
          <p:cNvSpPr>
            <a:spLocks noGrp="1"/>
          </p:cNvSpPr>
          <p:nvPr>
            <p:ph type="sldNum" idx="35"/>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IN" sz="1200" spc="-1" strike="noStrike">
                <a:solidFill>
                  <a:schemeClr val="dk1">
                    <a:tint val="75000"/>
                  </a:schemeClr>
                </a:solidFill>
                <a:latin typeface="Calibri"/>
              </a:defRPr>
            </a:lvl1pPr>
          </a:lstStyle>
          <a:p>
            <a:pPr indent="0" algn="r" defTabSz="914400">
              <a:lnSpc>
                <a:spcPct val="100000"/>
              </a:lnSpc>
              <a:buNone/>
              <a:tabLst>
                <a:tab algn="l" pos="0"/>
              </a:tabLst>
            </a:pPr>
            <a:fld id="{82F4CC0B-C3E3-4ABE-9919-0572DC7BCC81}" type="slidenum">
              <a:rPr b="0" lang="en-IN"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5" name="PlaceHolder 3"/>
          <p:cNvSpPr>
            <a:spLocks noGrp="1"/>
          </p:cNvSpPr>
          <p:nvPr>
            <p:ph type="dt" idx="36"/>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1456560" y="1122480"/>
            <a:ext cx="9142920" cy="23864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b="0" lang="en-US" sz="6000" spc="-1" strike="noStrike">
                <a:solidFill>
                  <a:srgbClr val="272c37"/>
                </a:solidFill>
                <a:latin typeface="Roboto"/>
              </a:rPr>
              <a:t>Dimensionality Reduction</a:t>
            </a:r>
            <a:endParaRPr b="0" lang="en-US" sz="6000" spc="-1" strike="noStrike">
              <a:solidFill>
                <a:srgbClr val="000000"/>
              </a:solidFill>
              <a:latin typeface="Arial"/>
            </a:endParaRPr>
          </a:p>
        </p:txBody>
      </p:sp>
      <p:sp>
        <p:nvSpPr>
          <p:cNvPr id="57" name="PlaceHolder 2"/>
          <p:cNvSpPr>
            <a:spLocks noGrp="1"/>
          </p:cNvSpPr>
          <p:nvPr>
            <p:ph type="subTitle"/>
          </p:nvPr>
        </p:nvSpPr>
        <p:spPr>
          <a:xfrm>
            <a:off x="1523880" y="3602160"/>
            <a:ext cx="9142920" cy="165456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b="0" lang="en-US" sz="2400" spc="-1" strike="noStrike">
                <a:solidFill>
                  <a:schemeClr val="dk1"/>
                </a:solidFill>
                <a:latin typeface="Calibri"/>
              </a:rPr>
              <a:t>PCA, KPCA, Metrics for clustering</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p:nvPr>
        </p:nvSpPr>
        <p:spPr>
          <a:xfrm>
            <a:off x="347400" y="199080"/>
            <a:ext cx="10514520" cy="4350240"/>
          </a:xfrm>
          <a:prstGeom prst="rect">
            <a:avLst/>
          </a:prstGeom>
          <a:noFill/>
          <a:ln w="0">
            <a:noFill/>
          </a:ln>
        </p:spPr>
        <p:txBody>
          <a:bodyPr lIns="91440" rIns="91440" tIns="45720" bIns="45720" anchor="t">
            <a:normAutofit/>
          </a:bodyPr>
          <a:p>
            <a:pPr marL="228600" indent="-228600" algn="just" defTabSz="914400">
              <a:lnSpc>
                <a:spcPct val="90000"/>
              </a:lnSpc>
              <a:spcBef>
                <a:spcPts val="1001"/>
              </a:spcBef>
              <a:buClr>
                <a:srgbClr val="292929"/>
              </a:buClr>
              <a:buFont typeface="Arial"/>
              <a:buChar char="•"/>
            </a:pPr>
            <a:r>
              <a:rPr b="0" lang="en-US" sz="2400" spc="-1" strike="noStrike">
                <a:solidFill>
                  <a:srgbClr val="292929"/>
                </a:solidFill>
                <a:latin typeface="Roboto"/>
                <a:ea typeface="Roboto"/>
              </a:rPr>
              <a:t>Dimensionality reduction is the process of reducing the number of random variables or attributes under consideration.</a:t>
            </a:r>
            <a:endParaRPr b="0" lang="en-US" sz="2400" spc="-1" strike="noStrike">
              <a:solidFill>
                <a:srgbClr val="000000"/>
              </a:solidFill>
              <a:latin typeface="Arial"/>
            </a:endParaRPr>
          </a:p>
          <a:p>
            <a:pPr indent="0" algn="just" defTabSz="914400">
              <a:lnSpc>
                <a:spcPct val="90000"/>
              </a:lnSpc>
              <a:spcBef>
                <a:spcPts val="1001"/>
              </a:spcBef>
              <a:buNone/>
              <a:tabLst>
                <a:tab algn="l" pos="0"/>
              </a:tabLst>
            </a:pPr>
            <a:endParaRPr b="0" lang="en-US" sz="800" spc="-1" strike="noStrike">
              <a:solidFill>
                <a:srgbClr val="000000"/>
              </a:solidFill>
              <a:latin typeface="Arial"/>
            </a:endParaRPr>
          </a:p>
          <a:p>
            <a:pPr marL="228600" indent="-228600" algn="just" defTabSz="914400">
              <a:lnSpc>
                <a:spcPct val="90000"/>
              </a:lnSpc>
              <a:spcBef>
                <a:spcPts val="1001"/>
              </a:spcBef>
              <a:buClr>
                <a:srgbClr val="292929"/>
              </a:buClr>
              <a:buFont typeface="Arial"/>
              <a:buChar char="•"/>
              <a:tabLst>
                <a:tab algn="l" pos="0"/>
              </a:tabLst>
            </a:pPr>
            <a:r>
              <a:rPr b="0" lang="en-US" sz="2400" spc="-1" strike="noStrike">
                <a:solidFill>
                  <a:srgbClr val="292929"/>
                </a:solidFill>
                <a:latin typeface="Roboto"/>
                <a:ea typeface="Roboto"/>
              </a:rPr>
              <a:t>When the dimension increases, with the sparsity, the distance between two independent points increases. That results in less similarity among the data points which will result in more error when it comes to most of the machine learning and other techniques used in data mining. To compensate we will have to feed very large number of data points but with higher dimensions it’s practically impossible and even it’s possible it will be inefficient.</a:t>
            </a:r>
            <a:endParaRPr b="0" lang="en-US" sz="2400" spc="-1" strike="noStrike">
              <a:solidFill>
                <a:srgbClr val="000000"/>
              </a:solidFill>
              <a:latin typeface="Arial"/>
            </a:endParaRPr>
          </a:p>
        </p:txBody>
      </p:sp>
      <p:pic>
        <p:nvPicPr>
          <p:cNvPr id="59" name="Picture 4" descr=""/>
          <p:cNvPicPr/>
          <p:nvPr/>
        </p:nvPicPr>
        <p:blipFill>
          <a:blip r:embed="rId1"/>
          <a:stretch/>
        </p:blipFill>
        <p:spPr>
          <a:xfrm>
            <a:off x="3145680" y="3592800"/>
            <a:ext cx="8191800" cy="31528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TextBox 4"/>
          <p:cNvSpPr/>
          <p:nvPr/>
        </p:nvSpPr>
        <p:spPr>
          <a:xfrm>
            <a:off x="472320" y="461520"/>
            <a:ext cx="10514520" cy="3015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400" spc="-1" strike="noStrike">
                <a:solidFill>
                  <a:srgbClr val="292929"/>
                </a:solidFill>
                <a:latin typeface="Roboto"/>
                <a:ea typeface="Roboto"/>
              </a:rPr>
              <a:t>Techniques of dimensionality reduction</a:t>
            </a:r>
            <a:endParaRPr b="0" lang="en-US" sz="2400" spc="-1" strike="noStrike">
              <a:solidFill>
                <a:srgbClr val="000000"/>
              </a:solidFill>
              <a:latin typeface="Arial"/>
            </a:endParaRPr>
          </a:p>
          <a:p>
            <a:pPr defTabSz="914400">
              <a:lnSpc>
                <a:spcPct val="100000"/>
              </a:lnSpc>
            </a:pPr>
            <a:r>
              <a:rPr b="0" lang="en-US" sz="2400" spc="-1" strike="noStrike">
                <a:solidFill>
                  <a:srgbClr val="292929"/>
                </a:solidFill>
                <a:latin typeface="Roboto"/>
                <a:ea typeface="Roboto"/>
              </a:rPr>
              <a:t>Dimensionality reduction is accomplished based on either </a:t>
            </a:r>
            <a:r>
              <a:rPr b="1" lang="en-US" sz="2400" spc="-1" strike="noStrike">
                <a:solidFill>
                  <a:srgbClr val="292929"/>
                </a:solidFill>
                <a:latin typeface="Roboto"/>
                <a:ea typeface="Roboto"/>
              </a:rPr>
              <a:t>feature selection</a:t>
            </a:r>
            <a:r>
              <a:rPr b="0" lang="en-US" sz="2400" spc="-1" strike="noStrike">
                <a:solidFill>
                  <a:srgbClr val="292929"/>
                </a:solidFill>
                <a:latin typeface="Roboto"/>
                <a:ea typeface="Roboto"/>
              </a:rPr>
              <a:t> or </a:t>
            </a:r>
            <a:r>
              <a:rPr b="1" lang="en-US" sz="2400" spc="-1" strike="noStrike">
                <a:solidFill>
                  <a:srgbClr val="292929"/>
                </a:solidFill>
                <a:latin typeface="Roboto"/>
                <a:ea typeface="Roboto"/>
              </a:rPr>
              <a:t>feature extraction</a:t>
            </a:r>
            <a:r>
              <a:rPr b="0" lang="en-US" sz="2400" spc="-1" strike="noStrike">
                <a:solidFill>
                  <a:srgbClr val="292929"/>
                </a:solidFill>
                <a:latin typeface="Roboto"/>
                <a:ea typeface="Roboto"/>
              </a:rPr>
              <a:t>. </a:t>
            </a:r>
            <a:endParaRPr b="0" lang="en-US" sz="2400" spc="-1" strike="noStrike">
              <a:solidFill>
                <a:srgbClr val="000000"/>
              </a:solidFill>
              <a:latin typeface="Arial"/>
            </a:endParaRPr>
          </a:p>
          <a:p>
            <a:pPr defTabSz="914400">
              <a:lnSpc>
                <a:spcPct val="100000"/>
              </a:lnSpc>
            </a:pPr>
            <a:endParaRPr b="0" lang="en-US" sz="2400" spc="-1" strike="noStrike">
              <a:solidFill>
                <a:srgbClr val="000000"/>
              </a:solidFill>
              <a:latin typeface="Arial"/>
            </a:endParaRPr>
          </a:p>
          <a:p>
            <a:pPr defTabSz="914400">
              <a:lnSpc>
                <a:spcPct val="100000"/>
              </a:lnSpc>
            </a:pPr>
            <a:r>
              <a:rPr b="0" lang="en-US" sz="2400" spc="-1" strike="noStrike">
                <a:solidFill>
                  <a:srgbClr val="292929"/>
                </a:solidFill>
                <a:latin typeface="Roboto"/>
                <a:ea typeface="Roboto"/>
              </a:rPr>
              <a:t>Feature selection is based on omitting those features from the available measurements which do not contribute to class separability. In other words, redundant and irrelevant features are ignored. </a:t>
            </a:r>
            <a:endParaRPr b="0" lang="en-US" sz="2400" spc="-1" strike="noStrike">
              <a:solidFill>
                <a:srgbClr val="000000"/>
              </a:solidFill>
              <a:latin typeface="Arial"/>
            </a:endParaRPr>
          </a:p>
          <a:p>
            <a:pPr defTabSz="914400">
              <a:lnSpc>
                <a:spcPct val="100000"/>
              </a:lnSpc>
            </a:pPr>
            <a:endParaRPr b="0" lang="en-US" sz="2400" spc="-1" strike="noStrike">
              <a:solidFill>
                <a:srgbClr val="000000"/>
              </a:solidFill>
              <a:latin typeface="Arial"/>
            </a:endParaRPr>
          </a:p>
        </p:txBody>
      </p:sp>
      <p:pic>
        <p:nvPicPr>
          <p:cNvPr id="61" name="Picture 6" descr=""/>
          <p:cNvPicPr/>
          <p:nvPr/>
        </p:nvPicPr>
        <p:blipFill>
          <a:blip r:embed="rId1"/>
          <a:stretch/>
        </p:blipFill>
        <p:spPr>
          <a:xfrm>
            <a:off x="4205160" y="3429000"/>
            <a:ext cx="6507720" cy="30452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TextBox 4"/>
          <p:cNvSpPr/>
          <p:nvPr/>
        </p:nvSpPr>
        <p:spPr>
          <a:xfrm>
            <a:off x="838080" y="373320"/>
            <a:ext cx="10836000" cy="118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400" spc="-1" strike="noStrike">
                <a:solidFill>
                  <a:srgbClr val="292929"/>
                </a:solidFill>
                <a:latin typeface="Roboto"/>
                <a:ea typeface="Roboto"/>
              </a:rPr>
              <a:t>Feature extraction, on the other hand, considers the whole information content and maps the useful information content into a lower dimensional feature space.</a:t>
            </a:r>
            <a:endParaRPr b="0" lang="en-US" sz="2400" spc="-1" strike="noStrike">
              <a:solidFill>
                <a:srgbClr val="000000"/>
              </a:solidFill>
              <a:latin typeface="Arial"/>
            </a:endParaRPr>
          </a:p>
        </p:txBody>
      </p:sp>
      <p:pic>
        <p:nvPicPr>
          <p:cNvPr id="63" name="Picture 6" descr=""/>
          <p:cNvPicPr/>
          <p:nvPr/>
        </p:nvPicPr>
        <p:blipFill>
          <a:blip r:embed="rId1"/>
          <a:stretch/>
        </p:blipFill>
        <p:spPr>
          <a:xfrm>
            <a:off x="2427840" y="1699920"/>
            <a:ext cx="7134840" cy="313092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0" lang="en-US" sz="4000" spc="-1" strike="noStrike">
                <a:solidFill>
                  <a:srgbClr val="272c37"/>
                </a:solidFill>
                <a:latin typeface="Roboto"/>
              </a:rPr>
              <a:t>Why Dimensionality Reduction is Important</a:t>
            </a:r>
            <a:endParaRPr b="0" lang="en-US" sz="4000" spc="-1" strike="noStrike">
              <a:solidFill>
                <a:srgbClr val="000000"/>
              </a:solidFill>
              <a:latin typeface="Arial"/>
            </a:endParaRPr>
          </a:p>
        </p:txBody>
      </p:sp>
      <p:sp>
        <p:nvSpPr>
          <p:cNvPr id="65" name="PlaceHolder 2"/>
          <p:cNvSpPr>
            <a:spLocks noGrp="1"/>
          </p:cNvSpPr>
          <p:nvPr>
            <p:ph/>
          </p:nvPr>
        </p:nvSpPr>
        <p:spPr>
          <a:xfrm>
            <a:off x="838080" y="1825560"/>
            <a:ext cx="10514520" cy="435024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51565e"/>
              </a:buClr>
              <a:buFont typeface="Arial"/>
              <a:buChar char="•"/>
            </a:pPr>
            <a:r>
              <a:rPr b="0" lang="en-US" sz="2400" spc="-1" strike="noStrike">
                <a:solidFill>
                  <a:srgbClr val="51565e"/>
                </a:solidFill>
                <a:latin typeface="Roboto"/>
              </a:rPr>
              <a:t>Dimensionality reduction brings many advantages to your machine learning data, including:</a:t>
            </a:r>
            <a:endParaRPr b="0" lang="en-US" sz="2400" spc="-1" strike="noStrike">
              <a:solidFill>
                <a:srgbClr val="000000"/>
              </a:solidFill>
              <a:latin typeface="Arial"/>
            </a:endParaRPr>
          </a:p>
          <a:p>
            <a:pPr marL="228600" indent="-228600" defTabSz="914400">
              <a:lnSpc>
                <a:spcPct val="90000"/>
              </a:lnSpc>
              <a:spcBef>
                <a:spcPts val="1001"/>
              </a:spcBef>
              <a:buClr>
                <a:srgbClr val="51565e"/>
              </a:buClr>
              <a:buFont typeface="Arial"/>
              <a:buChar char="•"/>
            </a:pPr>
            <a:r>
              <a:rPr b="0" lang="en-US" sz="2400" spc="-1" strike="noStrike">
                <a:solidFill>
                  <a:srgbClr val="51565e"/>
                </a:solidFill>
                <a:latin typeface="Roboto"/>
              </a:rPr>
              <a:t>Fewer features mean less complexity</a:t>
            </a:r>
            <a:endParaRPr b="0" lang="en-US" sz="2400" spc="-1" strike="noStrike">
              <a:solidFill>
                <a:srgbClr val="000000"/>
              </a:solidFill>
              <a:latin typeface="Arial"/>
            </a:endParaRPr>
          </a:p>
          <a:p>
            <a:pPr marL="228600" indent="-228600" defTabSz="914400">
              <a:lnSpc>
                <a:spcPct val="90000"/>
              </a:lnSpc>
              <a:spcBef>
                <a:spcPts val="1001"/>
              </a:spcBef>
              <a:buClr>
                <a:srgbClr val="51565e"/>
              </a:buClr>
              <a:buFont typeface="Arial"/>
              <a:buChar char="•"/>
            </a:pPr>
            <a:r>
              <a:rPr b="0" lang="en-US" sz="2400" spc="-1" strike="noStrike">
                <a:solidFill>
                  <a:srgbClr val="51565e"/>
                </a:solidFill>
                <a:latin typeface="Roboto"/>
              </a:rPr>
              <a:t>You will need less storage space because you have fewer data</a:t>
            </a:r>
            <a:endParaRPr b="0" lang="en-US" sz="2400" spc="-1" strike="noStrike">
              <a:solidFill>
                <a:srgbClr val="000000"/>
              </a:solidFill>
              <a:latin typeface="Arial"/>
            </a:endParaRPr>
          </a:p>
          <a:p>
            <a:pPr marL="228600" indent="-228600" defTabSz="914400">
              <a:lnSpc>
                <a:spcPct val="90000"/>
              </a:lnSpc>
              <a:spcBef>
                <a:spcPts val="1001"/>
              </a:spcBef>
              <a:buClr>
                <a:srgbClr val="51565e"/>
              </a:buClr>
              <a:buFont typeface="Arial"/>
              <a:buChar char="•"/>
            </a:pPr>
            <a:r>
              <a:rPr b="0" lang="en-US" sz="2400" spc="-1" strike="noStrike">
                <a:solidFill>
                  <a:srgbClr val="51565e"/>
                </a:solidFill>
                <a:latin typeface="Roboto"/>
              </a:rPr>
              <a:t>Fewer features require less computation time</a:t>
            </a:r>
            <a:endParaRPr b="0" lang="en-US" sz="2400" spc="-1" strike="noStrike">
              <a:solidFill>
                <a:srgbClr val="000000"/>
              </a:solidFill>
              <a:latin typeface="Arial"/>
            </a:endParaRPr>
          </a:p>
          <a:p>
            <a:pPr marL="228600" indent="-228600" defTabSz="914400">
              <a:lnSpc>
                <a:spcPct val="90000"/>
              </a:lnSpc>
              <a:spcBef>
                <a:spcPts val="1001"/>
              </a:spcBef>
              <a:buClr>
                <a:srgbClr val="51565e"/>
              </a:buClr>
              <a:buFont typeface="Arial"/>
              <a:buChar char="•"/>
            </a:pPr>
            <a:r>
              <a:rPr b="0" lang="en-US" sz="2400" spc="-1" strike="noStrike">
                <a:solidFill>
                  <a:srgbClr val="51565e"/>
                </a:solidFill>
                <a:latin typeface="Roboto"/>
              </a:rPr>
              <a:t>Model accuracy improves due to less misleading data</a:t>
            </a:r>
            <a:endParaRPr b="0" lang="en-US" sz="2400" spc="-1" strike="noStrike">
              <a:solidFill>
                <a:srgbClr val="000000"/>
              </a:solidFill>
              <a:latin typeface="Arial"/>
            </a:endParaRPr>
          </a:p>
          <a:p>
            <a:pPr marL="228600" indent="-228600" defTabSz="914400">
              <a:lnSpc>
                <a:spcPct val="90000"/>
              </a:lnSpc>
              <a:spcBef>
                <a:spcPts val="1001"/>
              </a:spcBef>
              <a:buClr>
                <a:srgbClr val="51565e"/>
              </a:buClr>
              <a:buFont typeface="Arial"/>
              <a:buChar char="•"/>
            </a:pPr>
            <a:r>
              <a:rPr b="0" lang="en-US" sz="2400" spc="-1" strike="noStrike">
                <a:solidFill>
                  <a:srgbClr val="51565e"/>
                </a:solidFill>
                <a:latin typeface="Roboto"/>
              </a:rPr>
              <a:t>Algorithms train faster thanks to fewer data</a:t>
            </a:r>
            <a:endParaRPr b="0" lang="en-US" sz="2400" spc="-1" strike="noStrike">
              <a:solidFill>
                <a:srgbClr val="000000"/>
              </a:solidFill>
              <a:latin typeface="Arial"/>
            </a:endParaRPr>
          </a:p>
          <a:p>
            <a:pPr marL="228600" indent="-228600" defTabSz="914400">
              <a:lnSpc>
                <a:spcPct val="90000"/>
              </a:lnSpc>
              <a:spcBef>
                <a:spcPts val="1001"/>
              </a:spcBef>
              <a:buClr>
                <a:srgbClr val="51565e"/>
              </a:buClr>
              <a:buFont typeface="Arial"/>
              <a:buChar char="•"/>
            </a:pPr>
            <a:r>
              <a:rPr b="0" lang="en-US" sz="2400" spc="-1" strike="noStrike">
                <a:solidFill>
                  <a:srgbClr val="51565e"/>
                </a:solidFill>
                <a:latin typeface="Roboto"/>
              </a:rPr>
              <a:t>Reducing the data set’s feature dimensions helps visualize the data faster</a:t>
            </a:r>
            <a:endParaRPr b="0" lang="en-US" sz="2400" spc="-1" strike="noStrike">
              <a:solidFill>
                <a:srgbClr val="000000"/>
              </a:solidFill>
              <a:latin typeface="Arial"/>
            </a:endParaRPr>
          </a:p>
          <a:p>
            <a:pPr marL="228600" indent="-228600" defTabSz="914400">
              <a:lnSpc>
                <a:spcPct val="90000"/>
              </a:lnSpc>
              <a:spcBef>
                <a:spcPts val="1001"/>
              </a:spcBef>
              <a:buClr>
                <a:srgbClr val="51565e"/>
              </a:buClr>
              <a:buFont typeface="Arial"/>
              <a:buChar char="•"/>
            </a:pPr>
            <a:r>
              <a:rPr b="0" lang="en-US" sz="2400" spc="-1" strike="noStrike">
                <a:solidFill>
                  <a:srgbClr val="51565e"/>
                </a:solidFill>
                <a:latin typeface="Roboto"/>
              </a:rPr>
              <a:t>It removes noise and redundant features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rgbClr val="272c37"/>
                </a:solidFill>
                <a:latin typeface="Roboto"/>
              </a:rPr>
              <a:t>Dimensionality Reduction Techniques</a:t>
            </a:r>
            <a:endParaRPr b="0" lang="en-US" sz="4400" spc="-1" strike="noStrike">
              <a:solidFill>
                <a:srgbClr val="000000"/>
              </a:solidFill>
              <a:latin typeface="Arial"/>
            </a:endParaRPr>
          </a:p>
        </p:txBody>
      </p:sp>
      <p:sp>
        <p:nvSpPr>
          <p:cNvPr id="67" name="PlaceHolder 2"/>
          <p:cNvSpPr>
            <a:spLocks noGrp="1"/>
          </p:cNvSpPr>
          <p:nvPr>
            <p:ph/>
          </p:nvPr>
        </p:nvSpPr>
        <p:spPr>
          <a:xfrm>
            <a:off x="838080" y="1520640"/>
            <a:ext cx="10514520" cy="4655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51565e"/>
              </a:buClr>
              <a:buFont typeface="Arial"/>
              <a:buChar char="•"/>
            </a:pPr>
            <a:r>
              <a:rPr b="0" lang="en-US" sz="2000" spc="-1" strike="noStrike">
                <a:solidFill>
                  <a:srgbClr val="51565e"/>
                </a:solidFill>
                <a:latin typeface="Roboto"/>
              </a:rPr>
              <a:t>Here are some techniques machine learning professionals use.</a:t>
            </a:r>
            <a:endParaRPr b="0" lang="en-US" sz="2000" spc="-1" strike="noStrike">
              <a:solidFill>
                <a:srgbClr val="000000"/>
              </a:solidFill>
              <a:latin typeface="Arial"/>
            </a:endParaRPr>
          </a:p>
          <a:p>
            <a:pPr marL="228600" indent="-228600" defTabSz="914400">
              <a:lnSpc>
                <a:spcPct val="90000"/>
              </a:lnSpc>
              <a:spcBef>
                <a:spcPts val="1001"/>
              </a:spcBef>
              <a:buClr>
                <a:srgbClr val="272c37"/>
              </a:buClr>
              <a:buFont typeface="Arial"/>
              <a:buChar char="•"/>
            </a:pPr>
            <a:r>
              <a:rPr b="0" lang="en-US" sz="2000" spc="-1" strike="noStrike">
                <a:solidFill>
                  <a:srgbClr val="272c37"/>
                </a:solidFill>
                <a:latin typeface="Roboto"/>
              </a:rPr>
              <a:t>Principal Component Analysis(feature extraction).</a:t>
            </a:r>
            <a:endParaRPr b="0" lang="en-US" sz="2000" spc="-1" strike="noStrike">
              <a:solidFill>
                <a:srgbClr val="000000"/>
              </a:solidFill>
              <a:latin typeface="Arial"/>
            </a:endParaRPr>
          </a:p>
          <a:p>
            <a:pPr lvl="1" marL="685800" indent="-228600" defTabSz="914400">
              <a:lnSpc>
                <a:spcPct val="90000"/>
              </a:lnSpc>
              <a:spcBef>
                <a:spcPts val="499"/>
              </a:spcBef>
              <a:buClr>
                <a:srgbClr val="51565e"/>
              </a:buClr>
              <a:buFont typeface="Arial"/>
              <a:buChar char="•"/>
            </a:pPr>
            <a:r>
              <a:rPr b="0" lang="en-US" sz="1800" spc="-1" strike="noStrike">
                <a:solidFill>
                  <a:srgbClr val="51565e"/>
                </a:solidFill>
                <a:latin typeface="Roboto"/>
              </a:rPr>
              <a:t>PCA extracts a new set of variables from an existing, more extensive set. The new set is called “principal components.”</a:t>
            </a:r>
            <a:endParaRPr b="0" lang="en-US" sz="1800" spc="-1" strike="noStrike">
              <a:solidFill>
                <a:srgbClr val="000000"/>
              </a:solidFill>
              <a:latin typeface="Arial"/>
            </a:endParaRPr>
          </a:p>
          <a:p>
            <a:pPr marL="228600" indent="-228600" defTabSz="914400">
              <a:lnSpc>
                <a:spcPct val="90000"/>
              </a:lnSpc>
              <a:spcBef>
                <a:spcPts val="1001"/>
              </a:spcBef>
              <a:buClr>
                <a:srgbClr val="272c37"/>
              </a:buClr>
              <a:buFont typeface="Arial"/>
              <a:buChar char="•"/>
            </a:pPr>
            <a:r>
              <a:rPr b="0" lang="en-US" sz="2000" spc="-1" strike="noStrike">
                <a:solidFill>
                  <a:srgbClr val="272c37"/>
                </a:solidFill>
                <a:latin typeface="Roboto"/>
              </a:rPr>
              <a:t>Backward Feature Elimination.</a:t>
            </a:r>
            <a:endParaRPr b="0" lang="en-US" sz="2000" spc="-1" strike="noStrike">
              <a:solidFill>
                <a:srgbClr val="000000"/>
              </a:solidFill>
              <a:latin typeface="Arial"/>
            </a:endParaRPr>
          </a:p>
          <a:p>
            <a:pPr marL="228600" indent="-228600" defTabSz="914400">
              <a:lnSpc>
                <a:spcPct val="90000"/>
              </a:lnSpc>
              <a:spcBef>
                <a:spcPts val="1001"/>
              </a:spcBef>
              <a:buClr>
                <a:srgbClr val="272c37"/>
              </a:buClr>
              <a:buFont typeface="Arial"/>
              <a:buChar char="•"/>
            </a:pPr>
            <a:r>
              <a:rPr b="0" lang="en-US" sz="2000" spc="-1" strike="noStrike">
                <a:solidFill>
                  <a:srgbClr val="272c37"/>
                </a:solidFill>
                <a:latin typeface="Roboto"/>
              </a:rPr>
              <a:t>Forward Feature Selection.</a:t>
            </a:r>
            <a:endParaRPr b="0" lang="en-US" sz="2000" spc="-1" strike="noStrike">
              <a:solidFill>
                <a:srgbClr val="000000"/>
              </a:solidFill>
              <a:latin typeface="Arial"/>
            </a:endParaRPr>
          </a:p>
          <a:p>
            <a:pPr marL="228600" indent="-228600" defTabSz="914400">
              <a:lnSpc>
                <a:spcPct val="90000"/>
              </a:lnSpc>
              <a:spcBef>
                <a:spcPts val="1001"/>
              </a:spcBef>
              <a:buClr>
                <a:srgbClr val="272c37"/>
              </a:buClr>
              <a:buFont typeface="Arial"/>
              <a:buChar char="•"/>
            </a:pPr>
            <a:r>
              <a:rPr b="0" lang="en-US" sz="2000" spc="-1" strike="noStrike">
                <a:solidFill>
                  <a:srgbClr val="272c37"/>
                </a:solidFill>
                <a:latin typeface="Roboto"/>
              </a:rPr>
              <a:t>Low Variance Filter.</a:t>
            </a:r>
            <a:endParaRPr b="0" lang="en-US" sz="2000" spc="-1" strike="noStrike">
              <a:solidFill>
                <a:srgbClr val="000000"/>
              </a:solidFill>
              <a:latin typeface="Arial"/>
            </a:endParaRPr>
          </a:p>
          <a:p>
            <a:pPr marL="228600" indent="-228600" defTabSz="914400">
              <a:lnSpc>
                <a:spcPct val="90000"/>
              </a:lnSpc>
              <a:spcBef>
                <a:spcPts val="1001"/>
              </a:spcBef>
              <a:buClr>
                <a:srgbClr val="272c37"/>
              </a:buClr>
              <a:buFont typeface="Arial"/>
              <a:buChar char="•"/>
            </a:pPr>
            <a:r>
              <a:rPr b="0" lang="en-US" sz="2000" spc="-1" strike="noStrike">
                <a:solidFill>
                  <a:srgbClr val="272c37"/>
                </a:solidFill>
                <a:latin typeface="Roboto"/>
              </a:rPr>
              <a:t>High Correlation Filter.</a:t>
            </a:r>
            <a:endParaRPr b="0" lang="en-US" sz="2000" spc="-1" strike="noStrike">
              <a:solidFill>
                <a:srgbClr val="000000"/>
              </a:solidFill>
              <a:latin typeface="Arial"/>
            </a:endParaRPr>
          </a:p>
          <a:p>
            <a:pPr marL="228600" indent="-228600" defTabSz="914400">
              <a:lnSpc>
                <a:spcPct val="90000"/>
              </a:lnSpc>
              <a:spcBef>
                <a:spcPts val="1001"/>
              </a:spcBef>
              <a:buClr>
                <a:srgbClr val="272c37"/>
              </a:buClr>
              <a:buFont typeface="Arial"/>
              <a:buChar char="•"/>
            </a:pPr>
            <a:r>
              <a:rPr b="0" lang="en-US" sz="2000" spc="-1" strike="noStrike">
                <a:solidFill>
                  <a:srgbClr val="272c37"/>
                </a:solidFill>
                <a:latin typeface="Roboto"/>
              </a:rPr>
              <a:t>Decision Trees.(feature selection)</a:t>
            </a:r>
            <a:endParaRPr b="0" lang="en-US" sz="2000" spc="-1" strike="noStrike">
              <a:solidFill>
                <a:srgbClr val="000000"/>
              </a:solidFill>
              <a:latin typeface="Arial"/>
            </a:endParaRPr>
          </a:p>
          <a:p>
            <a:pPr marL="228600" indent="-228600" defTabSz="914400">
              <a:lnSpc>
                <a:spcPct val="90000"/>
              </a:lnSpc>
              <a:spcBef>
                <a:spcPts val="1001"/>
              </a:spcBef>
              <a:buClr>
                <a:srgbClr val="272c37"/>
              </a:buClr>
              <a:buFont typeface="Arial"/>
              <a:buChar char="•"/>
            </a:pPr>
            <a:r>
              <a:rPr b="0" lang="en-US" sz="2000" spc="-1" strike="noStrike">
                <a:solidFill>
                  <a:srgbClr val="272c37"/>
                </a:solidFill>
                <a:latin typeface="Roboto"/>
              </a:rPr>
              <a:t>Random Forest.</a:t>
            </a:r>
            <a:endParaRPr b="0" lang="en-US" sz="2000" spc="-1" strike="noStrike">
              <a:solidFill>
                <a:srgbClr val="000000"/>
              </a:solidFill>
              <a:latin typeface="Arial"/>
            </a:endParaRPr>
          </a:p>
          <a:p>
            <a:pPr marL="228600" indent="-228600" defTabSz="914400">
              <a:lnSpc>
                <a:spcPct val="90000"/>
              </a:lnSpc>
              <a:spcBef>
                <a:spcPts val="1001"/>
              </a:spcBef>
              <a:buClr>
                <a:srgbClr val="272c37"/>
              </a:buClr>
              <a:buFont typeface="Arial"/>
              <a:buChar char="•"/>
            </a:pPr>
            <a:r>
              <a:rPr b="0" lang="en-US" sz="2000" spc="-1" strike="noStrike">
                <a:solidFill>
                  <a:srgbClr val="272c37"/>
                </a:solidFill>
                <a:latin typeface="Roboto"/>
              </a:rPr>
              <a:t>Factor Analysis.(feature selection)</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IN" sz="4400" spc="-1" strike="noStrike">
                <a:solidFill>
                  <a:schemeClr val="dk1"/>
                </a:solidFill>
                <a:latin typeface="Roboto"/>
                <a:ea typeface="Roboto"/>
              </a:rPr>
              <a:t>How do you do a PCA?</a:t>
            </a:r>
            <a:endParaRPr b="0" lang="en-US" sz="4400" spc="-1" strike="noStrike">
              <a:solidFill>
                <a:srgbClr val="000000"/>
              </a:solidFill>
              <a:latin typeface="Arial"/>
            </a:endParaRPr>
          </a:p>
        </p:txBody>
      </p:sp>
      <p:sp>
        <p:nvSpPr>
          <p:cNvPr id="69" name="PlaceHolder 2"/>
          <p:cNvSpPr>
            <a:spLocks noGrp="1"/>
          </p:cNvSpPr>
          <p:nvPr>
            <p:ph/>
          </p:nvPr>
        </p:nvSpPr>
        <p:spPr>
          <a:xfrm>
            <a:off x="838080" y="1411560"/>
            <a:ext cx="10514520" cy="297648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3a3b41"/>
              </a:buClr>
              <a:buFont typeface="Calibri Light"/>
              <a:buAutoNum type="arabicPeriod"/>
            </a:pPr>
            <a:r>
              <a:rPr b="0" lang="en-US" sz="2400" spc="-1" strike="noStrike">
                <a:solidFill>
                  <a:srgbClr val="3a3b41"/>
                </a:solidFill>
                <a:latin typeface="Roboto"/>
                <a:ea typeface="Roboto"/>
              </a:rPr>
              <a:t>Standardize the range of continuous initial variables</a:t>
            </a:r>
            <a:endParaRPr b="0" lang="en-US" sz="2400" spc="-1" strike="noStrike">
              <a:solidFill>
                <a:srgbClr val="000000"/>
              </a:solidFill>
              <a:latin typeface="Arial"/>
            </a:endParaRPr>
          </a:p>
          <a:p>
            <a:pPr marL="228600" indent="-228600" defTabSz="914400">
              <a:lnSpc>
                <a:spcPct val="90000"/>
              </a:lnSpc>
              <a:spcBef>
                <a:spcPts val="1001"/>
              </a:spcBef>
              <a:buClr>
                <a:srgbClr val="3a3b41"/>
              </a:buClr>
              <a:buFont typeface="Calibri Light"/>
              <a:buAutoNum type="arabicPeriod"/>
            </a:pPr>
            <a:r>
              <a:rPr b="0" lang="en-US" sz="2400" spc="-1" strike="noStrike">
                <a:solidFill>
                  <a:srgbClr val="3a3b41"/>
                </a:solidFill>
                <a:latin typeface="Roboto"/>
                <a:ea typeface="Roboto"/>
              </a:rPr>
              <a:t>Compute the covariance matrix to identify correlations</a:t>
            </a:r>
            <a:endParaRPr b="0" lang="en-US" sz="2400" spc="-1" strike="noStrike">
              <a:solidFill>
                <a:srgbClr val="000000"/>
              </a:solidFill>
              <a:latin typeface="Arial"/>
            </a:endParaRPr>
          </a:p>
          <a:p>
            <a:pPr marL="228600" indent="-228600" defTabSz="914400">
              <a:lnSpc>
                <a:spcPct val="90000"/>
              </a:lnSpc>
              <a:spcBef>
                <a:spcPts val="1001"/>
              </a:spcBef>
              <a:buClr>
                <a:srgbClr val="3a3b41"/>
              </a:buClr>
              <a:buFont typeface="Calibri Light"/>
              <a:buAutoNum type="arabicPeriod"/>
            </a:pPr>
            <a:r>
              <a:rPr b="0" lang="en-US" sz="2400" spc="-1" strike="noStrike">
                <a:solidFill>
                  <a:srgbClr val="3a3b41"/>
                </a:solidFill>
                <a:latin typeface="Roboto"/>
                <a:ea typeface="Roboto"/>
              </a:rPr>
              <a:t>Compute the eigenvectors and eigenvalues of the covariance matrix to identify the principal components</a:t>
            </a:r>
            <a:endParaRPr b="0" lang="en-US" sz="2400" spc="-1" strike="noStrike">
              <a:solidFill>
                <a:srgbClr val="000000"/>
              </a:solidFill>
              <a:latin typeface="Arial"/>
            </a:endParaRPr>
          </a:p>
          <a:p>
            <a:pPr marL="228600" indent="-228600" defTabSz="914400">
              <a:lnSpc>
                <a:spcPct val="90000"/>
              </a:lnSpc>
              <a:spcBef>
                <a:spcPts val="1001"/>
              </a:spcBef>
              <a:buClr>
                <a:srgbClr val="3a3b41"/>
              </a:buClr>
              <a:buFont typeface="Calibri Light"/>
              <a:buAutoNum type="arabicPeriod"/>
            </a:pPr>
            <a:r>
              <a:rPr b="0" lang="en-US" sz="2400" spc="-1" strike="noStrike">
                <a:solidFill>
                  <a:srgbClr val="3a3b41"/>
                </a:solidFill>
                <a:latin typeface="Roboto"/>
                <a:ea typeface="Roboto"/>
              </a:rPr>
              <a:t>Create a feature vector to decide which principal components to keep</a:t>
            </a:r>
            <a:endParaRPr b="0" lang="en-US" sz="2400" spc="-1" strike="noStrike">
              <a:solidFill>
                <a:srgbClr val="000000"/>
              </a:solidFill>
              <a:latin typeface="Arial"/>
            </a:endParaRPr>
          </a:p>
          <a:p>
            <a:pPr marL="228600" indent="-228600" defTabSz="914400">
              <a:lnSpc>
                <a:spcPct val="90000"/>
              </a:lnSpc>
              <a:spcBef>
                <a:spcPts val="1001"/>
              </a:spcBef>
              <a:buClr>
                <a:srgbClr val="3a3b41"/>
              </a:buClr>
              <a:buFont typeface="Calibri Light"/>
              <a:buAutoNum type="arabicPeriod"/>
            </a:pPr>
            <a:r>
              <a:rPr b="0" lang="en-US" sz="2400" spc="-1" strike="noStrike">
                <a:solidFill>
                  <a:srgbClr val="3a3b41"/>
                </a:solidFill>
                <a:latin typeface="Roboto"/>
                <a:ea typeface="Roboto"/>
              </a:rPr>
              <a:t>Recast the data along the principal components axes</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p:nvPr>
        </p:nvSpPr>
        <p:spPr>
          <a:xfrm>
            <a:off x="838080" y="228600"/>
            <a:ext cx="10514520" cy="6400080"/>
          </a:xfrm>
          <a:prstGeom prst="rect">
            <a:avLst/>
          </a:prstGeom>
          <a:noFill/>
          <a:ln w="0">
            <a:noFill/>
          </a:ln>
        </p:spPr>
        <p:txBody>
          <a:bodyPr lIns="91440" rIns="91440" tIns="45720" bIns="45720" anchor="t">
            <a:noAutofit/>
          </a:bodyPr>
          <a:p>
            <a:pPr marL="228600" indent="-228600" defTabSz="914400">
              <a:lnSpc>
                <a:spcPct val="90000"/>
              </a:lnSpc>
              <a:spcBef>
                <a:spcPts val="1191"/>
              </a:spcBef>
              <a:spcAft>
                <a:spcPts val="992"/>
              </a:spcAft>
              <a:buClr>
                <a:srgbClr val="303030"/>
              </a:buClr>
              <a:buFont typeface="Arial"/>
              <a:buChar char="•"/>
            </a:pPr>
            <a:r>
              <a:rPr b="1" lang="en-US" sz="3200" spc="-1" strike="noStrike" u="sng">
                <a:solidFill>
                  <a:srgbClr val="303030"/>
                </a:solidFill>
                <a:uFillTx/>
                <a:latin typeface="arial"/>
              </a:rPr>
              <a:t>General PCA rule</a:t>
            </a:r>
            <a:endParaRPr b="0" lang="en-US" sz="3200" spc="-1" strike="noStrike">
              <a:solidFill>
                <a:srgbClr val="000000"/>
              </a:solidFill>
              <a:latin typeface="Arial"/>
            </a:endParaRPr>
          </a:p>
          <a:p>
            <a:pPr marL="228600" indent="-228600" defTabSz="914400">
              <a:lnSpc>
                <a:spcPct val="90000"/>
              </a:lnSpc>
              <a:spcBef>
                <a:spcPts val="1191"/>
              </a:spcBef>
              <a:spcAft>
                <a:spcPts val="992"/>
              </a:spcAft>
              <a:buClr>
                <a:srgbClr val="303030"/>
              </a:buClr>
              <a:buFont typeface="Arial"/>
              <a:buChar char="•"/>
            </a:pPr>
            <a:r>
              <a:rPr b="0" lang="en-US" sz="1600" spc="-1" strike="noStrike">
                <a:solidFill>
                  <a:srgbClr val="303030"/>
                </a:solidFill>
                <a:latin typeface="arial"/>
              </a:rPr>
              <a:t>Compute covariance matrix</a:t>
            </a:r>
            <a:endParaRPr b="0" lang="en-US" sz="1600" spc="-1" strike="noStrike">
              <a:solidFill>
                <a:srgbClr val="000000"/>
              </a:solidFill>
              <a:latin typeface="Arial"/>
            </a:endParaRPr>
          </a:p>
          <a:p>
            <a:pPr marL="228600" indent="-228600" defTabSz="914400">
              <a:lnSpc>
                <a:spcPct val="90000"/>
              </a:lnSpc>
              <a:spcBef>
                <a:spcPts val="1191"/>
              </a:spcBef>
              <a:spcAft>
                <a:spcPts val="992"/>
              </a:spcAft>
              <a:buClr>
                <a:srgbClr val="303030"/>
              </a:buClr>
              <a:buFont typeface="Arial"/>
              <a:buChar char="•"/>
            </a:pPr>
            <a:r>
              <a:rPr b="0" lang="en-US" sz="1600" spc="-1" strike="noStrike">
                <a:solidFill>
                  <a:srgbClr val="303030"/>
                </a:solidFill>
                <a:latin typeface="arial"/>
              </a:rPr>
              <a:t>Find eigenvalues and eigenvectors</a:t>
            </a:r>
            <a:endParaRPr b="0" lang="en-US" sz="1600" spc="-1" strike="noStrike">
              <a:solidFill>
                <a:srgbClr val="000000"/>
              </a:solidFill>
              <a:latin typeface="Arial"/>
            </a:endParaRPr>
          </a:p>
          <a:p>
            <a:pPr marL="228600" indent="-228600" defTabSz="914400">
              <a:lnSpc>
                <a:spcPct val="90000"/>
              </a:lnSpc>
              <a:spcBef>
                <a:spcPts val="1191"/>
              </a:spcBef>
              <a:spcAft>
                <a:spcPts val="992"/>
              </a:spcAft>
              <a:buClr>
                <a:srgbClr val="303030"/>
              </a:buClr>
              <a:buFont typeface="Arial"/>
              <a:buChar char="•"/>
            </a:pPr>
            <a:r>
              <a:rPr b="0" lang="en-US" sz="1600" spc="-1" strike="noStrike">
                <a:solidFill>
                  <a:srgbClr val="303030"/>
                </a:solidFill>
                <a:latin typeface="arial"/>
              </a:rPr>
              <a:t>Sort eigenvalues (largest → smallest)</a:t>
            </a:r>
            <a:endParaRPr b="0" lang="en-US" sz="1600" spc="-1" strike="noStrike">
              <a:solidFill>
                <a:srgbClr val="000000"/>
              </a:solidFill>
              <a:latin typeface="Arial"/>
            </a:endParaRPr>
          </a:p>
          <a:p>
            <a:pPr marL="228600" indent="-228600" defTabSz="914400">
              <a:lnSpc>
                <a:spcPct val="90000"/>
              </a:lnSpc>
              <a:spcBef>
                <a:spcPts val="1191"/>
              </a:spcBef>
              <a:spcAft>
                <a:spcPts val="992"/>
              </a:spcAft>
              <a:buClr>
                <a:srgbClr val="303030"/>
              </a:buClr>
              <a:buFont typeface="Arial"/>
              <a:buChar char="•"/>
            </a:pPr>
            <a:r>
              <a:rPr b="0" lang="en-US" sz="1600" spc="-1" strike="noStrike">
                <a:solidFill>
                  <a:srgbClr val="303030"/>
                </a:solidFill>
                <a:latin typeface="arial"/>
              </a:rPr>
              <a:t>Choose eigenvectors corresponding to the largest eigenvalues</a:t>
            </a:r>
            <a:endParaRPr b="0" lang="en-US" sz="1600" spc="-1" strike="noStrike">
              <a:solidFill>
                <a:srgbClr val="000000"/>
              </a:solidFill>
              <a:latin typeface="Arial"/>
            </a:endParaRPr>
          </a:p>
          <a:p>
            <a:pPr marL="228600" indent="0" defTabSz="914400">
              <a:lnSpc>
                <a:spcPct val="90000"/>
              </a:lnSpc>
              <a:spcBef>
                <a:spcPts val="1191"/>
              </a:spcBef>
              <a:spcAft>
                <a:spcPts val="992"/>
              </a:spcAft>
              <a:buNone/>
              <a:tabLst>
                <a:tab algn="l" pos="0"/>
              </a:tabLst>
            </a:pPr>
            <a:endParaRPr b="0" lang="en-US" sz="1000" spc="-1" strike="noStrike">
              <a:solidFill>
                <a:srgbClr val="000000"/>
              </a:solidFill>
              <a:latin typeface="Arial"/>
            </a:endParaRPr>
          </a:p>
          <a:p>
            <a:pPr marL="228600" indent="-228600" defTabSz="914400">
              <a:lnSpc>
                <a:spcPct val="90000"/>
              </a:lnSpc>
              <a:spcBef>
                <a:spcPts val="1191"/>
              </a:spcBef>
              <a:spcAft>
                <a:spcPts val="992"/>
              </a:spcAft>
              <a:buClr>
                <a:srgbClr val="303030"/>
              </a:buClr>
              <a:buFont typeface="Arial"/>
              <a:buChar char="•"/>
              <a:tabLst>
                <a:tab algn="l" pos="0"/>
              </a:tabLst>
            </a:pPr>
            <a:r>
              <a:rPr b="1" lang="en-US" sz="1300" spc="-1" strike="noStrike">
                <a:solidFill>
                  <a:srgbClr val="303030"/>
                </a:solidFill>
                <a:latin typeface="arial"/>
              </a:rPr>
              <a:t>We choose the eigenvector with the largest eigenvalue because it captures the maximum variance (information) in the data.</a:t>
            </a:r>
            <a:endParaRPr b="0" lang="en-US" sz="1300" spc="-1" strike="noStrike">
              <a:solidFill>
                <a:srgbClr val="000000"/>
              </a:solidFill>
              <a:latin typeface="Arial"/>
            </a:endParaRPr>
          </a:p>
          <a:p>
            <a:pPr marL="228600" indent="0" defTabSz="914400">
              <a:lnSpc>
                <a:spcPct val="90000"/>
              </a:lnSpc>
              <a:spcBef>
                <a:spcPts val="1191"/>
              </a:spcBef>
              <a:spcAft>
                <a:spcPts val="992"/>
              </a:spcAft>
              <a:buNone/>
              <a:tabLst>
                <a:tab algn="l" pos="0"/>
              </a:tabLst>
            </a:pPr>
            <a:endParaRPr b="0" lang="en-US" sz="2800" spc="-1" strike="noStrike">
              <a:solidFill>
                <a:srgbClr val="000000"/>
              </a:solidFill>
              <a:latin typeface="Arial"/>
            </a:endParaRPr>
          </a:p>
          <a:p>
            <a:pPr marL="228600" indent="-228600" defTabSz="914400">
              <a:lnSpc>
                <a:spcPct val="90000"/>
              </a:lnSpc>
              <a:spcBef>
                <a:spcPts val="1191"/>
              </a:spcBef>
              <a:spcAft>
                <a:spcPts val="992"/>
              </a:spcAft>
              <a:buClr>
                <a:srgbClr val="303030"/>
              </a:buClr>
              <a:buFont typeface="Arial"/>
              <a:buChar char="•"/>
              <a:tabLst>
                <a:tab algn="l" pos="0"/>
              </a:tabLst>
            </a:pPr>
            <a:r>
              <a:rPr b="0" lang="en-US" sz="2800" spc="-1" strike="noStrike">
                <a:solidFill>
                  <a:srgbClr val="303030"/>
                </a:solidFill>
                <a:latin typeface="arial"/>
              </a:rPr>
              <a:t>In PCA:</a:t>
            </a:r>
            <a:endParaRPr b="0" lang="en-US" sz="2800" spc="-1" strike="noStrike">
              <a:solidFill>
                <a:srgbClr val="000000"/>
              </a:solidFill>
              <a:latin typeface="Arial"/>
            </a:endParaRPr>
          </a:p>
          <a:p>
            <a:pPr marL="228600" indent="-228600" defTabSz="914400">
              <a:lnSpc>
                <a:spcPct val="90000"/>
              </a:lnSpc>
              <a:spcBef>
                <a:spcPts val="1191"/>
              </a:spcBef>
              <a:spcAft>
                <a:spcPts val="992"/>
              </a:spcAft>
              <a:buClr>
                <a:srgbClr val="303030"/>
              </a:buClr>
              <a:buFont typeface="Arial"/>
              <a:buChar char="•"/>
              <a:tabLst>
                <a:tab algn="l" pos="0"/>
              </a:tabLst>
            </a:pPr>
            <a:r>
              <a:rPr b="0" lang="en-US" sz="2800" spc="-1" strike="noStrike">
                <a:solidFill>
                  <a:srgbClr val="303030"/>
                </a:solidFill>
                <a:latin typeface="arial"/>
              </a:rPr>
              <a:t>Eigenvalue (λ) → amount of variance captured in that direction</a:t>
            </a:r>
            <a:endParaRPr b="0" lang="en-US" sz="2800" spc="-1" strike="noStrike">
              <a:solidFill>
                <a:srgbClr val="000000"/>
              </a:solidFill>
              <a:latin typeface="Arial"/>
            </a:endParaRPr>
          </a:p>
          <a:p>
            <a:pPr marL="228600" indent="-228600" defTabSz="914400">
              <a:lnSpc>
                <a:spcPct val="90000"/>
              </a:lnSpc>
              <a:spcBef>
                <a:spcPts val="1191"/>
              </a:spcBef>
              <a:spcAft>
                <a:spcPts val="992"/>
              </a:spcAft>
              <a:buClr>
                <a:srgbClr val="303030"/>
              </a:buClr>
              <a:buFont typeface="Arial"/>
              <a:buChar char="•"/>
              <a:tabLst>
                <a:tab algn="l" pos="0"/>
              </a:tabLst>
            </a:pPr>
            <a:r>
              <a:rPr b="0" lang="en-US" sz="2800" spc="-1" strike="noStrike">
                <a:solidFill>
                  <a:srgbClr val="303030"/>
                </a:solidFill>
                <a:latin typeface="arial"/>
              </a:rPr>
              <a:t>Eigenvector (v) → direction of that variance</a:t>
            </a:r>
            <a:endParaRPr b="0" lang="en-US" sz="2800" spc="-1" strike="noStrike">
              <a:solidFill>
                <a:srgbClr val="000000"/>
              </a:solidFill>
              <a:latin typeface="Arial"/>
            </a:endParaRPr>
          </a:p>
          <a:p>
            <a:pPr marL="228600" indent="0" defTabSz="914400">
              <a:lnSpc>
                <a:spcPct val="90000"/>
              </a:lnSpc>
              <a:spcBef>
                <a:spcPts val="1191"/>
              </a:spcBef>
              <a:spcAft>
                <a:spcPts val="992"/>
              </a:spcAft>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72"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2100" spc="-1" strike="noStrike">
                <a:solidFill>
                  <a:schemeClr val="dk1"/>
                </a:solidFill>
                <a:latin typeface="Calibri"/>
              </a:rPr>
              <a:t>(4,11),(8,4),(13,5),(7,14)</a:t>
            </a:r>
            <a:endParaRPr b="0" lang="en-US" sz="2100" spc="-1" strike="noStrike">
              <a:solidFill>
                <a:srgbClr val="000000"/>
              </a:solidFill>
              <a:latin typeface="Arial"/>
            </a:endParaRPr>
          </a:p>
        </p:txBody>
      </p:sp>
      <p:pic>
        <p:nvPicPr>
          <p:cNvPr id="73" name="" descr=""/>
          <p:cNvPicPr/>
          <p:nvPr/>
        </p:nvPicPr>
        <p:blipFill>
          <a:blip r:embed="rId1"/>
          <a:stretch/>
        </p:blipFill>
        <p:spPr>
          <a:xfrm>
            <a:off x="914400" y="2743200"/>
            <a:ext cx="10561680" cy="24123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75"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76" name="" descr=""/>
          <p:cNvPicPr/>
          <p:nvPr/>
        </p:nvPicPr>
        <p:blipFill>
          <a:blip r:embed="rId1"/>
          <a:stretch/>
        </p:blipFill>
        <p:spPr>
          <a:xfrm>
            <a:off x="965520" y="2057400"/>
            <a:ext cx="8690040" cy="31870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nSpc>
                <a:spcPct val="100000"/>
              </a:lnSpc>
              <a:buNone/>
              <a:tabLst>
                <a:tab algn="l" pos="0"/>
              </a:tabLst>
            </a:pPr>
            <a:r>
              <a:rPr b="0" lang="en-US" sz="1800" spc="-1" strike="noStrike">
                <a:solidFill>
                  <a:schemeClr val="dk1"/>
                </a:solidFill>
                <a:latin typeface="Calibri"/>
              </a:rPr>
              <a:t>Step 2: center the data</a:t>
            </a:r>
            <a:endParaRPr b="0" lang="en-US" sz="1800" spc="-1" strike="noStrike">
              <a:solidFill>
                <a:srgbClr val="000000"/>
              </a:solidFill>
              <a:latin typeface="Arial"/>
            </a:endParaRPr>
          </a:p>
        </p:txBody>
      </p:sp>
      <p:sp>
        <p:nvSpPr>
          <p:cNvPr id="78"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79" name="" descr=""/>
          <p:cNvPicPr/>
          <p:nvPr/>
        </p:nvPicPr>
        <p:blipFill>
          <a:blip r:embed="rId1"/>
          <a:stretch/>
        </p:blipFill>
        <p:spPr>
          <a:xfrm>
            <a:off x="1946160" y="1759320"/>
            <a:ext cx="8304840" cy="43614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nSpc>
                <a:spcPct val="100000"/>
              </a:lnSpc>
              <a:buNone/>
              <a:tabLst>
                <a:tab algn="l" pos="0"/>
              </a:tabLst>
            </a:pPr>
            <a:r>
              <a:rPr b="0" lang="en-US" sz="1800" spc="-1" strike="noStrike">
                <a:solidFill>
                  <a:schemeClr val="dk1"/>
                </a:solidFill>
                <a:latin typeface="Calibri"/>
              </a:rPr>
              <a:t>Step 3:</a:t>
            </a:r>
            <a:endParaRPr b="0" lang="en-US" sz="1800" spc="-1" strike="noStrike">
              <a:solidFill>
                <a:srgbClr val="000000"/>
              </a:solidFill>
              <a:latin typeface="Arial"/>
            </a:endParaRPr>
          </a:p>
        </p:txBody>
      </p:sp>
      <p:sp>
        <p:nvSpPr>
          <p:cNvPr id="81" name="PlaceHolder 2"/>
          <p:cNvSpPr>
            <a:spLocks noGrp="1"/>
          </p:cNvSpPr>
          <p:nvPr>
            <p:ph/>
          </p:nvPr>
        </p:nvSpPr>
        <p:spPr>
          <a:xfrm>
            <a:off x="838080" y="1821240"/>
            <a:ext cx="10514520" cy="43502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82" name="" descr=""/>
          <p:cNvPicPr/>
          <p:nvPr/>
        </p:nvPicPr>
        <p:blipFill>
          <a:blip r:embed="rId1"/>
          <a:stretch/>
        </p:blipFill>
        <p:spPr>
          <a:xfrm>
            <a:off x="2286000" y="0"/>
            <a:ext cx="8000280" cy="1689480"/>
          </a:xfrm>
          <a:prstGeom prst="rect">
            <a:avLst/>
          </a:prstGeom>
          <a:ln w="0">
            <a:noFill/>
          </a:ln>
        </p:spPr>
      </p:pic>
      <p:pic>
        <p:nvPicPr>
          <p:cNvPr id="83" name="" descr=""/>
          <p:cNvPicPr/>
          <p:nvPr/>
        </p:nvPicPr>
        <p:blipFill>
          <a:blip r:embed="rId2"/>
          <a:stretch/>
        </p:blipFill>
        <p:spPr>
          <a:xfrm>
            <a:off x="1828800" y="1561320"/>
            <a:ext cx="8000280" cy="51573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85" name="" descr=""/>
          <p:cNvPicPr/>
          <p:nvPr/>
        </p:nvPicPr>
        <p:blipFill>
          <a:blip r:embed="rId1"/>
          <a:stretch/>
        </p:blipFill>
        <p:spPr>
          <a:xfrm>
            <a:off x="1054080" y="191880"/>
            <a:ext cx="9568440" cy="57510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p:nvPr>
        </p:nvSpPr>
        <p:spPr>
          <a:xfrm>
            <a:off x="838080" y="457200"/>
            <a:ext cx="10514520" cy="571860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87" name="" descr=""/>
          <p:cNvPicPr/>
          <p:nvPr/>
        </p:nvPicPr>
        <p:blipFill>
          <a:blip r:embed="rId1"/>
          <a:stretch/>
        </p:blipFill>
        <p:spPr>
          <a:xfrm>
            <a:off x="1156680" y="685800"/>
            <a:ext cx="9408600" cy="521532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p:nvPr>
        </p:nvSpPr>
        <p:spPr>
          <a:xfrm>
            <a:off x="838080" y="914400"/>
            <a:ext cx="10514520" cy="5261400"/>
          </a:xfrm>
          <a:prstGeom prst="rect">
            <a:avLst/>
          </a:prstGeom>
          <a:noFill/>
          <a:ln w="0">
            <a:noFill/>
          </a:ln>
        </p:spPr>
        <p:txBody>
          <a:bodyPr lIns="0" rIns="0" tIns="0" bIns="0" anchor="t">
            <a:normAutofit/>
          </a:bodyPr>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p:txBody>
      </p:sp>
      <p:pic>
        <p:nvPicPr>
          <p:cNvPr id="89" name="" descr=""/>
          <p:cNvPicPr/>
          <p:nvPr/>
        </p:nvPicPr>
        <p:blipFill>
          <a:blip r:embed="rId1"/>
          <a:stretch/>
        </p:blipFill>
        <p:spPr>
          <a:xfrm>
            <a:off x="209520" y="914400"/>
            <a:ext cx="14420160" cy="433296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p:nvPr>
        </p:nvSpPr>
        <p:spPr>
          <a:xfrm>
            <a:off x="838080" y="685800"/>
            <a:ext cx="10514520" cy="549000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91" name="" descr=""/>
          <p:cNvPicPr/>
          <p:nvPr/>
        </p:nvPicPr>
        <p:blipFill>
          <a:blip r:embed="rId1"/>
          <a:stretch/>
        </p:blipFill>
        <p:spPr>
          <a:xfrm>
            <a:off x="1515240" y="228600"/>
            <a:ext cx="8802360" cy="613944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p:nvPr>
        </p:nvSpPr>
        <p:spPr>
          <a:xfrm>
            <a:off x="914760" y="1595880"/>
            <a:ext cx="10514520" cy="571860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93" name="" descr=""/>
          <p:cNvPicPr/>
          <p:nvPr/>
        </p:nvPicPr>
        <p:blipFill>
          <a:blip r:embed="rId1"/>
          <a:stretch/>
        </p:blipFill>
        <p:spPr>
          <a:xfrm>
            <a:off x="7749000" y="2541960"/>
            <a:ext cx="3342240" cy="494280"/>
          </a:xfrm>
          <a:prstGeom prst="rect">
            <a:avLst/>
          </a:prstGeom>
          <a:ln w="0">
            <a:noFill/>
          </a:ln>
        </p:spPr>
      </p:pic>
      <p:pic>
        <p:nvPicPr>
          <p:cNvPr id="94" name="" descr=""/>
          <p:cNvPicPr/>
          <p:nvPr/>
        </p:nvPicPr>
        <p:blipFill>
          <a:blip r:embed="rId2"/>
          <a:stretch/>
        </p:blipFill>
        <p:spPr>
          <a:xfrm>
            <a:off x="1257480" y="457200"/>
            <a:ext cx="7428600" cy="59709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96"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97" name="" descr=""/>
          <p:cNvPicPr/>
          <p:nvPr/>
        </p:nvPicPr>
        <p:blipFill>
          <a:blip r:embed="rId1"/>
          <a:stretch/>
        </p:blipFill>
        <p:spPr>
          <a:xfrm>
            <a:off x="1371600" y="2057400"/>
            <a:ext cx="6323400" cy="358020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p:nvPr>
        </p:nvSpPr>
        <p:spPr>
          <a:xfrm>
            <a:off x="838080" y="457200"/>
            <a:ext cx="10514520" cy="5718600"/>
          </a:xfrm>
          <a:prstGeom prst="rect">
            <a:avLst/>
          </a:prstGeom>
          <a:noFill/>
          <a:ln w="0">
            <a:noFill/>
          </a:ln>
        </p:spPr>
        <p:txBody>
          <a:bodyPr lIns="0" rIns="0" tIns="0" bIns="0" anchor="t">
            <a:normAutofit/>
          </a:bodyPr>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432000" indent="-324000">
              <a:lnSpc>
                <a:spcPct val="90000"/>
              </a:lnSpc>
              <a:spcBef>
                <a:spcPts val="1417"/>
              </a:spcBef>
              <a:buClr>
                <a:srgbClr val="000000"/>
              </a:buClr>
              <a:buSzPct val="45000"/>
              <a:buFont typeface="Wingdings" charset="2"/>
              <a:buChar char=""/>
              <a:tabLst>
                <a:tab algn="l" pos="0"/>
              </a:tabLst>
            </a:pPr>
            <a:r>
              <a:rPr b="0" lang="en-US" sz="1800" spc="-1" strike="noStrike">
                <a:solidFill>
                  <a:schemeClr val="dk1"/>
                </a:solidFill>
                <a:latin typeface="Calibri"/>
              </a:rPr>
              <a:t>PC1  =   [−0.557,  0.830]</a:t>
            </a:r>
            <a:endParaRPr b="0" lang="en-US" sz="1800" spc="-1" strike="noStrike">
              <a:solidFill>
                <a:srgbClr val="000000"/>
              </a:solidFill>
              <a:latin typeface="Arial"/>
            </a:endParaRPr>
          </a:p>
          <a:p>
            <a:pPr marL="432000" indent="0">
              <a:lnSpc>
                <a:spcPct val="90000"/>
              </a:lnSpc>
              <a:spcBef>
                <a:spcPts val="1417"/>
              </a:spcBef>
              <a:buNone/>
              <a:tabLst>
                <a:tab algn="l" pos="0"/>
              </a:tabLst>
            </a:pPr>
            <a:endParaRPr b="0" lang="en-US" sz="1800" spc="-1" strike="noStrike">
              <a:solidFill>
                <a:srgbClr val="000000"/>
              </a:solidFill>
              <a:latin typeface="Arial"/>
            </a:endParaRPr>
          </a:p>
        </p:txBody>
      </p:sp>
      <p:pic>
        <p:nvPicPr>
          <p:cNvPr id="99" name="" descr=""/>
          <p:cNvPicPr/>
          <p:nvPr/>
        </p:nvPicPr>
        <p:blipFill>
          <a:blip r:embed="rId1"/>
          <a:stretch/>
        </p:blipFill>
        <p:spPr>
          <a:xfrm>
            <a:off x="2514600" y="685800"/>
            <a:ext cx="6323400" cy="358020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p:nvPr>
        </p:nvSpPr>
        <p:spPr>
          <a:xfrm>
            <a:off x="838080" y="0"/>
            <a:ext cx="10514520" cy="617580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01" name="" descr=""/>
          <p:cNvPicPr/>
          <p:nvPr/>
        </p:nvPicPr>
        <p:blipFill>
          <a:blip r:embed="rId1"/>
          <a:stretch/>
        </p:blipFill>
        <p:spPr>
          <a:xfrm>
            <a:off x="2743200" y="76320"/>
            <a:ext cx="6400440" cy="609552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p:nvPr>
        </p:nvSpPr>
        <p:spPr>
          <a:xfrm>
            <a:off x="914760" y="685800"/>
            <a:ext cx="10514520" cy="5485680"/>
          </a:xfrm>
          <a:prstGeom prst="rect">
            <a:avLst/>
          </a:prstGeom>
          <a:noFill/>
          <a:ln w="0">
            <a:noFill/>
          </a:ln>
        </p:spPr>
        <p:txBody>
          <a:bodyPr lIns="0" rIns="0" tIns="0" bIns="0" anchor="t">
            <a:normAutofit/>
          </a:bodyPr>
          <a:p>
            <a:pPr marL="432000" indent="-324000">
              <a:lnSpc>
                <a:spcPct val="90000"/>
              </a:lnSpc>
              <a:spcBef>
                <a:spcPts val="1191"/>
              </a:spcBef>
              <a:spcAft>
                <a:spcPts val="992"/>
              </a:spcAft>
              <a:buClr>
                <a:srgbClr val="000000"/>
              </a:buClr>
              <a:buSzPct val="45000"/>
              <a:buFont typeface="Wingdings" charset="2"/>
              <a:buChar char=""/>
            </a:pPr>
            <a:r>
              <a:rPr b="1" lang="en-US" sz="1800" spc="-1" strike="noStrike">
                <a:solidFill>
                  <a:schemeClr val="dk1"/>
                </a:solidFill>
                <a:latin typeface="Calibri"/>
              </a:rPr>
              <a:t>Advantages</a:t>
            </a:r>
            <a:endParaRPr b="0" lang="en-US" sz="18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b="0" lang="en-US" sz="1500" spc="-1" strike="noStrike">
                <a:solidFill>
                  <a:schemeClr val="dk1"/>
                </a:solidFill>
                <a:latin typeface="Calibri"/>
              </a:rPr>
              <a:t>Reduces dimensionality</a:t>
            </a:r>
            <a:endParaRPr b="0" lang="en-US" sz="15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b="0" lang="en-US" sz="1500" spc="-1" strike="noStrike">
                <a:solidFill>
                  <a:schemeClr val="dk1"/>
                </a:solidFill>
                <a:latin typeface="Calibri"/>
              </a:rPr>
              <a:t>Removes multicollinearity</a:t>
            </a:r>
            <a:endParaRPr b="0" lang="en-US" sz="15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b="0" lang="en-US" sz="1500" spc="-1" strike="noStrike">
                <a:solidFill>
                  <a:schemeClr val="dk1"/>
                </a:solidFill>
                <a:latin typeface="Calibri"/>
              </a:rPr>
              <a:t>Faster training</a:t>
            </a:r>
            <a:endParaRPr b="0" lang="en-US" sz="15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b="0" lang="en-US" sz="1500" spc="-1" strike="noStrike">
                <a:solidFill>
                  <a:schemeClr val="dk1"/>
                </a:solidFill>
                <a:latin typeface="Calibri"/>
              </a:rPr>
              <a:t>Useful for visualization</a:t>
            </a:r>
            <a:endParaRPr b="0" lang="en-US" sz="1500" spc="-1" strike="noStrike">
              <a:solidFill>
                <a:srgbClr val="000000"/>
              </a:solidFill>
              <a:latin typeface="Arial"/>
            </a:endParaRPr>
          </a:p>
          <a:p>
            <a:pPr marL="432000" indent="0">
              <a:lnSpc>
                <a:spcPct val="90000"/>
              </a:lnSpc>
              <a:spcBef>
                <a:spcPts val="1191"/>
              </a:spcBef>
              <a:spcAft>
                <a:spcPts val="992"/>
              </a:spcAft>
              <a:buNone/>
              <a:tabLst>
                <a:tab algn="l" pos="0"/>
              </a:tabLst>
            </a:pPr>
            <a:endParaRPr b="0" lang="en-US" sz="10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1" lang="en-US" sz="1600" spc="-1" strike="noStrike">
                <a:solidFill>
                  <a:schemeClr val="dk1"/>
                </a:solidFill>
                <a:latin typeface="Calibri"/>
              </a:rPr>
              <a:t>Limitations</a:t>
            </a:r>
            <a:endParaRPr b="0" lang="en-US" sz="16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500" spc="-1" strike="noStrike">
                <a:solidFill>
                  <a:schemeClr val="dk1"/>
                </a:solidFill>
                <a:latin typeface="Calibri"/>
              </a:rPr>
              <a:t>Only linear relationships</a:t>
            </a:r>
            <a:endParaRPr b="0" lang="en-US" sz="15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500" spc="-1" strike="noStrike">
                <a:solidFill>
                  <a:schemeClr val="dk1"/>
                </a:solidFill>
                <a:latin typeface="Calibri"/>
              </a:rPr>
              <a:t> </a:t>
            </a:r>
            <a:r>
              <a:rPr b="0" lang="en-US" sz="1500" spc="-1" strike="noStrike">
                <a:solidFill>
                  <a:schemeClr val="dk1"/>
                </a:solidFill>
                <a:latin typeface="Calibri"/>
              </a:rPr>
              <a:t>Hard to interpret new components</a:t>
            </a:r>
            <a:endParaRPr b="0" lang="en-US" sz="15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500" spc="-1" strike="noStrike">
                <a:solidFill>
                  <a:schemeClr val="dk1"/>
                </a:solidFill>
                <a:latin typeface="Calibri"/>
              </a:rPr>
              <a:t>Sensitive to scaling</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0"/>
            <a:ext cx="10514520" cy="1324440"/>
          </a:xfrm>
          <a:prstGeom prst="rect">
            <a:avLst/>
          </a:prstGeom>
          <a:noFill/>
          <a:ln w="0">
            <a:noFill/>
          </a:ln>
        </p:spPr>
        <p:txBody>
          <a:bodyPr lIns="0" rIns="0" tIns="0" bIns="0" anchor="ctr">
            <a:noAutofit/>
          </a:bodyPr>
          <a:p>
            <a:pPr indent="0">
              <a:lnSpc>
                <a:spcPct val="100000"/>
              </a:lnSpc>
              <a:buNone/>
              <a:tabLst>
                <a:tab algn="l" pos="0"/>
              </a:tabLst>
            </a:pPr>
            <a:r>
              <a:rPr b="0" lang="en-US" sz="4800" spc="-1" strike="noStrike">
                <a:solidFill>
                  <a:schemeClr val="dk1"/>
                </a:solidFill>
                <a:latin typeface="Calibri"/>
              </a:rPr>
              <a:t>Kernel PCA (KPCA)</a:t>
            </a:r>
            <a:endParaRPr b="0" lang="en-US" sz="4800" spc="-1" strike="noStrike">
              <a:solidFill>
                <a:srgbClr val="000000"/>
              </a:solidFill>
              <a:latin typeface="Arial"/>
            </a:endParaRPr>
          </a:p>
        </p:txBody>
      </p:sp>
      <p:sp>
        <p:nvSpPr>
          <p:cNvPr id="104" name="PlaceHolder 2"/>
          <p:cNvSpPr>
            <a:spLocks noGrp="1"/>
          </p:cNvSpPr>
          <p:nvPr>
            <p:ph/>
          </p:nvPr>
        </p:nvSpPr>
        <p:spPr>
          <a:xfrm>
            <a:off x="457200" y="1371600"/>
            <a:ext cx="10514520" cy="4350240"/>
          </a:xfrm>
          <a:prstGeom prst="rect">
            <a:avLst/>
          </a:prstGeom>
          <a:noFill/>
          <a:ln w="0">
            <a:noFill/>
          </a:ln>
        </p:spPr>
        <p:txBody>
          <a:bodyPr lIns="0" rIns="0" tIns="0" bIns="0" anchor="t">
            <a:normAutofit fontScale="85555"/>
          </a:bodyPr>
          <a:p>
            <a:pPr marL="432000" indent="-324000">
              <a:lnSpc>
                <a:spcPct val="90000"/>
              </a:lnSpc>
              <a:spcBef>
                <a:spcPts val="1191"/>
              </a:spcBef>
              <a:spcAft>
                <a:spcPts val="992"/>
              </a:spcAft>
              <a:buClr>
                <a:srgbClr val="000000"/>
              </a:buClr>
              <a:buSzPct val="45000"/>
              <a:buFont typeface="Wingdings" charset="2"/>
              <a:buChar char=""/>
            </a:pPr>
            <a:r>
              <a:rPr b="0" lang="en-US" sz="1600" spc="-1" strike="noStrike">
                <a:solidFill>
                  <a:schemeClr val="dk1"/>
                </a:solidFill>
                <a:latin typeface="Calibri"/>
              </a:rPr>
              <a:t>PCA is a linear method. That is it can only be applied to datasets which are linearly separable. But, if we use it to non-linear datasets, we might get a result which may not be the optimal dimensionality reduction.</a:t>
            </a:r>
            <a:endParaRPr b="0" lang="en-US" sz="16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b="0" lang="en-US" sz="1600" spc="-1" strike="noStrike">
                <a:solidFill>
                  <a:schemeClr val="dk1"/>
                </a:solidFill>
                <a:latin typeface="Calibri"/>
              </a:rPr>
              <a:t> </a:t>
            </a:r>
            <a:r>
              <a:rPr b="0" lang="en-US" sz="1600" spc="-1" strike="noStrike">
                <a:solidFill>
                  <a:schemeClr val="dk1"/>
                </a:solidFill>
                <a:latin typeface="Calibri"/>
              </a:rPr>
              <a:t>Kernel PCA uses a kernel function to project dataset into a higher dimensional feature space, where it is linearly separable. It is similar to the idea of Support Vector Machines. There are various kernel methods like linear, polynomial, and gaussian. </a:t>
            </a:r>
            <a:endParaRPr b="0" lang="en-US" sz="16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b="0" lang="en-US" sz="1600" spc="-1" strike="noStrike">
                <a:solidFill>
                  <a:schemeClr val="dk1"/>
                </a:solidFill>
                <a:latin typeface="Calibri"/>
              </a:rPr>
              <a:t>Kernel Principal Component Analysis (KPCA) is a technique used in machine learning for nonlinear dimensionality reduction. </a:t>
            </a:r>
            <a:endParaRPr b="0" lang="en-US" sz="16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b="0" lang="en-US" sz="1600" spc="-1" strike="noStrike">
                <a:solidFill>
                  <a:schemeClr val="dk1"/>
                </a:solidFill>
                <a:latin typeface="Calibri"/>
              </a:rPr>
              <a:t>It is an extension of the classical Principal Component Analysis (PCA) algorithm, which is a linear method that identifies the most significant features or components of a dataset. KPCA applies a nonlinear mapping function to the data before applying PCA, allowing it to capture more complex and nonlinear relationships between the data points.</a:t>
            </a:r>
            <a:endParaRPr b="0" lang="en-US" sz="16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b="0" lang="en-US" sz="1800" spc="-1" strike="noStrike">
                <a:solidFill>
                  <a:schemeClr val="dk1"/>
                </a:solidFill>
                <a:latin typeface="Calibri"/>
              </a:rPr>
              <a:t>In KPCA, a kernel function is used to map the input data to a high-dimensional feature space, where the nonlinear relationships between the data points can be more easily captured by linear methods such as PCA. </a:t>
            </a:r>
            <a:endParaRPr b="0" lang="en-US" sz="18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b="0" lang="en-US" sz="1800" spc="-1" strike="noStrike">
                <a:solidFill>
                  <a:schemeClr val="dk1"/>
                </a:solidFill>
                <a:latin typeface="Calibri"/>
              </a:rPr>
              <a:t>The principal components of the transformed data are then computed, which can be used for tasks such as data visualization, clustering, or classification.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nSpc>
                <a:spcPct val="100000"/>
              </a:lnSpc>
              <a:buNone/>
              <a:tabLst>
                <a:tab algn="l" pos="0"/>
              </a:tabLst>
            </a:pPr>
            <a:r>
              <a:rPr b="0" lang="en-US" sz="1800" spc="-1" strike="noStrike">
                <a:solidFill>
                  <a:schemeClr val="dk1"/>
                </a:solidFill>
                <a:latin typeface="Calibri"/>
              </a:rPr>
              <a:t>KPCA</a:t>
            </a:r>
            <a:endParaRPr b="0" lang="en-US" sz="1800" spc="-1" strike="noStrike">
              <a:solidFill>
                <a:srgbClr val="000000"/>
              </a:solidFill>
              <a:latin typeface="Arial"/>
            </a:endParaRPr>
          </a:p>
        </p:txBody>
      </p:sp>
      <p:sp>
        <p:nvSpPr>
          <p:cNvPr id="106"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07" name="" descr=""/>
          <p:cNvPicPr/>
          <p:nvPr/>
        </p:nvPicPr>
        <p:blipFill>
          <a:blip r:embed="rId1"/>
          <a:stretch/>
        </p:blipFill>
        <p:spPr>
          <a:xfrm>
            <a:off x="141480" y="2210040"/>
            <a:ext cx="11914560" cy="442800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4520" cy="132444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09" name="PlaceHolder 2"/>
          <p:cNvSpPr>
            <a:spLocks noGrp="1"/>
          </p:cNvSpPr>
          <p:nvPr>
            <p:ph/>
          </p:nvPr>
        </p:nvSpPr>
        <p:spPr>
          <a:xfrm>
            <a:off x="838080" y="1825560"/>
            <a:ext cx="10514520" cy="4350240"/>
          </a:xfrm>
          <a:prstGeom prst="rect">
            <a:avLst/>
          </a:prstGeom>
          <a:noFill/>
          <a:ln w="0">
            <a:noFill/>
          </a:ln>
        </p:spPr>
        <p:txBody>
          <a:bodyPr lIns="0" rIns="0" tIns="0" bIns="0" anchor="t">
            <a:normAutofit/>
          </a:bodyPr>
          <a:p>
            <a:pPr marL="432000" indent="-324000">
              <a:lnSpc>
                <a:spcPct val="90000"/>
              </a:lnSpc>
              <a:spcBef>
                <a:spcPts val="1191"/>
              </a:spcBef>
              <a:spcAft>
                <a:spcPts val="992"/>
              </a:spcAft>
              <a:buClr>
                <a:srgbClr val="000000"/>
              </a:buClr>
              <a:buSzPct val="45000"/>
              <a:buFont typeface="Wingdings" charset="2"/>
              <a:buChar char=""/>
            </a:pPr>
            <a:r>
              <a:rPr b="1" lang="en-US" sz="2000" spc="-1" strike="noStrike">
                <a:solidFill>
                  <a:schemeClr val="dk1"/>
                </a:solidFill>
                <a:latin typeface="Calibri"/>
              </a:rPr>
              <a:t>Advantages</a:t>
            </a:r>
            <a:endParaRPr b="0" lang="en-US" sz="20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b="0" lang="en-US" sz="1600" spc="-1" strike="noStrike">
                <a:solidFill>
                  <a:schemeClr val="dk1"/>
                </a:solidFill>
                <a:latin typeface="Calibri"/>
              </a:rPr>
              <a:t>It can handle nonlinear relationships between the input features, which can be useful for tasks such as image or speech recognition.</a:t>
            </a:r>
            <a:endParaRPr b="0" lang="en-US" sz="16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pPr>
            <a:r>
              <a:rPr b="0" lang="en-US" sz="1600" spc="-1" strike="noStrike">
                <a:solidFill>
                  <a:schemeClr val="dk1"/>
                </a:solidFill>
                <a:latin typeface="Calibri"/>
              </a:rPr>
              <a:t> </a:t>
            </a:r>
            <a:r>
              <a:rPr b="0" lang="en-US" sz="1600" spc="-1" strike="noStrike">
                <a:solidFill>
                  <a:schemeClr val="dk1"/>
                </a:solidFill>
                <a:latin typeface="Calibri"/>
              </a:rPr>
              <a:t>KPCA can also handle high-dimensional datasets with many features by reducing the dimensionality of the data while preserving the most important information.</a:t>
            </a:r>
            <a:endParaRPr b="0" lang="en-US" sz="1600" spc="-1" strike="noStrike">
              <a:solidFill>
                <a:srgbClr val="000000"/>
              </a:solidFill>
              <a:latin typeface="Arial"/>
            </a:endParaRPr>
          </a:p>
          <a:p>
            <a:pPr marL="432000" indent="0">
              <a:lnSpc>
                <a:spcPct val="90000"/>
              </a:lnSpc>
              <a:spcBef>
                <a:spcPts val="1191"/>
              </a:spcBef>
              <a:spcAft>
                <a:spcPts val="992"/>
              </a:spcAft>
              <a:buNone/>
              <a:tabLst>
                <a:tab algn="l" pos="0"/>
              </a:tabLst>
            </a:pPr>
            <a:r>
              <a:rPr b="0" lang="en-US" sz="1000" spc="-1" strike="noStrike">
                <a:solidFill>
                  <a:schemeClr val="dk1"/>
                </a:solidFill>
                <a:latin typeface="Calibri"/>
              </a:rPr>
              <a:t> </a:t>
            </a:r>
            <a:endParaRPr b="0" lang="en-US" sz="10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1" lang="en-US" sz="1800" spc="-1" strike="noStrike">
                <a:solidFill>
                  <a:schemeClr val="dk1"/>
                </a:solidFill>
                <a:latin typeface="Calibri"/>
              </a:rPr>
              <a:t>Limitations</a:t>
            </a:r>
            <a:endParaRPr b="0" lang="en-US" sz="18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600" spc="-1" strike="noStrike">
                <a:solidFill>
                  <a:schemeClr val="dk1"/>
                </a:solidFill>
                <a:latin typeface="Calibri"/>
              </a:rPr>
              <a:t>KPCA has some limitations, such as the need to choose an appropriate kernel function and its corresponding parameters, which can be difficult and time-consuming. </a:t>
            </a:r>
            <a:endParaRPr b="0" lang="en-US" sz="1600" spc="-1" strike="noStrike">
              <a:solidFill>
                <a:srgbClr val="000000"/>
              </a:solidFill>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600" spc="-1" strike="noStrike">
                <a:solidFill>
                  <a:schemeClr val="dk1"/>
                </a:solidFill>
                <a:latin typeface="Calibri"/>
              </a:rPr>
              <a:t>KPCA can also be computationally expensive for large datasets, as it requires the computation of the kernel matrix for all pairs of data points.</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228600" y="0"/>
            <a:ext cx="10514520" cy="1324440"/>
          </a:xfrm>
          <a:prstGeom prst="rect">
            <a:avLst/>
          </a:prstGeom>
          <a:noFill/>
          <a:ln w="0">
            <a:noFill/>
          </a:ln>
        </p:spPr>
        <p:txBody>
          <a:bodyPr lIns="0" rIns="0" tIns="0" bIns="0" anchor="ctr">
            <a:noAutofit/>
          </a:bodyPr>
          <a:p>
            <a:pPr indent="0">
              <a:lnSpc>
                <a:spcPct val="100000"/>
              </a:lnSpc>
              <a:buNone/>
              <a:tabLst>
                <a:tab algn="l" pos="0"/>
              </a:tabLst>
            </a:pPr>
            <a:r>
              <a:rPr b="0" lang="en-US" sz="1800" spc="-1" strike="noStrike">
                <a:solidFill>
                  <a:schemeClr val="dk1"/>
                </a:solidFill>
                <a:latin typeface="Calibri"/>
              </a:rPr>
              <a:t>Metrics for unsupervised learning-clustering</a:t>
            </a:r>
            <a:endParaRPr b="0" lang="en-US" sz="1800" spc="-1" strike="noStrike">
              <a:solidFill>
                <a:srgbClr val="000000"/>
              </a:solidFill>
              <a:latin typeface="Arial"/>
            </a:endParaRPr>
          </a:p>
        </p:txBody>
      </p:sp>
      <p:sp>
        <p:nvSpPr>
          <p:cNvPr id="111" name="PlaceHolder 2"/>
          <p:cNvSpPr>
            <a:spLocks noGrp="1"/>
          </p:cNvSpPr>
          <p:nvPr>
            <p:ph/>
          </p:nvPr>
        </p:nvSpPr>
        <p:spPr>
          <a:xfrm>
            <a:off x="838080" y="1371600"/>
            <a:ext cx="10514520" cy="480420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12" name="" descr=""/>
          <p:cNvPicPr/>
          <p:nvPr/>
        </p:nvPicPr>
        <p:blipFill>
          <a:blip r:embed="rId1"/>
          <a:stretch/>
        </p:blipFill>
        <p:spPr>
          <a:xfrm>
            <a:off x="267120" y="1371600"/>
            <a:ext cx="11390760" cy="516132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p:nvPr>
        </p:nvSpPr>
        <p:spPr>
          <a:xfrm>
            <a:off x="914760" y="1135440"/>
            <a:ext cx="10514520" cy="43502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14" name="" descr=""/>
          <p:cNvPicPr/>
          <p:nvPr/>
        </p:nvPicPr>
        <p:blipFill>
          <a:blip r:embed="rId1"/>
          <a:stretch/>
        </p:blipFill>
        <p:spPr>
          <a:xfrm>
            <a:off x="398520" y="585360"/>
            <a:ext cx="11400480" cy="561852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16" name="" descr=""/>
          <p:cNvPicPr/>
          <p:nvPr/>
        </p:nvPicPr>
        <p:blipFill>
          <a:blip r:embed="rId1"/>
          <a:stretch/>
        </p:blipFill>
        <p:spPr>
          <a:xfrm>
            <a:off x="714600" y="914400"/>
            <a:ext cx="11400480" cy="561852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p:nvPr>
        </p:nvSpPr>
        <p:spPr>
          <a:xfrm>
            <a:off x="838080" y="1825560"/>
            <a:ext cx="10514520" cy="43502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18" name="" descr=""/>
          <p:cNvPicPr/>
          <p:nvPr/>
        </p:nvPicPr>
        <p:blipFill>
          <a:blip r:embed="rId1"/>
          <a:stretch/>
        </p:blipFill>
        <p:spPr>
          <a:xfrm>
            <a:off x="193680" y="489960"/>
            <a:ext cx="11809800" cy="580932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p:nvPr>
        </p:nvSpPr>
        <p:spPr>
          <a:xfrm>
            <a:off x="838080" y="914400"/>
            <a:ext cx="10514520" cy="526140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20" name="" descr=""/>
          <p:cNvPicPr/>
          <p:nvPr/>
        </p:nvPicPr>
        <p:blipFill>
          <a:blip r:embed="rId1"/>
          <a:stretch/>
        </p:blipFill>
        <p:spPr>
          <a:xfrm>
            <a:off x="193680" y="489960"/>
            <a:ext cx="11809800" cy="580932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p:nvPr>
        </p:nvSpPr>
        <p:spPr>
          <a:xfrm>
            <a:off x="914400" y="914400"/>
            <a:ext cx="10514520" cy="52570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22" name="" descr=""/>
          <p:cNvPicPr/>
          <p:nvPr/>
        </p:nvPicPr>
        <p:blipFill>
          <a:blip r:embed="rId1"/>
          <a:stretch/>
        </p:blipFill>
        <p:spPr>
          <a:xfrm>
            <a:off x="6480" y="856800"/>
            <a:ext cx="12191760" cy="52603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dimension reduction</Template>
  <TotalTime>693</TotalTime>
  <Application>LibreOffice/24.2.7.2$Linux_X86_64 LibreOffice_project/420$Build-2</Application>
  <AppVersion>15.0000</AppVersion>
  <Words>528</Words>
  <Paragraphs>57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2022-03-08T01:20:08Z</dcterms:created>
  <dc:creator>Viswanathan Vadivel</dc:creator>
  <dc:description/>
  <dc:language>en-US</dc:language>
  <cp:lastModifiedBy/>
  <dcterms:modified xsi:type="dcterms:W3CDTF">2026-03-12T13:36:18Z</dcterms:modified>
  <cp:revision>38</cp:revision>
  <dc:subject/>
  <dc:title>Dimensionality Reduction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21</vt:i4>
  </property>
</Properties>
</file>