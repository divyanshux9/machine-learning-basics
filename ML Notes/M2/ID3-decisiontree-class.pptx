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12.png" ContentType="image/png"/>
  <Override PartName="/ppt/media/image3.png" ContentType="image/png"/>
  <Override PartName="/ppt/media/image19.png" ContentType="image/png"/>
  <Override PartName="/ppt/media/image1.jpeg" ContentType="image/jpeg"/>
  <Override PartName="/ppt/media/image10.png" ContentType="image/png"/>
  <Override PartName="/ppt/media/image6.png" ContentType="image/png"/>
  <Override PartName="/ppt/media/image15.png" ContentType="image/png"/>
  <Override PartName="/ppt/media/image14.png" ContentType="image/png"/>
  <Override PartName="/ppt/media/image5.png" ContentType="image/png"/>
  <Override PartName="/ppt/media/image16.png" ContentType="image/png"/>
  <Override PartName="/ppt/media/image7.png" ContentType="image/png"/>
  <Override PartName="/ppt/media/image2.png" ContentType="image/png"/>
  <Override PartName="/ppt/media/image11.png" ContentType="image/png"/>
  <Override PartName="/ppt/media/image17.png" ContentType="image/png"/>
  <Override PartName="/ppt/media/image8.png" ContentType="image/png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4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5.xml.rels" ContentType="application/vnd.openxmlformats-package.relationships+xml"/>
  <Override PartName="/ppt/slides/_rels/slide22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27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1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25.xml" ContentType="application/vnd.openxmlformats-officedocument.presentationml.slide+xml"/>
  <Override PartName="/ppt/slides/slide30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3CB2EE4-3D18-4827-A33D-DF803D915799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E0CFED0-9A9E-4A78-8B99-3E30624E8CBF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F759E6-850A-46B7-8A0F-12CF0B3F35FA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90B85D3-8F36-4EDE-94C1-31D9FD8C6ACA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C585B7B-8D20-49B0-B3EC-D1CB3F166B17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457200" y="6245280"/>
            <a:ext cx="21322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Tahoma"/>
              <a:ea typeface="DejaVu Sans"/>
            </a:endParaRPr>
          </a:p>
        </p:txBody>
      </p:sp>
      <p:sp>
        <p:nvSpPr>
          <p:cNvPr id="1" name=""/>
          <p:cNvSpPr/>
          <p:nvPr/>
        </p:nvSpPr>
        <p:spPr>
          <a:xfrm>
            <a:off x="3124080" y="6245280"/>
            <a:ext cx="28944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Tahoma"/>
              <a:ea typeface="DejaVu Sans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to edit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text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>
          <a:xfrm>
            <a:off x="6553080" y="6245280"/>
            <a:ext cx="2129040" cy="47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</a:tabLst>
              <a:defRPr b="0" lang="en-US" sz="1800" spc="-1" strike="noStrike">
                <a:solidFill>
                  <a:srgbClr val="000000"/>
                </a:solidFill>
                <a:latin typeface="Tahoma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</a:tabLst>
            </a:pPr>
            <a:fld id="{31310869-15CB-47A6-86A5-FD37CCD8CD72}" type="slidenum"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&lt;number&gt;</a:t>
            </a:fld>
            <a:endParaRPr b="0" lang="en-US" sz="18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457200" y="6245280"/>
            <a:ext cx="21322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Tahoma"/>
              <a:ea typeface="DejaVu Sans"/>
            </a:endParaRPr>
          </a:p>
        </p:txBody>
      </p:sp>
      <p:sp>
        <p:nvSpPr>
          <p:cNvPr id="8" name=""/>
          <p:cNvSpPr/>
          <p:nvPr/>
        </p:nvSpPr>
        <p:spPr>
          <a:xfrm>
            <a:off x="3124080" y="6245280"/>
            <a:ext cx="28944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Tahoma"/>
              <a:ea typeface="DejaVu Sans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the title text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sldNum" idx="2"/>
          </p:nvPr>
        </p:nvSpPr>
        <p:spPr>
          <a:xfrm>
            <a:off x="6553080" y="6245280"/>
            <a:ext cx="2129040" cy="47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</a:tabLst>
              <a:defRPr b="0" lang="en-US" sz="1800" spc="-1" strike="noStrike">
                <a:solidFill>
                  <a:srgbClr val="000000"/>
                </a:solidFill>
                <a:latin typeface="Tahoma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</a:tabLst>
            </a:pPr>
            <a:fld id="{098611F1-BED6-4365-B916-0A17B61DF503}" type="slidenum"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&lt;number&gt;</a:t>
            </a:fld>
            <a:endParaRPr b="0" lang="en-US" sz="18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>
            <a:off x="457200" y="6245280"/>
            <a:ext cx="21322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Tahoma"/>
              <a:ea typeface="DejaVu Sans"/>
            </a:endParaRPr>
          </a:p>
        </p:txBody>
      </p:sp>
      <p:sp>
        <p:nvSpPr>
          <p:cNvPr id="15" name=""/>
          <p:cNvSpPr/>
          <p:nvPr/>
        </p:nvSpPr>
        <p:spPr>
          <a:xfrm>
            <a:off x="3124080" y="6245280"/>
            <a:ext cx="28944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Tahoma"/>
              <a:ea typeface="DejaVu Sans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sldNum" idx="3"/>
          </p:nvPr>
        </p:nvSpPr>
        <p:spPr>
          <a:xfrm>
            <a:off x="6553080" y="6245280"/>
            <a:ext cx="2129040" cy="47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</a:tabLst>
              <a:defRPr b="0" lang="en-US" sz="1800" spc="-1" strike="noStrike">
                <a:solidFill>
                  <a:srgbClr val="000000"/>
                </a:solidFill>
                <a:latin typeface="Tahoma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</a:tabLst>
            </a:pPr>
            <a:fld id="{3B550A46-D817-4D58-B130-109581752154}" type="slidenum"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&lt;number&gt;</a:t>
            </a:fld>
            <a:endParaRPr b="0" lang="en-US" sz="18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/>
          <p:nvPr/>
        </p:nvSpPr>
        <p:spPr>
          <a:xfrm>
            <a:off x="457200" y="6245280"/>
            <a:ext cx="21322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Tahoma"/>
              <a:ea typeface="DejaVu Sans"/>
            </a:endParaRPr>
          </a:p>
        </p:txBody>
      </p:sp>
      <p:sp>
        <p:nvSpPr>
          <p:cNvPr id="20" name=""/>
          <p:cNvSpPr/>
          <p:nvPr/>
        </p:nvSpPr>
        <p:spPr>
          <a:xfrm>
            <a:off x="3124080" y="6245280"/>
            <a:ext cx="28944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Tahoma"/>
              <a:ea typeface="DejaVu Sans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sldNum" idx="4"/>
          </p:nvPr>
        </p:nvSpPr>
        <p:spPr>
          <a:xfrm>
            <a:off x="6553080" y="6245280"/>
            <a:ext cx="2129040" cy="47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</a:tabLst>
              <a:defRPr b="0" lang="en-US" sz="1800" spc="-1" strike="noStrike">
                <a:solidFill>
                  <a:srgbClr val="000000"/>
                </a:solidFill>
                <a:latin typeface="Tahoma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</a:tabLst>
            </a:pPr>
            <a:fld id="{29C8F11D-CCAC-498F-B61A-769C3C39A5EF}" type="slidenum"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&lt;number&gt;</a:t>
            </a:fld>
            <a:endParaRPr b="0" lang="en-US" sz="18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/>
          <p:nvPr/>
        </p:nvSpPr>
        <p:spPr>
          <a:xfrm>
            <a:off x="457200" y="6245280"/>
            <a:ext cx="21322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Tahoma"/>
              <a:ea typeface="DejaVu Sans"/>
            </a:endParaRPr>
          </a:p>
        </p:txBody>
      </p:sp>
      <p:sp>
        <p:nvSpPr>
          <p:cNvPr id="25" name=""/>
          <p:cNvSpPr/>
          <p:nvPr/>
        </p:nvSpPr>
        <p:spPr>
          <a:xfrm>
            <a:off x="3124080" y="6245280"/>
            <a:ext cx="28944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Tahoma"/>
              <a:ea typeface="DejaVu Sans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sldNum" idx="5"/>
          </p:nvPr>
        </p:nvSpPr>
        <p:spPr>
          <a:xfrm>
            <a:off x="6553080" y="6245280"/>
            <a:ext cx="2129040" cy="47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</a:tabLst>
              <a:defRPr b="0" lang="en-US" sz="1800" spc="-1" strike="noStrike">
                <a:solidFill>
                  <a:srgbClr val="000000"/>
                </a:solidFill>
                <a:latin typeface="Tahoma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</a:tabLst>
            </a:pPr>
            <a:fld id="{BCBCDBC8-CF5E-4493-B5F6-6D27A92F7FDD}" type="slidenum">
              <a:rPr b="0" lang="en-US" sz="1800" spc="-1" strike="noStrike">
                <a:solidFill>
                  <a:srgbClr val="000000"/>
                </a:solidFill>
                <a:latin typeface="Tahoma"/>
                <a:ea typeface="DejaVu Sans"/>
              </a:rPr>
              <a:t>&lt;number&gt;</a:t>
            </a:fld>
            <a:endParaRPr b="0" lang="en-US" sz="18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5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4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cc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"/>
          <p:cNvSpPr/>
          <p:nvPr/>
        </p:nvSpPr>
        <p:spPr>
          <a:xfrm>
            <a:off x="609480" y="1211400"/>
            <a:ext cx="7770960" cy="13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Tahoma"/>
                <a:ea typeface="DejaVu Sans"/>
              </a:rPr>
              <a:t>Decision Tree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Tahoma"/>
                <a:ea typeface="DejaVu Sans"/>
              </a:rPr>
              <a:t>Iterative Dichotomiser 3 (ID3) Algorithm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1447920" y="3352680"/>
            <a:ext cx="6399360" cy="17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Tahoma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cc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"/>
          <p:cNvSpPr/>
          <p:nvPr/>
        </p:nvSpPr>
        <p:spPr>
          <a:xfrm>
            <a:off x="457200" y="372960"/>
            <a:ext cx="822816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4000" spc="-1" strike="noStrike">
                <a:solidFill>
                  <a:srgbClr val="e5ffff"/>
                </a:solidFill>
                <a:latin typeface="Tahoma"/>
                <a:ea typeface="DejaVu Sans"/>
              </a:rPr>
              <a:t>Basics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457200" y="1447920"/>
            <a:ext cx="4037040" cy="464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1280" indent="-341280" algn="just">
              <a:lnSpc>
                <a:spcPct val="9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What is a decision tree?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 algn="just">
              <a:lnSpc>
                <a:spcPct val="9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A tree where each branching (decision) node represents a choice between 2 or more alternatives, with every branching node being part of a path to a leaf node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 algn="just">
              <a:lnSpc>
                <a:spcPct val="9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 algn="just">
              <a:lnSpc>
                <a:spcPct val="9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Decision node: Specifies a test of some attribute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 algn="just">
              <a:lnSpc>
                <a:spcPct val="9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Leaf node: Indicates classification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33" name=""/>
          <p:cNvGrpSpPr/>
          <p:nvPr/>
        </p:nvGrpSpPr>
        <p:grpSpPr>
          <a:xfrm>
            <a:off x="4648320" y="1523880"/>
            <a:ext cx="4338720" cy="4262760"/>
            <a:chOff x="4648320" y="1523880"/>
            <a:chExt cx="4338720" cy="4262760"/>
          </a:xfrm>
        </p:grpSpPr>
        <p:pic>
          <p:nvPicPr>
            <p:cNvPr id="34" name="" descr=""/>
            <p:cNvPicPr/>
            <p:nvPr/>
          </p:nvPicPr>
          <p:blipFill>
            <a:blip r:embed="rId1"/>
            <a:stretch/>
          </p:blipFill>
          <p:spPr>
            <a:xfrm>
              <a:off x="4648320" y="1523880"/>
              <a:ext cx="4338720" cy="42627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5" name=""/>
            <p:cNvSpPr/>
            <p:nvPr/>
          </p:nvSpPr>
          <p:spPr>
            <a:xfrm>
              <a:off x="4648320" y="1523880"/>
              <a:ext cx="4338720" cy="426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Tahoma"/>
                <a:ea typeface="DejaVu Sans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cc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"/>
          <p:cNvSpPr/>
          <p:nvPr/>
        </p:nvSpPr>
        <p:spPr>
          <a:xfrm>
            <a:off x="457200" y="380880"/>
            <a:ext cx="822816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Tahoma"/>
              <a:ea typeface="DejaVu Sans"/>
            </a:endParaRPr>
          </a:p>
        </p:txBody>
      </p:sp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349200"/>
            <a:ext cx="8226720" cy="143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685800" y="1143000"/>
            <a:ext cx="8226720" cy="502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75000" lnSpcReduction="10000"/>
          </a:bodyPr>
          <a:p>
            <a:pPr marL="343080" indent="-343080">
              <a:lnSpc>
                <a:spcPct val="100000"/>
              </a:lnSpc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ahoma"/>
              </a:rPr>
              <a:t>A decision tree is a hierarchical model for supervised learning whereby the local region is identified in a sequence of recursive splits in a smaller number of steps.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ahoma"/>
              </a:rPr>
              <a:t>A decision tree is composed of internal decision nodes and terminal leaves.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ahoma"/>
              </a:rPr>
              <a:t>Given an input, at each node, a test is applied and one of the branches is taken depending on the outcome.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ahoma"/>
              </a:rPr>
              <a:t>This process starts at the root (i.e. root node) and is repeated recursively until a leaf node is hit, at which point the value written in the leaf constitutes the output.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cc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/>
          <p:nvPr/>
        </p:nvSpPr>
        <p:spPr>
          <a:xfrm>
            <a:off x="457200" y="304920"/>
            <a:ext cx="8228160" cy="98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4400" spc="-1" strike="noStrike">
                <a:solidFill>
                  <a:srgbClr val="e5ffff"/>
                </a:solidFill>
                <a:latin typeface="Tahoma"/>
                <a:ea typeface="DejaVu Sans"/>
              </a:rPr>
              <a:t>ID3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457200" y="1447920"/>
            <a:ext cx="8228160" cy="464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1280" indent="-341280">
              <a:lnSpc>
                <a:spcPct val="100000"/>
              </a:lnSpc>
              <a:spcBef>
                <a:spcPts val="814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Invented by J. Ross Quinlan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814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Employs a top-down greedy search through the space of possible decision trees.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814"/>
              </a:spcBef>
              <a:spcAft>
                <a:spcPts val="11"/>
              </a:spcAft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Greedy because there is no backtracking. It picks highest values first.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814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Select attribute that is most useful for classifying examples (attribute that has the highest Information Gain).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cc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/>
          <p:nvPr/>
        </p:nvSpPr>
        <p:spPr>
          <a:xfrm>
            <a:off x="457200" y="349200"/>
            <a:ext cx="8226720" cy="143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4400" spc="-1" strike="noStrike">
                <a:solidFill>
                  <a:srgbClr val="e5ffff"/>
                </a:solidFill>
                <a:latin typeface="Tahoma"/>
                <a:ea typeface="DejaVu Sans"/>
              </a:rPr>
              <a:t>ID3 Algorithm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457200" y="1981080"/>
            <a:ext cx="8226720" cy="41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lnSpc>
                <a:spcPct val="100000"/>
              </a:lnSpc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  <a:ea typeface="DejaVu Sans"/>
              </a:rPr>
              <a:t>1) Establish Classification Attribute (in Table R)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  <a:ea typeface="DejaVu Sans"/>
              </a:rPr>
              <a:t>2) Compute Classification Entropy.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  <a:ea typeface="DejaVu Sans"/>
              </a:rPr>
              <a:t>3) For each attribute in R, calculate Information Gain using classification attribute.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  <a:ea typeface="DejaVu Sans"/>
              </a:rPr>
              <a:t>4) Select Attribute with the highest gain to be the next Node in the tree (starting from the Root node).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  <a:ea typeface="DejaVu Sans"/>
              </a:rPr>
              <a:t>5) Remove Node Attribute, creating reduced table R</a:t>
            </a:r>
            <a:r>
              <a:rPr b="0" lang="en-US" sz="2000" spc="-1" strike="noStrike" baseline="-25000">
                <a:solidFill>
                  <a:srgbClr val="000000"/>
                </a:solidFill>
                <a:latin typeface="Tahoma"/>
                <a:ea typeface="DejaVu Sans"/>
              </a:rPr>
              <a:t>S</a:t>
            </a:r>
            <a:r>
              <a:rPr b="0" lang="en-US" sz="2000" spc="-1" strike="noStrike">
                <a:solidFill>
                  <a:srgbClr val="000000"/>
                </a:solidFill>
                <a:latin typeface="Tahoma"/>
                <a:ea typeface="DejaVu Sans"/>
              </a:rPr>
              <a:t>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  <a:ea typeface="DejaVu Sans"/>
              </a:rPr>
              <a:t>6) Repeat steps 3-5 until all attributes have been used, or the same classification value remains for all rows in the reduced table or there are rows  still available.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cc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>
            <a:off x="380880" y="106200"/>
            <a:ext cx="8228160" cy="70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4000" spc="-1" strike="noStrike">
                <a:solidFill>
                  <a:srgbClr val="e5ffff"/>
                </a:solidFill>
                <a:latin typeface="Tahoma"/>
                <a:ea typeface="DejaVu Sans"/>
              </a:rPr>
              <a:t>Entropy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380880" y="914400"/>
            <a:ext cx="8761680" cy="639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Entropy measures the impurity of an arbitrary collection of examples.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For a collection S, entropy is given as: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	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	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For a collection S having positive and negative examples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Entropy(S) = -p</a:t>
            </a:r>
            <a:r>
              <a:rPr b="0" lang="en-US" sz="2400" spc="-1" strike="noStrike" baseline="-25000">
                <a:solidFill>
                  <a:srgbClr val="000000"/>
                </a:solidFill>
                <a:latin typeface="Times New Roman"/>
                <a:ea typeface="DejaVu Sans"/>
              </a:rPr>
              <a:t>+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log</a:t>
            </a:r>
            <a:r>
              <a:rPr b="0" lang="en-US" sz="2400" spc="-1" strike="noStrike" baseline="-25000">
                <a:solidFill>
                  <a:srgbClr val="000000"/>
                </a:solidFill>
                <a:latin typeface="Times New Roman"/>
                <a:ea typeface="DejaVu Sans"/>
              </a:rPr>
              <a:t>2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p</a:t>
            </a:r>
            <a:r>
              <a:rPr b="0" lang="en-US" sz="2400" spc="-1" strike="noStrike" baseline="-25000">
                <a:solidFill>
                  <a:srgbClr val="000000"/>
                </a:solidFill>
                <a:latin typeface="Times New Roman"/>
                <a:ea typeface="DejaVu Sans"/>
              </a:rPr>
              <a:t>+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- p</a:t>
            </a:r>
            <a:r>
              <a:rPr b="0" lang="en-US" sz="2400" spc="-1" strike="noStrike" baseline="-25000">
                <a:solidFill>
                  <a:srgbClr val="000000"/>
                </a:solidFill>
                <a:latin typeface="Times New Roman"/>
                <a:ea typeface="DejaVu Sans"/>
              </a:rPr>
              <a:t>-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log</a:t>
            </a:r>
            <a:r>
              <a:rPr b="0" lang="en-US" sz="2400" spc="-1" strike="noStrike" baseline="-25000">
                <a:solidFill>
                  <a:srgbClr val="000000"/>
                </a:solidFill>
                <a:latin typeface="Times New Roman"/>
                <a:ea typeface="DejaVu Sans"/>
              </a:rPr>
              <a:t>2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p</a:t>
            </a:r>
            <a:r>
              <a:rPr b="0" lang="en-US" sz="2400" spc="-1" strike="noStrike" baseline="-25000">
                <a:solidFill>
                  <a:srgbClr val="000000"/>
                </a:solidFill>
                <a:latin typeface="Times New Roman"/>
                <a:ea typeface="DejaVu Sans"/>
              </a:rPr>
              <a:t>-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where p</a:t>
            </a:r>
            <a:r>
              <a:rPr b="0" lang="en-US" sz="2400" spc="-1" strike="noStrike" baseline="-25000">
                <a:solidFill>
                  <a:srgbClr val="000000"/>
                </a:solidFill>
                <a:latin typeface="Times New Roman"/>
                <a:ea typeface="DejaVu Sans"/>
              </a:rPr>
              <a:t>+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is the proportion of positive examples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and p</a:t>
            </a:r>
            <a:r>
              <a:rPr b="0" lang="en-US" sz="2400" spc="-1" strike="noStrike" baseline="-25000">
                <a:solidFill>
                  <a:srgbClr val="000000"/>
                </a:solidFill>
                <a:latin typeface="Times New Roman"/>
                <a:ea typeface="DejaVu Sans"/>
              </a:rPr>
              <a:t>-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is the proportion of negative examples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</a:tabLst>
            </a:pPr>
            <a:r>
              <a:rPr b="0" lang="en-US" sz="2400" spc="-1" strike="noStrike" baseline="-25000">
                <a:solidFill>
                  <a:srgbClr val="000000"/>
                </a:solidFill>
                <a:latin typeface="Times New Roman"/>
                <a:ea typeface="DejaVu Sans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In general, Entropy(S) = 0 if all members of S belong to the same class.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Entropy(S) = 1 (maximum) when all members are split equally.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711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711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5" name="" descr=""/>
          <p:cNvPicPr/>
          <p:nvPr/>
        </p:nvPicPr>
        <p:blipFill>
          <a:blip r:embed="rId1"/>
          <a:stretch/>
        </p:blipFill>
        <p:spPr>
          <a:xfrm>
            <a:off x="2057400" y="2209680"/>
            <a:ext cx="3961080" cy="760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cc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182520"/>
            <a:ext cx="822816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4000" spc="-1" strike="noStrike">
                <a:solidFill>
                  <a:srgbClr val="e5ffff"/>
                </a:solidFill>
                <a:latin typeface="Tahoma"/>
                <a:ea typeface="DejaVu Sans"/>
              </a:rPr>
              <a:t>Information Gain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304920" y="914400"/>
            <a:ext cx="8837640" cy="540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1280" indent="-341280">
              <a:lnSpc>
                <a:spcPct val="100000"/>
              </a:lnSpc>
              <a:spcBef>
                <a:spcPts val="814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Measures the expected reduction in entropy. The higher the IG, more is the expected reduction in entropy.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814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814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814"/>
              </a:spcBef>
              <a:spcAft>
                <a:spcPts val="11"/>
              </a:spcAft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where Values(A) is the set of all possible values for attribute A,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814"/>
              </a:spcBef>
              <a:spcAft>
                <a:spcPts val="11"/>
              </a:spcAft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</a:t>
            </a:r>
            <a:r>
              <a:rPr b="0" lang="en-US" sz="3200" spc="-1" strike="noStrike" baseline="-25000">
                <a:solidFill>
                  <a:srgbClr val="000000"/>
                </a:solidFill>
                <a:latin typeface="Times New Roman"/>
                <a:ea typeface="DejaVu Sans"/>
              </a:rPr>
              <a:t>v</a:t>
            </a: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is the subset of S for which attribute A has value v.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1371600" y="2514600"/>
            <a:ext cx="6551640" cy="1065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cc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>
            <a:off x="0" y="182520"/>
            <a:ext cx="822816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4000" spc="-1" strike="noStrike">
                <a:solidFill>
                  <a:srgbClr val="e5ffff"/>
                </a:solidFill>
                <a:latin typeface="Tahoma"/>
                <a:ea typeface="DejaVu Sans"/>
              </a:rPr>
              <a:t>Information Gain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304920" y="914400"/>
            <a:ext cx="8837640" cy="540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1280" indent="-341280">
              <a:lnSpc>
                <a:spcPct val="100000"/>
              </a:lnSpc>
              <a:spcBef>
                <a:spcPts val="814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Measures the expected reduction in entropy. The higher the IG, more is the expected reduction in entropy.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814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814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814"/>
              </a:spcBef>
              <a:spcAft>
                <a:spcPts val="11"/>
              </a:spcAft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where Values(A) is the set of all possible values for attribute A,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814"/>
              </a:spcBef>
              <a:spcAft>
                <a:spcPts val="11"/>
              </a:spcAft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</a:t>
            </a:r>
            <a:r>
              <a:rPr b="0" lang="en-US" sz="3200" spc="-1" strike="noStrike" baseline="-25000">
                <a:solidFill>
                  <a:srgbClr val="000000"/>
                </a:solidFill>
                <a:latin typeface="Times New Roman"/>
                <a:ea typeface="DejaVu Sans"/>
              </a:rPr>
              <a:t>v</a:t>
            </a: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is the subset of S for which attribute A has value v.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1" name="" descr=""/>
          <p:cNvPicPr/>
          <p:nvPr/>
        </p:nvPicPr>
        <p:blipFill>
          <a:blip r:embed="rId1"/>
          <a:stretch/>
        </p:blipFill>
        <p:spPr>
          <a:xfrm>
            <a:off x="1371600" y="2514600"/>
            <a:ext cx="6551640" cy="1065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cc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"/>
          <p:cNvSpPr/>
          <p:nvPr/>
        </p:nvSpPr>
        <p:spPr>
          <a:xfrm>
            <a:off x="457200" y="380880"/>
            <a:ext cx="822816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2800" spc="-1" strike="noStrike">
                <a:solidFill>
                  <a:srgbClr val="e5ffff"/>
                </a:solidFill>
                <a:latin typeface="Tahoma"/>
                <a:ea typeface="DejaVu Sans"/>
              </a:rPr>
              <a:t>Example 1 : Decision Tree Learning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53" name=""/>
          <p:cNvGrpSpPr/>
          <p:nvPr/>
        </p:nvGrpSpPr>
        <p:grpSpPr>
          <a:xfrm>
            <a:off x="798480" y="1676520"/>
            <a:ext cx="7731360" cy="4629240"/>
            <a:chOff x="798480" y="1676520"/>
            <a:chExt cx="7731360" cy="4629240"/>
          </a:xfrm>
        </p:grpSpPr>
        <p:grpSp>
          <p:nvGrpSpPr>
            <p:cNvPr id="54" name=""/>
            <p:cNvGrpSpPr/>
            <p:nvPr/>
          </p:nvGrpSpPr>
          <p:grpSpPr>
            <a:xfrm>
              <a:off x="803160" y="1677960"/>
              <a:ext cx="7720200" cy="4624560"/>
              <a:chOff x="803160" y="1677960"/>
              <a:chExt cx="7720200" cy="4624560"/>
            </a:xfrm>
          </p:grpSpPr>
          <p:grpSp>
            <p:nvGrpSpPr>
              <p:cNvPr id="55" name=""/>
              <p:cNvGrpSpPr/>
              <p:nvPr/>
            </p:nvGrpSpPr>
            <p:grpSpPr>
              <a:xfrm>
                <a:off x="803160" y="1677960"/>
                <a:ext cx="700200" cy="363600"/>
                <a:chOff x="803160" y="1677960"/>
                <a:chExt cx="700200" cy="363600"/>
              </a:xfrm>
            </p:grpSpPr>
            <p:sp>
              <p:nvSpPr>
                <p:cNvPr id="56" name=""/>
                <p:cNvSpPr/>
                <p:nvPr/>
              </p:nvSpPr>
              <p:spPr>
                <a:xfrm>
                  <a:off x="873000" y="1677960"/>
                  <a:ext cx="555840" cy="363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Day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57" name=""/>
                <p:cNvSpPr/>
                <p:nvPr/>
              </p:nvSpPr>
              <p:spPr>
                <a:xfrm>
                  <a:off x="803160" y="1677960"/>
                  <a:ext cx="700200" cy="36360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58" name=""/>
              <p:cNvGrpSpPr/>
              <p:nvPr/>
            </p:nvGrpSpPr>
            <p:grpSpPr>
              <a:xfrm>
                <a:off x="1506600" y="1677960"/>
                <a:ext cx="1333440" cy="363600"/>
                <a:chOff x="1506600" y="1677960"/>
                <a:chExt cx="1333440" cy="363600"/>
              </a:xfrm>
            </p:grpSpPr>
            <p:sp>
              <p:nvSpPr>
                <p:cNvPr id="59" name=""/>
                <p:cNvSpPr/>
                <p:nvPr/>
              </p:nvSpPr>
              <p:spPr>
                <a:xfrm>
                  <a:off x="1577880" y="1677960"/>
                  <a:ext cx="1190880" cy="363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Outlook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60" name=""/>
                <p:cNvSpPr/>
                <p:nvPr/>
              </p:nvSpPr>
              <p:spPr>
                <a:xfrm>
                  <a:off x="1506600" y="1677960"/>
                  <a:ext cx="1333440" cy="36360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61" name=""/>
              <p:cNvGrpSpPr/>
              <p:nvPr/>
            </p:nvGrpSpPr>
            <p:grpSpPr>
              <a:xfrm>
                <a:off x="2846520" y="1677960"/>
                <a:ext cx="1581120" cy="363600"/>
                <a:chOff x="2846520" y="1677960"/>
                <a:chExt cx="1581120" cy="363600"/>
              </a:xfrm>
            </p:grpSpPr>
            <p:sp>
              <p:nvSpPr>
                <p:cNvPr id="62" name=""/>
                <p:cNvSpPr/>
                <p:nvPr/>
              </p:nvSpPr>
              <p:spPr>
                <a:xfrm>
                  <a:off x="2916360" y="1677960"/>
                  <a:ext cx="1436760" cy="363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Temperature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63" name=""/>
                <p:cNvSpPr/>
                <p:nvPr/>
              </p:nvSpPr>
              <p:spPr>
                <a:xfrm>
                  <a:off x="2846520" y="1677960"/>
                  <a:ext cx="1581120" cy="36360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64" name=""/>
              <p:cNvGrpSpPr/>
              <p:nvPr/>
            </p:nvGrpSpPr>
            <p:grpSpPr>
              <a:xfrm>
                <a:off x="4432320" y="1677960"/>
                <a:ext cx="1281240" cy="363600"/>
                <a:chOff x="4432320" y="1677960"/>
                <a:chExt cx="1281240" cy="363600"/>
              </a:xfrm>
            </p:grpSpPr>
            <p:sp>
              <p:nvSpPr>
                <p:cNvPr id="65" name=""/>
                <p:cNvSpPr/>
                <p:nvPr/>
              </p:nvSpPr>
              <p:spPr>
                <a:xfrm>
                  <a:off x="4502160" y="1677960"/>
                  <a:ext cx="1136880" cy="363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Humidity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66" name=""/>
                <p:cNvSpPr/>
                <p:nvPr/>
              </p:nvSpPr>
              <p:spPr>
                <a:xfrm>
                  <a:off x="4432320" y="1677960"/>
                  <a:ext cx="1281240" cy="36360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67" name=""/>
              <p:cNvGrpSpPr/>
              <p:nvPr/>
            </p:nvGrpSpPr>
            <p:grpSpPr>
              <a:xfrm>
                <a:off x="5716440" y="1677960"/>
                <a:ext cx="1221120" cy="363600"/>
                <a:chOff x="5716440" y="1677960"/>
                <a:chExt cx="1221120" cy="363600"/>
              </a:xfrm>
            </p:grpSpPr>
            <p:sp>
              <p:nvSpPr>
                <p:cNvPr id="68" name=""/>
                <p:cNvSpPr/>
                <p:nvPr/>
              </p:nvSpPr>
              <p:spPr>
                <a:xfrm>
                  <a:off x="5788080" y="1677960"/>
                  <a:ext cx="1076400" cy="363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Wind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69" name=""/>
                <p:cNvSpPr/>
                <p:nvPr/>
              </p:nvSpPr>
              <p:spPr>
                <a:xfrm>
                  <a:off x="5716440" y="1677960"/>
                  <a:ext cx="1221120" cy="36360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70" name=""/>
              <p:cNvGrpSpPr/>
              <p:nvPr/>
            </p:nvGrpSpPr>
            <p:grpSpPr>
              <a:xfrm>
                <a:off x="6942240" y="1677960"/>
                <a:ext cx="1581120" cy="363600"/>
                <a:chOff x="6942240" y="1677960"/>
                <a:chExt cx="1581120" cy="363600"/>
              </a:xfrm>
            </p:grpSpPr>
            <p:sp>
              <p:nvSpPr>
                <p:cNvPr id="71" name=""/>
                <p:cNvSpPr/>
                <p:nvPr/>
              </p:nvSpPr>
              <p:spPr>
                <a:xfrm>
                  <a:off x="7013520" y="1677960"/>
                  <a:ext cx="1436760" cy="363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PlayTennis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72" name=""/>
                <p:cNvSpPr/>
                <p:nvPr/>
              </p:nvSpPr>
              <p:spPr>
                <a:xfrm>
                  <a:off x="6942240" y="1677960"/>
                  <a:ext cx="1581120" cy="36360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73" name=""/>
              <p:cNvGrpSpPr/>
              <p:nvPr/>
            </p:nvGrpSpPr>
            <p:grpSpPr>
              <a:xfrm>
                <a:off x="803160" y="2046240"/>
                <a:ext cx="700200" cy="263880"/>
                <a:chOff x="803160" y="2046240"/>
                <a:chExt cx="700200" cy="263880"/>
              </a:xfrm>
            </p:grpSpPr>
            <p:sp>
              <p:nvSpPr>
                <p:cNvPr id="74" name=""/>
                <p:cNvSpPr/>
                <p:nvPr/>
              </p:nvSpPr>
              <p:spPr>
                <a:xfrm>
                  <a:off x="873000" y="2046240"/>
                  <a:ext cx="555840" cy="2638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D1 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75" name=""/>
                <p:cNvSpPr/>
                <p:nvPr/>
              </p:nvSpPr>
              <p:spPr>
                <a:xfrm>
                  <a:off x="803160" y="2046240"/>
                  <a:ext cx="700200" cy="26388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76" name=""/>
              <p:cNvGrpSpPr/>
              <p:nvPr/>
            </p:nvGrpSpPr>
            <p:grpSpPr>
              <a:xfrm>
                <a:off x="1506600" y="2046240"/>
                <a:ext cx="1333440" cy="263880"/>
                <a:chOff x="1506600" y="2046240"/>
                <a:chExt cx="1333440" cy="263880"/>
              </a:xfrm>
            </p:grpSpPr>
            <p:sp>
              <p:nvSpPr>
                <p:cNvPr id="77" name=""/>
                <p:cNvSpPr/>
                <p:nvPr/>
              </p:nvSpPr>
              <p:spPr>
                <a:xfrm>
                  <a:off x="1577880" y="2046240"/>
                  <a:ext cx="1190880" cy="2638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Sunny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78" name=""/>
                <p:cNvSpPr/>
                <p:nvPr/>
              </p:nvSpPr>
              <p:spPr>
                <a:xfrm>
                  <a:off x="1506600" y="2046240"/>
                  <a:ext cx="1333440" cy="26388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79" name=""/>
              <p:cNvGrpSpPr/>
              <p:nvPr/>
            </p:nvGrpSpPr>
            <p:grpSpPr>
              <a:xfrm>
                <a:off x="2846520" y="2046240"/>
                <a:ext cx="1581120" cy="263880"/>
                <a:chOff x="2846520" y="2046240"/>
                <a:chExt cx="1581120" cy="263880"/>
              </a:xfrm>
            </p:grpSpPr>
            <p:sp>
              <p:nvSpPr>
                <p:cNvPr id="80" name=""/>
                <p:cNvSpPr/>
                <p:nvPr/>
              </p:nvSpPr>
              <p:spPr>
                <a:xfrm>
                  <a:off x="2916360" y="2046240"/>
                  <a:ext cx="1436760" cy="2638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Hot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81" name=""/>
                <p:cNvSpPr/>
                <p:nvPr/>
              </p:nvSpPr>
              <p:spPr>
                <a:xfrm>
                  <a:off x="2846520" y="2046240"/>
                  <a:ext cx="1581120" cy="26388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82" name=""/>
              <p:cNvGrpSpPr/>
              <p:nvPr/>
            </p:nvGrpSpPr>
            <p:grpSpPr>
              <a:xfrm>
                <a:off x="4432320" y="2046240"/>
                <a:ext cx="1281240" cy="263880"/>
                <a:chOff x="4432320" y="2046240"/>
                <a:chExt cx="1281240" cy="263880"/>
              </a:xfrm>
            </p:grpSpPr>
            <p:sp>
              <p:nvSpPr>
                <p:cNvPr id="83" name=""/>
                <p:cNvSpPr/>
                <p:nvPr/>
              </p:nvSpPr>
              <p:spPr>
                <a:xfrm>
                  <a:off x="4502160" y="2046240"/>
                  <a:ext cx="1136880" cy="2638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High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84" name=""/>
                <p:cNvSpPr/>
                <p:nvPr/>
              </p:nvSpPr>
              <p:spPr>
                <a:xfrm>
                  <a:off x="4432320" y="2046240"/>
                  <a:ext cx="1281240" cy="26388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85" name=""/>
              <p:cNvGrpSpPr/>
              <p:nvPr/>
            </p:nvGrpSpPr>
            <p:grpSpPr>
              <a:xfrm>
                <a:off x="5716440" y="2046240"/>
                <a:ext cx="1221120" cy="263880"/>
                <a:chOff x="5716440" y="2046240"/>
                <a:chExt cx="1221120" cy="263880"/>
              </a:xfrm>
            </p:grpSpPr>
            <p:sp>
              <p:nvSpPr>
                <p:cNvPr id="86" name=""/>
                <p:cNvSpPr/>
                <p:nvPr/>
              </p:nvSpPr>
              <p:spPr>
                <a:xfrm>
                  <a:off x="5788080" y="2046240"/>
                  <a:ext cx="1076400" cy="2638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Weak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87" name=""/>
                <p:cNvSpPr/>
                <p:nvPr/>
              </p:nvSpPr>
              <p:spPr>
                <a:xfrm>
                  <a:off x="5716440" y="2046240"/>
                  <a:ext cx="1221120" cy="26388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88" name=""/>
              <p:cNvGrpSpPr/>
              <p:nvPr/>
            </p:nvGrpSpPr>
            <p:grpSpPr>
              <a:xfrm>
                <a:off x="6942240" y="2046240"/>
                <a:ext cx="1581120" cy="263880"/>
                <a:chOff x="6942240" y="2046240"/>
                <a:chExt cx="1581120" cy="263880"/>
              </a:xfrm>
            </p:grpSpPr>
            <p:sp>
              <p:nvSpPr>
                <p:cNvPr id="89" name=""/>
                <p:cNvSpPr/>
                <p:nvPr/>
              </p:nvSpPr>
              <p:spPr>
                <a:xfrm>
                  <a:off x="7013520" y="2046240"/>
                  <a:ext cx="1436760" cy="2638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No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90" name=""/>
                <p:cNvSpPr/>
                <p:nvPr/>
              </p:nvSpPr>
              <p:spPr>
                <a:xfrm>
                  <a:off x="6942240" y="2046240"/>
                  <a:ext cx="1581120" cy="26388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91" name=""/>
              <p:cNvGrpSpPr/>
              <p:nvPr/>
            </p:nvGrpSpPr>
            <p:grpSpPr>
              <a:xfrm>
                <a:off x="803160" y="2316240"/>
                <a:ext cx="700200" cy="263520"/>
                <a:chOff x="803160" y="2316240"/>
                <a:chExt cx="700200" cy="263520"/>
              </a:xfrm>
            </p:grpSpPr>
            <p:sp>
              <p:nvSpPr>
                <p:cNvPr id="92" name=""/>
                <p:cNvSpPr/>
                <p:nvPr/>
              </p:nvSpPr>
              <p:spPr>
                <a:xfrm>
                  <a:off x="873000" y="2316240"/>
                  <a:ext cx="555840" cy="2635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D2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93" name=""/>
                <p:cNvSpPr/>
                <p:nvPr/>
              </p:nvSpPr>
              <p:spPr>
                <a:xfrm>
                  <a:off x="803160" y="2316240"/>
                  <a:ext cx="700200" cy="26352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94" name=""/>
              <p:cNvGrpSpPr/>
              <p:nvPr/>
            </p:nvGrpSpPr>
            <p:grpSpPr>
              <a:xfrm>
                <a:off x="1506600" y="2316240"/>
                <a:ext cx="1333440" cy="263520"/>
                <a:chOff x="1506600" y="2316240"/>
                <a:chExt cx="1333440" cy="263520"/>
              </a:xfrm>
            </p:grpSpPr>
            <p:sp>
              <p:nvSpPr>
                <p:cNvPr id="95" name=""/>
                <p:cNvSpPr/>
                <p:nvPr/>
              </p:nvSpPr>
              <p:spPr>
                <a:xfrm>
                  <a:off x="1577880" y="2316240"/>
                  <a:ext cx="1190880" cy="2635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Sunny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96" name=""/>
                <p:cNvSpPr/>
                <p:nvPr/>
              </p:nvSpPr>
              <p:spPr>
                <a:xfrm>
                  <a:off x="1506600" y="2316240"/>
                  <a:ext cx="1333440" cy="26352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97" name=""/>
              <p:cNvGrpSpPr/>
              <p:nvPr/>
            </p:nvGrpSpPr>
            <p:grpSpPr>
              <a:xfrm>
                <a:off x="2846520" y="2316240"/>
                <a:ext cx="1581120" cy="263520"/>
                <a:chOff x="2846520" y="2316240"/>
                <a:chExt cx="1581120" cy="263520"/>
              </a:xfrm>
            </p:grpSpPr>
            <p:sp>
              <p:nvSpPr>
                <p:cNvPr id="98" name=""/>
                <p:cNvSpPr/>
                <p:nvPr/>
              </p:nvSpPr>
              <p:spPr>
                <a:xfrm>
                  <a:off x="2916360" y="2316240"/>
                  <a:ext cx="1436760" cy="2635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Hot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99" name=""/>
                <p:cNvSpPr/>
                <p:nvPr/>
              </p:nvSpPr>
              <p:spPr>
                <a:xfrm>
                  <a:off x="2846520" y="2316240"/>
                  <a:ext cx="1581120" cy="26352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100" name=""/>
              <p:cNvGrpSpPr/>
              <p:nvPr/>
            </p:nvGrpSpPr>
            <p:grpSpPr>
              <a:xfrm>
                <a:off x="4432320" y="2316240"/>
                <a:ext cx="1281240" cy="263520"/>
                <a:chOff x="4432320" y="2316240"/>
                <a:chExt cx="1281240" cy="263520"/>
              </a:xfrm>
            </p:grpSpPr>
            <p:sp>
              <p:nvSpPr>
                <p:cNvPr id="101" name=""/>
                <p:cNvSpPr/>
                <p:nvPr/>
              </p:nvSpPr>
              <p:spPr>
                <a:xfrm>
                  <a:off x="4502160" y="2316240"/>
                  <a:ext cx="1136880" cy="2635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High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102" name=""/>
                <p:cNvSpPr/>
                <p:nvPr/>
              </p:nvSpPr>
              <p:spPr>
                <a:xfrm>
                  <a:off x="4432320" y="2316240"/>
                  <a:ext cx="1281240" cy="26352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103" name=""/>
              <p:cNvGrpSpPr/>
              <p:nvPr/>
            </p:nvGrpSpPr>
            <p:grpSpPr>
              <a:xfrm>
                <a:off x="5716440" y="2316240"/>
                <a:ext cx="1221120" cy="263520"/>
                <a:chOff x="5716440" y="2316240"/>
                <a:chExt cx="1221120" cy="263520"/>
              </a:xfrm>
            </p:grpSpPr>
            <p:sp>
              <p:nvSpPr>
                <p:cNvPr id="104" name=""/>
                <p:cNvSpPr/>
                <p:nvPr/>
              </p:nvSpPr>
              <p:spPr>
                <a:xfrm>
                  <a:off x="5788080" y="2316240"/>
                  <a:ext cx="1076400" cy="2635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Strong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105" name=""/>
                <p:cNvSpPr/>
                <p:nvPr/>
              </p:nvSpPr>
              <p:spPr>
                <a:xfrm>
                  <a:off x="5716440" y="2316240"/>
                  <a:ext cx="1221120" cy="26352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106" name=""/>
              <p:cNvGrpSpPr/>
              <p:nvPr/>
            </p:nvGrpSpPr>
            <p:grpSpPr>
              <a:xfrm>
                <a:off x="6942240" y="2316240"/>
                <a:ext cx="1581120" cy="263520"/>
                <a:chOff x="6942240" y="2316240"/>
                <a:chExt cx="1581120" cy="263520"/>
              </a:xfrm>
            </p:grpSpPr>
            <p:sp>
              <p:nvSpPr>
                <p:cNvPr id="107" name=""/>
                <p:cNvSpPr/>
                <p:nvPr/>
              </p:nvSpPr>
              <p:spPr>
                <a:xfrm>
                  <a:off x="7013520" y="2316240"/>
                  <a:ext cx="1436760" cy="2635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No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108" name=""/>
                <p:cNvSpPr/>
                <p:nvPr/>
              </p:nvSpPr>
              <p:spPr>
                <a:xfrm>
                  <a:off x="6942240" y="2316240"/>
                  <a:ext cx="1581120" cy="26352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109" name=""/>
              <p:cNvGrpSpPr/>
              <p:nvPr/>
            </p:nvGrpSpPr>
            <p:grpSpPr>
              <a:xfrm>
                <a:off x="803160" y="2583000"/>
                <a:ext cx="700200" cy="263520"/>
                <a:chOff x="803160" y="2583000"/>
                <a:chExt cx="700200" cy="263520"/>
              </a:xfrm>
            </p:grpSpPr>
            <p:sp>
              <p:nvSpPr>
                <p:cNvPr id="110" name=""/>
                <p:cNvSpPr/>
                <p:nvPr/>
              </p:nvSpPr>
              <p:spPr>
                <a:xfrm>
                  <a:off x="873000" y="2583000"/>
                  <a:ext cx="555840" cy="2635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D3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111" name=""/>
                <p:cNvSpPr/>
                <p:nvPr/>
              </p:nvSpPr>
              <p:spPr>
                <a:xfrm>
                  <a:off x="803160" y="2583000"/>
                  <a:ext cx="700200" cy="26352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112" name=""/>
              <p:cNvGrpSpPr/>
              <p:nvPr/>
            </p:nvGrpSpPr>
            <p:grpSpPr>
              <a:xfrm>
                <a:off x="1506600" y="2583000"/>
                <a:ext cx="1333440" cy="263520"/>
                <a:chOff x="1506600" y="2583000"/>
                <a:chExt cx="1333440" cy="263520"/>
              </a:xfrm>
            </p:grpSpPr>
            <p:sp>
              <p:nvSpPr>
                <p:cNvPr id="113" name=""/>
                <p:cNvSpPr/>
                <p:nvPr/>
              </p:nvSpPr>
              <p:spPr>
                <a:xfrm>
                  <a:off x="1577880" y="2583000"/>
                  <a:ext cx="1190880" cy="2635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Overcast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114" name=""/>
                <p:cNvSpPr/>
                <p:nvPr/>
              </p:nvSpPr>
              <p:spPr>
                <a:xfrm>
                  <a:off x="1506600" y="2583000"/>
                  <a:ext cx="1333440" cy="26352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115" name=""/>
              <p:cNvGrpSpPr/>
              <p:nvPr/>
            </p:nvGrpSpPr>
            <p:grpSpPr>
              <a:xfrm>
                <a:off x="2846520" y="2583000"/>
                <a:ext cx="1581120" cy="263520"/>
                <a:chOff x="2846520" y="2583000"/>
                <a:chExt cx="1581120" cy="263520"/>
              </a:xfrm>
            </p:grpSpPr>
            <p:sp>
              <p:nvSpPr>
                <p:cNvPr id="116" name=""/>
                <p:cNvSpPr/>
                <p:nvPr/>
              </p:nvSpPr>
              <p:spPr>
                <a:xfrm>
                  <a:off x="2916360" y="2583000"/>
                  <a:ext cx="1436760" cy="2635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Hot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117" name=""/>
                <p:cNvSpPr/>
                <p:nvPr/>
              </p:nvSpPr>
              <p:spPr>
                <a:xfrm>
                  <a:off x="2846520" y="2583000"/>
                  <a:ext cx="1581120" cy="26352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118" name=""/>
              <p:cNvGrpSpPr/>
              <p:nvPr/>
            </p:nvGrpSpPr>
            <p:grpSpPr>
              <a:xfrm>
                <a:off x="4432320" y="2583000"/>
                <a:ext cx="1281240" cy="263520"/>
                <a:chOff x="4432320" y="2583000"/>
                <a:chExt cx="1281240" cy="263520"/>
              </a:xfrm>
            </p:grpSpPr>
            <p:sp>
              <p:nvSpPr>
                <p:cNvPr id="119" name=""/>
                <p:cNvSpPr/>
                <p:nvPr/>
              </p:nvSpPr>
              <p:spPr>
                <a:xfrm>
                  <a:off x="4502160" y="2583000"/>
                  <a:ext cx="1136880" cy="2635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High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120" name=""/>
                <p:cNvSpPr/>
                <p:nvPr/>
              </p:nvSpPr>
              <p:spPr>
                <a:xfrm>
                  <a:off x="4432320" y="2583000"/>
                  <a:ext cx="1281240" cy="26352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121" name=""/>
              <p:cNvGrpSpPr/>
              <p:nvPr/>
            </p:nvGrpSpPr>
            <p:grpSpPr>
              <a:xfrm>
                <a:off x="5716440" y="2583000"/>
                <a:ext cx="1221120" cy="263520"/>
                <a:chOff x="5716440" y="2583000"/>
                <a:chExt cx="1221120" cy="263520"/>
              </a:xfrm>
            </p:grpSpPr>
            <p:sp>
              <p:nvSpPr>
                <p:cNvPr id="122" name=""/>
                <p:cNvSpPr/>
                <p:nvPr/>
              </p:nvSpPr>
              <p:spPr>
                <a:xfrm>
                  <a:off x="5788080" y="2583000"/>
                  <a:ext cx="1076400" cy="2635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Weak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123" name=""/>
                <p:cNvSpPr/>
                <p:nvPr/>
              </p:nvSpPr>
              <p:spPr>
                <a:xfrm>
                  <a:off x="5716440" y="2583000"/>
                  <a:ext cx="1221120" cy="26352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124" name=""/>
              <p:cNvGrpSpPr/>
              <p:nvPr/>
            </p:nvGrpSpPr>
            <p:grpSpPr>
              <a:xfrm>
                <a:off x="6942240" y="2583000"/>
                <a:ext cx="1581120" cy="263520"/>
                <a:chOff x="6942240" y="2583000"/>
                <a:chExt cx="1581120" cy="263520"/>
              </a:xfrm>
            </p:grpSpPr>
            <p:sp>
              <p:nvSpPr>
                <p:cNvPr id="125" name=""/>
                <p:cNvSpPr/>
                <p:nvPr/>
              </p:nvSpPr>
              <p:spPr>
                <a:xfrm>
                  <a:off x="7013520" y="2583000"/>
                  <a:ext cx="1436760" cy="2635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Yes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126" name=""/>
                <p:cNvSpPr/>
                <p:nvPr/>
              </p:nvSpPr>
              <p:spPr>
                <a:xfrm>
                  <a:off x="6942240" y="2583000"/>
                  <a:ext cx="1581120" cy="26352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127" name=""/>
              <p:cNvGrpSpPr/>
              <p:nvPr/>
            </p:nvGrpSpPr>
            <p:grpSpPr>
              <a:xfrm>
                <a:off x="803160" y="2851200"/>
                <a:ext cx="700200" cy="263520"/>
                <a:chOff x="803160" y="2851200"/>
                <a:chExt cx="700200" cy="263520"/>
              </a:xfrm>
            </p:grpSpPr>
            <p:sp>
              <p:nvSpPr>
                <p:cNvPr id="128" name=""/>
                <p:cNvSpPr/>
                <p:nvPr/>
              </p:nvSpPr>
              <p:spPr>
                <a:xfrm>
                  <a:off x="873000" y="2851200"/>
                  <a:ext cx="555840" cy="2635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D4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129" name=""/>
                <p:cNvSpPr/>
                <p:nvPr/>
              </p:nvSpPr>
              <p:spPr>
                <a:xfrm>
                  <a:off x="803160" y="2851200"/>
                  <a:ext cx="700200" cy="26352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130" name=""/>
              <p:cNvGrpSpPr/>
              <p:nvPr/>
            </p:nvGrpSpPr>
            <p:grpSpPr>
              <a:xfrm>
                <a:off x="1506600" y="2851200"/>
                <a:ext cx="1333440" cy="263520"/>
                <a:chOff x="1506600" y="2851200"/>
                <a:chExt cx="1333440" cy="263520"/>
              </a:xfrm>
            </p:grpSpPr>
            <p:sp>
              <p:nvSpPr>
                <p:cNvPr id="131" name=""/>
                <p:cNvSpPr/>
                <p:nvPr/>
              </p:nvSpPr>
              <p:spPr>
                <a:xfrm>
                  <a:off x="1577880" y="2851200"/>
                  <a:ext cx="1190880" cy="2635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Rain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132" name=""/>
                <p:cNvSpPr/>
                <p:nvPr/>
              </p:nvSpPr>
              <p:spPr>
                <a:xfrm>
                  <a:off x="1506600" y="2851200"/>
                  <a:ext cx="1333440" cy="26352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133" name=""/>
              <p:cNvGrpSpPr/>
              <p:nvPr/>
            </p:nvGrpSpPr>
            <p:grpSpPr>
              <a:xfrm>
                <a:off x="2846520" y="2851200"/>
                <a:ext cx="1581120" cy="263520"/>
                <a:chOff x="2846520" y="2851200"/>
                <a:chExt cx="1581120" cy="263520"/>
              </a:xfrm>
            </p:grpSpPr>
            <p:sp>
              <p:nvSpPr>
                <p:cNvPr id="134" name=""/>
                <p:cNvSpPr/>
                <p:nvPr/>
              </p:nvSpPr>
              <p:spPr>
                <a:xfrm>
                  <a:off x="2916360" y="2851200"/>
                  <a:ext cx="1436760" cy="2635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Mild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135" name=""/>
                <p:cNvSpPr/>
                <p:nvPr/>
              </p:nvSpPr>
              <p:spPr>
                <a:xfrm>
                  <a:off x="2846520" y="2851200"/>
                  <a:ext cx="1581120" cy="26352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136" name=""/>
              <p:cNvGrpSpPr/>
              <p:nvPr/>
            </p:nvGrpSpPr>
            <p:grpSpPr>
              <a:xfrm>
                <a:off x="4432320" y="2851200"/>
                <a:ext cx="1281240" cy="263520"/>
                <a:chOff x="4432320" y="2851200"/>
                <a:chExt cx="1281240" cy="263520"/>
              </a:xfrm>
            </p:grpSpPr>
            <p:sp>
              <p:nvSpPr>
                <p:cNvPr id="137" name=""/>
                <p:cNvSpPr/>
                <p:nvPr/>
              </p:nvSpPr>
              <p:spPr>
                <a:xfrm>
                  <a:off x="4502160" y="2851200"/>
                  <a:ext cx="1136880" cy="2635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High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138" name=""/>
                <p:cNvSpPr/>
                <p:nvPr/>
              </p:nvSpPr>
              <p:spPr>
                <a:xfrm>
                  <a:off x="4432320" y="2851200"/>
                  <a:ext cx="1281240" cy="26352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139" name=""/>
              <p:cNvGrpSpPr/>
              <p:nvPr/>
            </p:nvGrpSpPr>
            <p:grpSpPr>
              <a:xfrm>
                <a:off x="5716440" y="2851200"/>
                <a:ext cx="1221120" cy="263520"/>
                <a:chOff x="5716440" y="2851200"/>
                <a:chExt cx="1221120" cy="263520"/>
              </a:xfrm>
            </p:grpSpPr>
            <p:sp>
              <p:nvSpPr>
                <p:cNvPr id="140" name=""/>
                <p:cNvSpPr/>
                <p:nvPr/>
              </p:nvSpPr>
              <p:spPr>
                <a:xfrm>
                  <a:off x="5788080" y="2851200"/>
                  <a:ext cx="1076400" cy="2635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Weak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141" name=""/>
                <p:cNvSpPr/>
                <p:nvPr/>
              </p:nvSpPr>
              <p:spPr>
                <a:xfrm>
                  <a:off x="5716440" y="2851200"/>
                  <a:ext cx="1221120" cy="26352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142" name=""/>
              <p:cNvGrpSpPr/>
              <p:nvPr/>
            </p:nvGrpSpPr>
            <p:grpSpPr>
              <a:xfrm>
                <a:off x="6942240" y="2851200"/>
                <a:ext cx="1581120" cy="263520"/>
                <a:chOff x="6942240" y="2851200"/>
                <a:chExt cx="1581120" cy="263520"/>
              </a:xfrm>
            </p:grpSpPr>
            <p:sp>
              <p:nvSpPr>
                <p:cNvPr id="143" name=""/>
                <p:cNvSpPr/>
                <p:nvPr/>
              </p:nvSpPr>
              <p:spPr>
                <a:xfrm>
                  <a:off x="7013520" y="2851200"/>
                  <a:ext cx="1436760" cy="2635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Yes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144" name=""/>
                <p:cNvSpPr/>
                <p:nvPr/>
              </p:nvSpPr>
              <p:spPr>
                <a:xfrm>
                  <a:off x="6942240" y="2851200"/>
                  <a:ext cx="1581120" cy="26352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145" name=""/>
              <p:cNvGrpSpPr/>
              <p:nvPr/>
            </p:nvGrpSpPr>
            <p:grpSpPr>
              <a:xfrm>
                <a:off x="803160" y="3121200"/>
                <a:ext cx="700200" cy="263520"/>
                <a:chOff x="803160" y="3121200"/>
                <a:chExt cx="700200" cy="263520"/>
              </a:xfrm>
            </p:grpSpPr>
            <p:sp>
              <p:nvSpPr>
                <p:cNvPr id="146" name=""/>
                <p:cNvSpPr/>
                <p:nvPr/>
              </p:nvSpPr>
              <p:spPr>
                <a:xfrm>
                  <a:off x="873000" y="3121200"/>
                  <a:ext cx="555840" cy="2635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D5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147" name=""/>
                <p:cNvSpPr/>
                <p:nvPr/>
              </p:nvSpPr>
              <p:spPr>
                <a:xfrm>
                  <a:off x="803160" y="3121200"/>
                  <a:ext cx="700200" cy="26352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148" name=""/>
              <p:cNvGrpSpPr/>
              <p:nvPr/>
            </p:nvGrpSpPr>
            <p:grpSpPr>
              <a:xfrm>
                <a:off x="1506600" y="3121200"/>
                <a:ext cx="1333440" cy="263520"/>
                <a:chOff x="1506600" y="3121200"/>
                <a:chExt cx="1333440" cy="263520"/>
              </a:xfrm>
            </p:grpSpPr>
            <p:sp>
              <p:nvSpPr>
                <p:cNvPr id="149" name=""/>
                <p:cNvSpPr/>
                <p:nvPr/>
              </p:nvSpPr>
              <p:spPr>
                <a:xfrm>
                  <a:off x="1577880" y="3121200"/>
                  <a:ext cx="1190880" cy="2635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Rain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150" name=""/>
                <p:cNvSpPr/>
                <p:nvPr/>
              </p:nvSpPr>
              <p:spPr>
                <a:xfrm>
                  <a:off x="1506600" y="3121200"/>
                  <a:ext cx="1333440" cy="26352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151" name=""/>
              <p:cNvGrpSpPr/>
              <p:nvPr/>
            </p:nvGrpSpPr>
            <p:grpSpPr>
              <a:xfrm>
                <a:off x="2846520" y="3121200"/>
                <a:ext cx="1581120" cy="263520"/>
                <a:chOff x="2846520" y="3121200"/>
                <a:chExt cx="1581120" cy="263520"/>
              </a:xfrm>
            </p:grpSpPr>
            <p:sp>
              <p:nvSpPr>
                <p:cNvPr id="152" name=""/>
                <p:cNvSpPr/>
                <p:nvPr/>
              </p:nvSpPr>
              <p:spPr>
                <a:xfrm>
                  <a:off x="2916360" y="3121200"/>
                  <a:ext cx="1436760" cy="2635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Cool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153" name=""/>
                <p:cNvSpPr/>
                <p:nvPr/>
              </p:nvSpPr>
              <p:spPr>
                <a:xfrm>
                  <a:off x="2846520" y="3121200"/>
                  <a:ext cx="1581120" cy="26352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154" name=""/>
              <p:cNvGrpSpPr/>
              <p:nvPr/>
            </p:nvGrpSpPr>
            <p:grpSpPr>
              <a:xfrm>
                <a:off x="4432320" y="3121200"/>
                <a:ext cx="1281240" cy="263520"/>
                <a:chOff x="4432320" y="3121200"/>
                <a:chExt cx="1281240" cy="263520"/>
              </a:xfrm>
            </p:grpSpPr>
            <p:sp>
              <p:nvSpPr>
                <p:cNvPr id="155" name=""/>
                <p:cNvSpPr/>
                <p:nvPr/>
              </p:nvSpPr>
              <p:spPr>
                <a:xfrm>
                  <a:off x="4502160" y="3121200"/>
                  <a:ext cx="1136880" cy="2635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Normal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156" name=""/>
                <p:cNvSpPr/>
                <p:nvPr/>
              </p:nvSpPr>
              <p:spPr>
                <a:xfrm>
                  <a:off x="4432320" y="3121200"/>
                  <a:ext cx="1281240" cy="26352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157" name=""/>
              <p:cNvGrpSpPr/>
              <p:nvPr/>
            </p:nvGrpSpPr>
            <p:grpSpPr>
              <a:xfrm>
                <a:off x="5716440" y="3121200"/>
                <a:ext cx="1221120" cy="263520"/>
                <a:chOff x="5716440" y="3121200"/>
                <a:chExt cx="1221120" cy="263520"/>
              </a:xfrm>
            </p:grpSpPr>
            <p:sp>
              <p:nvSpPr>
                <p:cNvPr id="158" name=""/>
                <p:cNvSpPr/>
                <p:nvPr/>
              </p:nvSpPr>
              <p:spPr>
                <a:xfrm>
                  <a:off x="5788080" y="3121200"/>
                  <a:ext cx="1076400" cy="2635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Weak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159" name=""/>
                <p:cNvSpPr/>
                <p:nvPr/>
              </p:nvSpPr>
              <p:spPr>
                <a:xfrm>
                  <a:off x="5716440" y="3121200"/>
                  <a:ext cx="1221120" cy="26352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160" name=""/>
              <p:cNvGrpSpPr/>
              <p:nvPr/>
            </p:nvGrpSpPr>
            <p:grpSpPr>
              <a:xfrm>
                <a:off x="6942240" y="3121200"/>
                <a:ext cx="1581120" cy="263520"/>
                <a:chOff x="6942240" y="3121200"/>
                <a:chExt cx="1581120" cy="263520"/>
              </a:xfrm>
            </p:grpSpPr>
            <p:sp>
              <p:nvSpPr>
                <p:cNvPr id="161" name=""/>
                <p:cNvSpPr/>
                <p:nvPr/>
              </p:nvSpPr>
              <p:spPr>
                <a:xfrm>
                  <a:off x="7013520" y="3121200"/>
                  <a:ext cx="1436760" cy="2635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Yes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162" name=""/>
                <p:cNvSpPr/>
                <p:nvPr/>
              </p:nvSpPr>
              <p:spPr>
                <a:xfrm>
                  <a:off x="6942240" y="3121200"/>
                  <a:ext cx="1581120" cy="26352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163" name=""/>
              <p:cNvGrpSpPr/>
              <p:nvPr/>
            </p:nvGrpSpPr>
            <p:grpSpPr>
              <a:xfrm>
                <a:off x="803160" y="3389400"/>
                <a:ext cx="700200" cy="263520"/>
                <a:chOff x="803160" y="3389400"/>
                <a:chExt cx="700200" cy="263520"/>
              </a:xfrm>
            </p:grpSpPr>
            <p:sp>
              <p:nvSpPr>
                <p:cNvPr id="164" name=""/>
                <p:cNvSpPr/>
                <p:nvPr/>
              </p:nvSpPr>
              <p:spPr>
                <a:xfrm>
                  <a:off x="873000" y="3389400"/>
                  <a:ext cx="555840" cy="2635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D6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165" name=""/>
                <p:cNvSpPr/>
                <p:nvPr/>
              </p:nvSpPr>
              <p:spPr>
                <a:xfrm>
                  <a:off x="803160" y="3389400"/>
                  <a:ext cx="700200" cy="26352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166" name=""/>
              <p:cNvGrpSpPr/>
              <p:nvPr/>
            </p:nvGrpSpPr>
            <p:grpSpPr>
              <a:xfrm>
                <a:off x="1506600" y="3389400"/>
                <a:ext cx="1333440" cy="263520"/>
                <a:chOff x="1506600" y="3389400"/>
                <a:chExt cx="1333440" cy="263520"/>
              </a:xfrm>
            </p:grpSpPr>
            <p:sp>
              <p:nvSpPr>
                <p:cNvPr id="167" name=""/>
                <p:cNvSpPr/>
                <p:nvPr/>
              </p:nvSpPr>
              <p:spPr>
                <a:xfrm>
                  <a:off x="1577880" y="3389400"/>
                  <a:ext cx="1190880" cy="2635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Rain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168" name=""/>
                <p:cNvSpPr/>
                <p:nvPr/>
              </p:nvSpPr>
              <p:spPr>
                <a:xfrm>
                  <a:off x="1506600" y="3389400"/>
                  <a:ext cx="1333440" cy="26352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169" name=""/>
              <p:cNvGrpSpPr/>
              <p:nvPr/>
            </p:nvGrpSpPr>
            <p:grpSpPr>
              <a:xfrm>
                <a:off x="2846520" y="3389400"/>
                <a:ext cx="1581120" cy="263520"/>
                <a:chOff x="2846520" y="3389400"/>
                <a:chExt cx="1581120" cy="263520"/>
              </a:xfrm>
            </p:grpSpPr>
            <p:sp>
              <p:nvSpPr>
                <p:cNvPr id="170" name=""/>
                <p:cNvSpPr/>
                <p:nvPr/>
              </p:nvSpPr>
              <p:spPr>
                <a:xfrm>
                  <a:off x="2916360" y="3389400"/>
                  <a:ext cx="1436760" cy="2635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Cool 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171" name=""/>
                <p:cNvSpPr/>
                <p:nvPr/>
              </p:nvSpPr>
              <p:spPr>
                <a:xfrm>
                  <a:off x="2846520" y="3389400"/>
                  <a:ext cx="1581120" cy="26352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172" name=""/>
              <p:cNvGrpSpPr/>
              <p:nvPr/>
            </p:nvGrpSpPr>
            <p:grpSpPr>
              <a:xfrm>
                <a:off x="4432320" y="3389400"/>
                <a:ext cx="1281240" cy="263520"/>
                <a:chOff x="4432320" y="3389400"/>
                <a:chExt cx="1281240" cy="263520"/>
              </a:xfrm>
            </p:grpSpPr>
            <p:sp>
              <p:nvSpPr>
                <p:cNvPr id="173" name=""/>
                <p:cNvSpPr/>
                <p:nvPr/>
              </p:nvSpPr>
              <p:spPr>
                <a:xfrm>
                  <a:off x="4502160" y="3389400"/>
                  <a:ext cx="1136880" cy="2635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Normal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174" name=""/>
                <p:cNvSpPr/>
                <p:nvPr/>
              </p:nvSpPr>
              <p:spPr>
                <a:xfrm>
                  <a:off x="4432320" y="3389400"/>
                  <a:ext cx="1281240" cy="26352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175" name=""/>
              <p:cNvGrpSpPr/>
              <p:nvPr/>
            </p:nvGrpSpPr>
            <p:grpSpPr>
              <a:xfrm>
                <a:off x="5716440" y="3389400"/>
                <a:ext cx="1221120" cy="263520"/>
                <a:chOff x="5716440" y="3389400"/>
                <a:chExt cx="1221120" cy="263520"/>
              </a:xfrm>
            </p:grpSpPr>
            <p:sp>
              <p:nvSpPr>
                <p:cNvPr id="176" name=""/>
                <p:cNvSpPr/>
                <p:nvPr/>
              </p:nvSpPr>
              <p:spPr>
                <a:xfrm>
                  <a:off x="5788080" y="3389400"/>
                  <a:ext cx="1076400" cy="2635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Strong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177" name=""/>
                <p:cNvSpPr/>
                <p:nvPr/>
              </p:nvSpPr>
              <p:spPr>
                <a:xfrm>
                  <a:off x="5716440" y="3389400"/>
                  <a:ext cx="1221120" cy="26352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178" name=""/>
              <p:cNvGrpSpPr/>
              <p:nvPr/>
            </p:nvGrpSpPr>
            <p:grpSpPr>
              <a:xfrm>
                <a:off x="6942240" y="3389400"/>
                <a:ext cx="1581120" cy="263520"/>
                <a:chOff x="6942240" y="3389400"/>
                <a:chExt cx="1581120" cy="263520"/>
              </a:xfrm>
            </p:grpSpPr>
            <p:sp>
              <p:nvSpPr>
                <p:cNvPr id="179" name=""/>
                <p:cNvSpPr/>
                <p:nvPr/>
              </p:nvSpPr>
              <p:spPr>
                <a:xfrm>
                  <a:off x="7013520" y="3389400"/>
                  <a:ext cx="1436760" cy="2635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No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180" name=""/>
                <p:cNvSpPr/>
                <p:nvPr/>
              </p:nvSpPr>
              <p:spPr>
                <a:xfrm>
                  <a:off x="6942240" y="3389400"/>
                  <a:ext cx="1581120" cy="26352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181" name=""/>
              <p:cNvGrpSpPr/>
              <p:nvPr/>
            </p:nvGrpSpPr>
            <p:grpSpPr>
              <a:xfrm>
                <a:off x="803160" y="3656160"/>
                <a:ext cx="700200" cy="263520"/>
                <a:chOff x="803160" y="3656160"/>
                <a:chExt cx="700200" cy="263520"/>
              </a:xfrm>
            </p:grpSpPr>
            <p:sp>
              <p:nvSpPr>
                <p:cNvPr id="182" name=""/>
                <p:cNvSpPr/>
                <p:nvPr/>
              </p:nvSpPr>
              <p:spPr>
                <a:xfrm>
                  <a:off x="873000" y="3656160"/>
                  <a:ext cx="555840" cy="2635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D7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183" name=""/>
                <p:cNvSpPr/>
                <p:nvPr/>
              </p:nvSpPr>
              <p:spPr>
                <a:xfrm>
                  <a:off x="803160" y="3656160"/>
                  <a:ext cx="700200" cy="26352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184" name=""/>
              <p:cNvGrpSpPr/>
              <p:nvPr/>
            </p:nvGrpSpPr>
            <p:grpSpPr>
              <a:xfrm>
                <a:off x="1506600" y="3656160"/>
                <a:ext cx="1333440" cy="263520"/>
                <a:chOff x="1506600" y="3656160"/>
                <a:chExt cx="1333440" cy="263520"/>
              </a:xfrm>
            </p:grpSpPr>
            <p:sp>
              <p:nvSpPr>
                <p:cNvPr id="185" name=""/>
                <p:cNvSpPr/>
                <p:nvPr/>
              </p:nvSpPr>
              <p:spPr>
                <a:xfrm>
                  <a:off x="1577880" y="3656160"/>
                  <a:ext cx="1190880" cy="2635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Overcast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186" name=""/>
                <p:cNvSpPr/>
                <p:nvPr/>
              </p:nvSpPr>
              <p:spPr>
                <a:xfrm>
                  <a:off x="1506600" y="3656160"/>
                  <a:ext cx="1333440" cy="26352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187" name=""/>
              <p:cNvGrpSpPr/>
              <p:nvPr/>
            </p:nvGrpSpPr>
            <p:grpSpPr>
              <a:xfrm>
                <a:off x="2846520" y="3656160"/>
                <a:ext cx="1581120" cy="263520"/>
                <a:chOff x="2846520" y="3656160"/>
                <a:chExt cx="1581120" cy="263520"/>
              </a:xfrm>
            </p:grpSpPr>
            <p:sp>
              <p:nvSpPr>
                <p:cNvPr id="188" name=""/>
                <p:cNvSpPr/>
                <p:nvPr/>
              </p:nvSpPr>
              <p:spPr>
                <a:xfrm>
                  <a:off x="2916360" y="3656160"/>
                  <a:ext cx="1436760" cy="2635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Cool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189" name=""/>
                <p:cNvSpPr/>
                <p:nvPr/>
              </p:nvSpPr>
              <p:spPr>
                <a:xfrm>
                  <a:off x="2846520" y="3656160"/>
                  <a:ext cx="1581120" cy="26352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190" name=""/>
              <p:cNvGrpSpPr/>
              <p:nvPr/>
            </p:nvGrpSpPr>
            <p:grpSpPr>
              <a:xfrm>
                <a:off x="4432320" y="3656160"/>
                <a:ext cx="1281240" cy="263520"/>
                <a:chOff x="4432320" y="3656160"/>
                <a:chExt cx="1281240" cy="263520"/>
              </a:xfrm>
            </p:grpSpPr>
            <p:sp>
              <p:nvSpPr>
                <p:cNvPr id="191" name=""/>
                <p:cNvSpPr/>
                <p:nvPr/>
              </p:nvSpPr>
              <p:spPr>
                <a:xfrm>
                  <a:off x="4502160" y="3656160"/>
                  <a:ext cx="1136880" cy="2635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Normal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192" name=""/>
                <p:cNvSpPr/>
                <p:nvPr/>
              </p:nvSpPr>
              <p:spPr>
                <a:xfrm>
                  <a:off x="4432320" y="3656160"/>
                  <a:ext cx="1281240" cy="26352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193" name=""/>
              <p:cNvGrpSpPr/>
              <p:nvPr/>
            </p:nvGrpSpPr>
            <p:grpSpPr>
              <a:xfrm>
                <a:off x="5716440" y="3656160"/>
                <a:ext cx="1221120" cy="263520"/>
                <a:chOff x="5716440" y="3656160"/>
                <a:chExt cx="1221120" cy="263520"/>
              </a:xfrm>
            </p:grpSpPr>
            <p:sp>
              <p:nvSpPr>
                <p:cNvPr id="194" name=""/>
                <p:cNvSpPr/>
                <p:nvPr/>
              </p:nvSpPr>
              <p:spPr>
                <a:xfrm>
                  <a:off x="5788080" y="3656160"/>
                  <a:ext cx="1076400" cy="2635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Strong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195" name=""/>
                <p:cNvSpPr/>
                <p:nvPr/>
              </p:nvSpPr>
              <p:spPr>
                <a:xfrm>
                  <a:off x="5716440" y="3656160"/>
                  <a:ext cx="1221120" cy="26352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196" name=""/>
              <p:cNvGrpSpPr/>
              <p:nvPr/>
            </p:nvGrpSpPr>
            <p:grpSpPr>
              <a:xfrm>
                <a:off x="6942240" y="3656160"/>
                <a:ext cx="1581120" cy="263520"/>
                <a:chOff x="6942240" y="3656160"/>
                <a:chExt cx="1581120" cy="263520"/>
              </a:xfrm>
            </p:grpSpPr>
            <p:sp>
              <p:nvSpPr>
                <p:cNvPr id="197" name=""/>
                <p:cNvSpPr/>
                <p:nvPr/>
              </p:nvSpPr>
              <p:spPr>
                <a:xfrm>
                  <a:off x="7013520" y="3656160"/>
                  <a:ext cx="1436760" cy="2635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Yes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198" name=""/>
                <p:cNvSpPr/>
                <p:nvPr/>
              </p:nvSpPr>
              <p:spPr>
                <a:xfrm>
                  <a:off x="6942240" y="3656160"/>
                  <a:ext cx="1581120" cy="26352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199" name=""/>
              <p:cNvGrpSpPr/>
              <p:nvPr/>
            </p:nvGrpSpPr>
            <p:grpSpPr>
              <a:xfrm>
                <a:off x="803160" y="3925800"/>
                <a:ext cx="700200" cy="263880"/>
                <a:chOff x="803160" y="3925800"/>
                <a:chExt cx="700200" cy="263880"/>
              </a:xfrm>
            </p:grpSpPr>
            <p:sp>
              <p:nvSpPr>
                <p:cNvPr id="200" name=""/>
                <p:cNvSpPr/>
                <p:nvPr/>
              </p:nvSpPr>
              <p:spPr>
                <a:xfrm>
                  <a:off x="873000" y="3925800"/>
                  <a:ext cx="555840" cy="2638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D8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201" name=""/>
                <p:cNvSpPr/>
                <p:nvPr/>
              </p:nvSpPr>
              <p:spPr>
                <a:xfrm>
                  <a:off x="803160" y="3925800"/>
                  <a:ext cx="700200" cy="26388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202" name=""/>
              <p:cNvGrpSpPr/>
              <p:nvPr/>
            </p:nvGrpSpPr>
            <p:grpSpPr>
              <a:xfrm>
                <a:off x="1506600" y="3925800"/>
                <a:ext cx="1333440" cy="263880"/>
                <a:chOff x="1506600" y="3925800"/>
                <a:chExt cx="1333440" cy="263880"/>
              </a:xfrm>
            </p:grpSpPr>
            <p:sp>
              <p:nvSpPr>
                <p:cNvPr id="203" name=""/>
                <p:cNvSpPr/>
                <p:nvPr/>
              </p:nvSpPr>
              <p:spPr>
                <a:xfrm>
                  <a:off x="1577880" y="3925800"/>
                  <a:ext cx="1190880" cy="2638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Sunny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204" name=""/>
                <p:cNvSpPr/>
                <p:nvPr/>
              </p:nvSpPr>
              <p:spPr>
                <a:xfrm>
                  <a:off x="1506600" y="3925800"/>
                  <a:ext cx="1333440" cy="26388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205" name=""/>
              <p:cNvGrpSpPr/>
              <p:nvPr/>
            </p:nvGrpSpPr>
            <p:grpSpPr>
              <a:xfrm>
                <a:off x="2846520" y="3925800"/>
                <a:ext cx="1581120" cy="263880"/>
                <a:chOff x="2846520" y="3925800"/>
                <a:chExt cx="1581120" cy="263880"/>
              </a:xfrm>
            </p:grpSpPr>
            <p:sp>
              <p:nvSpPr>
                <p:cNvPr id="206" name=""/>
                <p:cNvSpPr/>
                <p:nvPr/>
              </p:nvSpPr>
              <p:spPr>
                <a:xfrm>
                  <a:off x="2916360" y="3925800"/>
                  <a:ext cx="1436760" cy="2638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Mild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207" name=""/>
                <p:cNvSpPr/>
                <p:nvPr/>
              </p:nvSpPr>
              <p:spPr>
                <a:xfrm>
                  <a:off x="2846520" y="3925800"/>
                  <a:ext cx="1581120" cy="26388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208" name=""/>
              <p:cNvGrpSpPr/>
              <p:nvPr/>
            </p:nvGrpSpPr>
            <p:grpSpPr>
              <a:xfrm>
                <a:off x="4432320" y="3925800"/>
                <a:ext cx="1281240" cy="263880"/>
                <a:chOff x="4432320" y="3925800"/>
                <a:chExt cx="1281240" cy="263880"/>
              </a:xfrm>
            </p:grpSpPr>
            <p:sp>
              <p:nvSpPr>
                <p:cNvPr id="209" name=""/>
                <p:cNvSpPr/>
                <p:nvPr/>
              </p:nvSpPr>
              <p:spPr>
                <a:xfrm>
                  <a:off x="4502160" y="3925800"/>
                  <a:ext cx="1136880" cy="2638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High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210" name=""/>
                <p:cNvSpPr/>
                <p:nvPr/>
              </p:nvSpPr>
              <p:spPr>
                <a:xfrm>
                  <a:off x="4432320" y="3925800"/>
                  <a:ext cx="1281240" cy="26388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211" name=""/>
              <p:cNvGrpSpPr/>
              <p:nvPr/>
            </p:nvGrpSpPr>
            <p:grpSpPr>
              <a:xfrm>
                <a:off x="5716440" y="3925800"/>
                <a:ext cx="1221120" cy="263880"/>
                <a:chOff x="5716440" y="3925800"/>
                <a:chExt cx="1221120" cy="263880"/>
              </a:xfrm>
            </p:grpSpPr>
            <p:sp>
              <p:nvSpPr>
                <p:cNvPr id="212" name=""/>
                <p:cNvSpPr/>
                <p:nvPr/>
              </p:nvSpPr>
              <p:spPr>
                <a:xfrm>
                  <a:off x="5788080" y="3925800"/>
                  <a:ext cx="1076400" cy="2638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Weak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213" name=""/>
                <p:cNvSpPr/>
                <p:nvPr/>
              </p:nvSpPr>
              <p:spPr>
                <a:xfrm>
                  <a:off x="5716440" y="3925800"/>
                  <a:ext cx="1221120" cy="26388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214" name=""/>
              <p:cNvGrpSpPr/>
              <p:nvPr/>
            </p:nvGrpSpPr>
            <p:grpSpPr>
              <a:xfrm>
                <a:off x="6942240" y="3925800"/>
                <a:ext cx="1581120" cy="263880"/>
                <a:chOff x="6942240" y="3925800"/>
                <a:chExt cx="1581120" cy="263880"/>
              </a:xfrm>
            </p:grpSpPr>
            <p:sp>
              <p:nvSpPr>
                <p:cNvPr id="215" name=""/>
                <p:cNvSpPr/>
                <p:nvPr/>
              </p:nvSpPr>
              <p:spPr>
                <a:xfrm>
                  <a:off x="7013520" y="3925800"/>
                  <a:ext cx="1436760" cy="2638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No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216" name=""/>
                <p:cNvSpPr/>
                <p:nvPr/>
              </p:nvSpPr>
              <p:spPr>
                <a:xfrm>
                  <a:off x="6942240" y="3925800"/>
                  <a:ext cx="1581120" cy="26388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217" name=""/>
              <p:cNvGrpSpPr/>
              <p:nvPr/>
            </p:nvGrpSpPr>
            <p:grpSpPr>
              <a:xfrm>
                <a:off x="803160" y="4192560"/>
                <a:ext cx="700200" cy="263880"/>
                <a:chOff x="803160" y="4192560"/>
                <a:chExt cx="700200" cy="263880"/>
              </a:xfrm>
            </p:grpSpPr>
            <p:sp>
              <p:nvSpPr>
                <p:cNvPr id="218" name=""/>
                <p:cNvSpPr/>
                <p:nvPr/>
              </p:nvSpPr>
              <p:spPr>
                <a:xfrm>
                  <a:off x="873000" y="4192560"/>
                  <a:ext cx="555840" cy="2638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D9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219" name=""/>
                <p:cNvSpPr/>
                <p:nvPr/>
              </p:nvSpPr>
              <p:spPr>
                <a:xfrm>
                  <a:off x="803160" y="4192560"/>
                  <a:ext cx="700200" cy="26388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220" name=""/>
              <p:cNvGrpSpPr/>
              <p:nvPr/>
            </p:nvGrpSpPr>
            <p:grpSpPr>
              <a:xfrm>
                <a:off x="1506600" y="4192560"/>
                <a:ext cx="1333440" cy="263880"/>
                <a:chOff x="1506600" y="4192560"/>
                <a:chExt cx="1333440" cy="263880"/>
              </a:xfrm>
            </p:grpSpPr>
            <p:sp>
              <p:nvSpPr>
                <p:cNvPr id="221" name=""/>
                <p:cNvSpPr/>
                <p:nvPr/>
              </p:nvSpPr>
              <p:spPr>
                <a:xfrm>
                  <a:off x="1577880" y="4192560"/>
                  <a:ext cx="1190880" cy="2638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Sunny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222" name=""/>
                <p:cNvSpPr/>
                <p:nvPr/>
              </p:nvSpPr>
              <p:spPr>
                <a:xfrm>
                  <a:off x="1506600" y="4192560"/>
                  <a:ext cx="1333440" cy="26388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223" name=""/>
              <p:cNvGrpSpPr/>
              <p:nvPr/>
            </p:nvGrpSpPr>
            <p:grpSpPr>
              <a:xfrm>
                <a:off x="2846520" y="4192560"/>
                <a:ext cx="1581120" cy="263880"/>
                <a:chOff x="2846520" y="4192560"/>
                <a:chExt cx="1581120" cy="263880"/>
              </a:xfrm>
            </p:grpSpPr>
            <p:sp>
              <p:nvSpPr>
                <p:cNvPr id="224" name=""/>
                <p:cNvSpPr/>
                <p:nvPr/>
              </p:nvSpPr>
              <p:spPr>
                <a:xfrm>
                  <a:off x="2916360" y="4192560"/>
                  <a:ext cx="1436760" cy="2638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Cool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225" name=""/>
                <p:cNvSpPr/>
                <p:nvPr/>
              </p:nvSpPr>
              <p:spPr>
                <a:xfrm>
                  <a:off x="2846520" y="4192560"/>
                  <a:ext cx="1581120" cy="26388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226" name=""/>
              <p:cNvGrpSpPr/>
              <p:nvPr/>
            </p:nvGrpSpPr>
            <p:grpSpPr>
              <a:xfrm>
                <a:off x="4432320" y="4192560"/>
                <a:ext cx="1281240" cy="263880"/>
                <a:chOff x="4432320" y="4192560"/>
                <a:chExt cx="1281240" cy="263880"/>
              </a:xfrm>
            </p:grpSpPr>
            <p:sp>
              <p:nvSpPr>
                <p:cNvPr id="227" name=""/>
                <p:cNvSpPr/>
                <p:nvPr/>
              </p:nvSpPr>
              <p:spPr>
                <a:xfrm>
                  <a:off x="4502160" y="4192560"/>
                  <a:ext cx="1136880" cy="2638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Normal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228" name=""/>
                <p:cNvSpPr/>
                <p:nvPr/>
              </p:nvSpPr>
              <p:spPr>
                <a:xfrm>
                  <a:off x="4432320" y="4192560"/>
                  <a:ext cx="1281240" cy="26388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229" name=""/>
              <p:cNvGrpSpPr/>
              <p:nvPr/>
            </p:nvGrpSpPr>
            <p:grpSpPr>
              <a:xfrm>
                <a:off x="5716440" y="4192560"/>
                <a:ext cx="1221120" cy="263880"/>
                <a:chOff x="5716440" y="4192560"/>
                <a:chExt cx="1221120" cy="263880"/>
              </a:xfrm>
            </p:grpSpPr>
            <p:sp>
              <p:nvSpPr>
                <p:cNvPr id="230" name=""/>
                <p:cNvSpPr/>
                <p:nvPr/>
              </p:nvSpPr>
              <p:spPr>
                <a:xfrm>
                  <a:off x="5788080" y="4192560"/>
                  <a:ext cx="1076400" cy="2638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Weak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231" name=""/>
                <p:cNvSpPr/>
                <p:nvPr/>
              </p:nvSpPr>
              <p:spPr>
                <a:xfrm>
                  <a:off x="5716440" y="4192560"/>
                  <a:ext cx="1221120" cy="26388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232" name=""/>
              <p:cNvGrpSpPr/>
              <p:nvPr/>
            </p:nvGrpSpPr>
            <p:grpSpPr>
              <a:xfrm>
                <a:off x="6942240" y="4192560"/>
                <a:ext cx="1581120" cy="263880"/>
                <a:chOff x="6942240" y="4192560"/>
                <a:chExt cx="1581120" cy="263880"/>
              </a:xfrm>
            </p:grpSpPr>
            <p:sp>
              <p:nvSpPr>
                <p:cNvPr id="233" name=""/>
                <p:cNvSpPr/>
                <p:nvPr/>
              </p:nvSpPr>
              <p:spPr>
                <a:xfrm>
                  <a:off x="7013520" y="4192560"/>
                  <a:ext cx="1436760" cy="2638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Yes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234" name=""/>
                <p:cNvSpPr/>
                <p:nvPr/>
              </p:nvSpPr>
              <p:spPr>
                <a:xfrm>
                  <a:off x="6942240" y="4192560"/>
                  <a:ext cx="1581120" cy="26388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235" name=""/>
              <p:cNvGrpSpPr/>
              <p:nvPr/>
            </p:nvGrpSpPr>
            <p:grpSpPr>
              <a:xfrm>
                <a:off x="803160" y="4462560"/>
                <a:ext cx="700200" cy="363600"/>
                <a:chOff x="803160" y="4462560"/>
                <a:chExt cx="700200" cy="363600"/>
              </a:xfrm>
            </p:grpSpPr>
            <p:sp>
              <p:nvSpPr>
                <p:cNvPr id="236" name=""/>
                <p:cNvSpPr/>
                <p:nvPr/>
              </p:nvSpPr>
              <p:spPr>
                <a:xfrm>
                  <a:off x="873000" y="4462560"/>
                  <a:ext cx="555840" cy="363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D10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237" name=""/>
                <p:cNvSpPr/>
                <p:nvPr/>
              </p:nvSpPr>
              <p:spPr>
                <a:xfrm>
                  <a:off x="803160" y="4462560"/>
                  <a:ext cx="700200" cy="36360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238" name=""/>
              <p:cNvGrpSpPr/>
              <p:nvPr/>
            </p:nvGrpSpPr>
            <p:grpSpPr>
              <a:xfrm>
                <a:off x="1506600" y="4462560"/>
                <a:ext cx="1333440" cy="363600"/>
                <a:chOff x="1506600" y="4462560"/>
                <a:chExt cx="1333440" cy="363600"/>
              </a:xfrm>
            </p:grpSpPr>
            <p:sp>
              <p:nvSpPr>
                <p:cNvPr id="239" name=""/>
                <p:cNvSpPr/>
                <p:nvPr/>
              </p:nvSpPr>
              <p:spPr>
                <a:xfrm>
                  <a:off x="1577880" y="4462560"/>
                  <a:ext cx="1190880" cy="363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Rain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240" name=""/>
                <p:cNvSpPr/>
                <p:nvPr/>
              </p:nvSpPr>
              <p:spPr>
                <a:xfrm>
                  <a:off x="1506600" y="4462560"/>
                  <a:ext cx="1333440" cy="36360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241" name=""/>
              <p:cNvGrpSpPr/>
              <p:nvPr/>
            </p:nvGrpSpPr>
            <p:grpSpPr>
              <a:xfrm>
                <a:off x="2846520" y="4462560"/>
                <a:ext cx="1581120" cy="363600"/>
                <a:chOff x="2846520" y="4462560"/>
                <a:chExt cx="1581120" cy="363600"/>
              </a:xfrm>
            </p:grpSpPr>
            <p:sp>
              <p:nvSpPr>
                <p:cNvPr id="242" name=""/>
                <p:cNvSpPr/>
                <p:nvPr/>
              </p:nvSpPr>
              <p:spPr>
                <a:xfrm>
                  <a:off x="2916360" y="4462560"/>
                  <a:ext cx="1436760" cy="363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Mild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243" name=""/>
                <p:cNvSpPr/>
                <p:nvPr/>
              </p:nvSpPr>
              <p:spPr>
                <a:xfrm>
                  <a:off x="2846520" y="4462560"/>
                  <a:ext cx="1581120" cy="36360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244" name=""/>
              <p:cNvGrpSpPr/>
              <p:nvPr/>
            </p:nvGrpSpPr>
            <p:grpSpPr>
              <a:xfrm>
                <a:off x="4432320" y="4462560"/>
                <a:ext cx="1281240" cy="363600"/>
                <a:chOff x="4432320" y="4462560"/>
                <a:chExt cx="1281240" cy="363600"/>
              </a:xfrm>
            </p:grpSpPr>
            <p:sp>
              <p:nvSpPr>
                <p:cNvPr id="245" name=""/>
                <p:cNvSpPr/>
                <p:nvPr/>
              </p:nvSpPr>
              <p:spPr>
                <a:xfrm>
                  <a:off x="4502160" y="4462560"/>
                  <a:ext cx="1136880" cy="363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Normal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246" name=""/>
                <p:cNvSpPr/>
                <p:nvPr/>
              </p:nvSpPr>
              <p:spPr>
                <a:xfrm>
                  <a:off x="4432320" y="4462560"/>
                  <a:ext cx="1281240" cy="36360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247" name=""/>
              <p:cNvGrpSpPr/>
              <p:nvPr/>
            </p:nvGrpSpPr>
            <p:grpSpPr>
              <a:xfrm>
                <a:off x="5716440" y="4462560"/>
                <a:ext cx="1221120" cy="363600"/>
                <a:chOff x="5716440" y="4462560"/>
                <a:chExt cx="1221120" cy="363600"/>
              </a:xfrm>
            </p:grpSpPr>
            <p:sp>
              <p:nvSpPr>
                <p:cNvPr id="248" name=""/>
                <p:cNvSpPr/>
                <p:nvPr/>
              </p:nvSpPr>
              <p:spPr>
                <a:xfrm>
                  <a:off x="5788080" y="4462560"/>
                  <a:ext cx="1076400" cy="363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Weak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249" name=""/>
                <p:cNvSpPr/>
                <p:nvPr/>
              </p:nvSpPr>
              <p:spPr>
                <a:xfrm>
                  <a:off x="5716440" y="4462560"/>
                  <a:ext cx="1221120" cy="36360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250" name=""/>
              <p:cNvGrpSpPr/>
              <p:nvPr/>
            </p:nvGrpSpPr>
            <p:grpSpPr>
              <a:xfrm>
                <a:off x="6942240" y="4462560"/>
                <a:ext cx="1581120" cy="363600"/>
                <a:chOff x="6942240" y="4462560"/>
                <a:chExt cx="1581120" cy="363600"/>
              </a:xfrm>
            </p:grpSpPr>
            <p:sp>
              <p:nvSpPr>
                <p:cNvPr id="251" name=""/>
                <p:cNvSpPr/>
                <p:nvPr/>
              </p:nvSpPr>
              <p:spPr>
                <a:xfrm>
                  <a:off x="7013520" y="4462560"/>
                  <a:ext cx="1436760" cy="363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Yes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252" name=""/>
                <p:cNvSpPr/>
                <p:nvPr/>
              </p:nvSpPr>
              <p:spPr>
                <a:xfrm>
                  <a:off x="6942240" y="4462560"/>
                  <a:ext cx="1581120" cy="36360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253" name=""/>
              <p:cNvGrpSpPr/>
              <p:nvPr/>
            </p:nvGrpSpPr>
            <p:grpSpPr>
              <a:xfrm>
                <a:off x="803160" y="4830840"/>
                <a:ext cx="700200" cy="363600"/>
                <a:chOff x="803160" y="4830840"/>
                <a:chExt cx="700200" cy="363600"/>
              </a:xfrm>
            </p:grpSpPr>
            <p:sp>
              <p:nvSpPr>
                <p:cNvPr id="254" name=""/>
                <p:cNvSpPr/>
                <p:nvPr/>
              </p:nvSpPr>
              <p:spPr>
                <a:xfrm>
                  <a:off x="873000" y="4830840"/>
                  <a:ext cx="555840" cy="363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D11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255" name=""/>
                <p:cNvSpPr/>
                <p:nvPr/>
              </p:nvSpPr>
              <p:spPr>
                <a:xfrm>
                  <a:off x="803160" y="4830840"/>
                  <a:ext cx="700200" cy="36360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256" name=""/>
              <p:cNvGrpSpPr/>
              <p:nvPr/>
            </p:nvGrpSpPr>
            <p:grpSpPr>
              <a:xfrm>
                <a:off x="1506600" y="4830840"/>
                <a:ext cx="1333440" cy="363600"/>
                <a:chOff x="1506600" y="4830840"/>
                <a:chExt cx="1333440" cy="363600"/>
              </a:xfrm>
            </p:grpSpPr>
            <p:sp>
              <p:nvSpPr>
                <p:cNvPr id="257" name=""/>
                <p:cNvSpPr/>
                <p:nvPr/>
              </p:nvSpPr>
              <p:spPr>
                <a:xfrm>
                  <a:off x="1577880" y="4830840"/>
                  <a:ext cx="1190880" cy="363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Sunny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258" name=""/>
                <p:cNvSpPr/>
                <p:nvPr/>
              </p:nvSpPr>
              <p:spPr>
                <a:xfrm>
                  <a:off x="1506600" y="4830840"/>
                  <a:ext cx="1333440" cy="36360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259" name=""/>
              <p:cNvGrpSpPr/>
              <p:nvPr/>
            </p:nvGrpSpPr>
            <p:grpSpPr>
              <a:xfrm>
                <a:off x="2846520" y="4830840"/>
                <a:ext cx="1581120" cy="363600"/>
                <a:chOff x="2846520" y="4830840"/>
                <a:chExt cx="1581120" cy="363600"/>
              </a:xfrm>
            </p:grpSpPr>
            <p:sp>
              <p:nvSpPr>
                <p:cNvPr id="260" name=""/>
                <p:cNvSpPr/>
                <p:nvPr/>
              </p:nvSpPr>
              <p:spPr>
                <a:xfrm>
                  <a:off x="2916360" y="4830840"/>
                  <a:ext cx="1436760" cy="363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Mild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261" name=""/>
                <p:cNvSpPr/>
                <p:nvPr/>
              </p:nvSpPr>
              <p:spPr>
                <a:xfrm>
                  <a:off x="2846520" y="4830840"/>
                  <a:ext cx="1581120" cy="36360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262" name=""/>
              <p:cNvGrpSpPr/>
              <p:nvPr/>
            </p:nvGrpSpPr>
            <p:grpSpPr>
              <a:xfrm>
                <a:off x="4432320" y="4830840"/>
                <a:ext cx="1281240" cy="363600"/>
                <a:chOff x="4432320" y="4830840"/>
                <a:chExt cx="1281240" cy="363600"/>
              </a:xfrm>
            </p:grpSpPr>
            <p:sp>
              <p:nvSpPr>
                <p:cNvPr id="263" name=""/>
                <p:cNvSpPr/>
                <p:nvPr/>
              </p:nvSpPr>
              <p:spPr>
                <a:xfrm>
                  <a:off x="4502160" y="4830840"/>
                  <a:ext cx="1136880" cy="363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Normal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264" name=""/>
                <p:cNvSpPr/>
                <p:nvPr/>
              </p:nvSpPr>
              <p:spPr>
                <a:xfrm>
                  <a:off x="4432320" y="4830840"/>
                  <a:ext cx="1281240" cy="36360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265" name=""/>
              <p:cNvGrpSpPr/>
              <p:nvPr/>
            </p:nvGrpSpPr>
            <p:grpSpPr>
              <a:xfrm>
                <a:off x="5716440" y="4830840"/>
                <a:ext cx="1221120" cy="363600"/>
                <a:chOff x="5716440" y="4830840"/>
                <a:chExt cx="1221120" cy="363600"/>
              </a:xfrm>
            </p:grpSpPr>
            <p:sp>
              <p:nvSpPr>
                <p:cNvPr id="266" name=""/>
                <p:cNvSpPr/>
                <p:nvPr/>
              </p:nvSpPr>
              <p:spPr>
                <a:xfrm>
                  <a:off x="5788080" y="4830840"/>
                  <a:ext cx="1076400" cy="363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Strong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267" name=""/>
                <p:cNvSpPr/>
                <p:nvPr/>
              </p:nvSpPr>
              <p:spPr>
                <a:xfrm>
                  <a:off x="5716440" y="4830840"/>
                  <a:ext cx="1221120" cy="36360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268" name=""/>
              <p:cNvGrpSpPr/>
              <p:nvPr/>
            </p:nvGrpSpPr>
            <p:grpSpPr>
              <a:xfrm>
                <a:off x="6942240" y="4830840"/>
                <a:ext cx="1581120" cy="363600"/>
                <a:chOff x="6942240" y="4830840"/>
                <a:chExt cx="1581120" cy="363600"/>
              </a:xfrm>
            </p:grpSpPr>
            <p:sp>
              <p:nvSpPr>
                <p:cNvPr id="269" name=""/>
                <p:cNvSpPr/>
                <p:nvPr/>
              </p:nvSpPr>
              <p:spPr>
                <a:xfrm>
                  <a:off x="7013520" y="4830840"/>
                  <a:ext cx="1436760" cy="363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Yes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270" name=""/>
                <p:cNvSpPr/>
                <p:nvPr/>
              </p:nvSpPr>
              <p:spPr>
                <a:xfrm>
                  <a:off x="6942240" y="4830840"/>
                  <a:ext cx="1581120" cy="36360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271" name=""/>
              <p:cNvGrpSpPr/>
              <p:nvPr/>
            </p:nvGrpSpPr>
            <p:grpSpPr>
              <a:xfrm>
                <a:off x="803160" y="5199120"/>
                <a:ext cx="700200" cy="363600"/>
                <a:chOff x="803160" y="5199120"/>
                <a:chExt cx="700200" cy="363600"/>
              </a:xfrm>
            </p:grpSpPr>
            <p:sp>
              <p:nvSpPr>
                <p:cNvPr id="272" name=""/>
                <p:cNvSpPr/>
                <p:nvPr/>
              </p:nvSpPr>
              <p:spPr>
                <a:xfrm>
                  <a:off x="873000" y="5199120"/>
                  <a:ext cx="555840" cy="363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D12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273" name=""/>
                <p:cNvSpPr/>
                <p:nvPr/>
              </p:nvSpPr>
              <p:spPr>
                <a:xfrm>
                  <a:off x="803160" y="5199120"/>
                  <a:ext cx="700200" cy="36360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274" name=""/>
              <p:cNvGrpSpPr/>
              <p:nvPr/>
            </p:nvGrpSpPr>
            <p:grpSpPr>
              <a:xfrm>
                <a:off x="1506600" y="5199120"/>
                <a:ext cx="1333440" cy="363600"/>
                <a:chOff x="1506600" y="5199120"/>
                <a:chExt cx="1333440" cy="363600"/>
              </a:xfrm>
            </p:grpSpPr>
            <p:sp>
              <p:nvSpPr>
                <p:cNvPr id="275" name=""/>
                <p:cNvSpPr/>
                <p:nvPr/>
              </p:nvSpPr>
              <p:spPr>
                <a:xfrm>
                  <a:off x="1577880" y="5199120"/>
                  <a:ext cx="1190880" cy="363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Overcast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276" name=""/>
                <p:cNvSpPr/>
                <p:nvPr/>
              </p:nvSpPr>
              <p:spPr>
                <a:xfrm>
                  <a:off x="1506600" y="5199120"/>
                  <a:ext cx="1333440" cy="36360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277" name=""/>
              <p:cNvGrpSpPr/>
              <p:nvPr/>
            </p:nvGrpSpPr>
            <p:grpSpPr>
              <a:xfrm>
                <a:off x="2846520" y="5199120"/>
                <a:ext cx="1581120" cy="363600"/>
                <a:chOff x="2846520" y="5199120"/>
                <a:chExt cx="1581120" cy="363600"/>
              </a:xfrm>
            </p:grpSpPr>
            <p:sp>
              <p:nvSpPr>
                <p:cNvPr id="278" name=""/>
                <p:cNvSpPr/>
                <p:nvPr/>
              </p:nvSpPr>
              <p:spPr>
                <a:xfrm>
                  <a:off x="2916360" y="5199120"/>
                  <a:ext cx="1436760" cy="363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Mild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279" name=""/>
                <p:cNvSpPr/>
                <p:nvPr/>
              </p:nvSpPr>
              <p:spPr>
                <a:xfrm>
                  <a:off x="2846520" y="5199120"/>
                  <a:ext cx="1581120" cy="36360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280" name=""/>
              <p:cNvGrpSpPr/>
              <p:nvPr/>
            </p:nvGrpSpPr>
            <p:grpSpPr>
              <a:xfrm>
                <a:off x="4432320" y="5199120"/>
                <a:ext cx="1281240" cy="363600"/>
                <a:chOff x="4432320" y="5199120"/>
                <a:chExt cx="1281240" cy="363600"/>
              </a:xfrm>
            </p:grpSpPr>
            <p:sp>
              <p:nvSpPr>
                <p:cNvPr id="281" name=""/>
                <p:cNvSpPr/>
                <p:nvPr/>
              </p:nvSpPr>
              <p:spPr>
                <a:xfrm>
                  <a:off x="4502160" y="5199120"/>
                  <a:ext cx="1136880" cy="363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High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282" name=""/>
                <p:cNvSpPr/>
                <p:nvPr/>
              </p:nvSpPr>
              <p:spPr>
                <a:xfrm>
                  <a:off x="4432320" y="5199120"/>
                  <a:ext cx="1281240" cy="36360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283" name=""/>
              <p:cNvGrpSpPr/>
              <p:nvPr/>
            </p:nvGrpSpPr>
            <p:grpSpPr>
              <a:xfrm>
                <a:off x="5716440" y="5199120"/>
                <a:ext cx="1221120" cy="363600"/>
                <a:chOff x="5716440" y="5199120"/>
                <a:chExt cx="1221120" cy="363600"/>
              </a:xfrm>
            </p:grpSpPr>
            <p:sp>
              <p:nvSpPr>
                <p:cNvPr id="284" name=""/>
                <p:cNvSpPr/>
                <p:nvPr/>
              </p:nvSpPr>
              <p:spPr>
                <a:xfrm>
                  <a:off x="5788080" y="5199120"/>
                  <a:ext cx="1076400" cy="363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Strong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285" name=""/>
                <p:cNvSpPr/>
                <p:nvPr/>
              </p:nvSpPr>
              <p:spPr>
                <a:xfrm>
                  <a:off x="5716440" y="5199120"/>
                  <a:ext cx="1221120" cy="36360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286" name=""/>
              <p:cNvGrpSpPr/>
              <p:nvPr/>
            </p:nvGrpSpPr>
            <p:grpSpPr>
              <a:xfrm>
                <a:off x="6942240" y="5199120"/>
                <a:ext cx="1581120" cy="363600"/>
                <a:chOff x="6942240" y="5199120"/>
                <a:chExt cx="1581120" cy="363600"/>
              </a:xfrm>
            </p:grpSpPr>
            <p:sp>
              <p:nvSpPr>
                <p:cNvPr id="287" name=""/>
                <p:cNvSpPr/>
                <p:nvPr/>
              </p:nvSpPr>
              <p:spPr>
                <a:xfrm>
                  <a:off x="7013520" y="5199120"/>
                  <a:ext cx="1436760" cy="363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Yes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288" name=""/>
                <p:cNvSpPr/>
                <p:nvPr/>
              </p:nvSpPr>
              <p:spPr>
                <a:xfrm>
                  <a:off x="6942240" y="5199120"/>
                  <a:ext cx="1581120" cy="36360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289" name=""/>
              <p:cNvGrpSpPr/>
              <p:nvPr/>
            </p:nvGrpSpPr>
            <p:grpSpPr>
              <a:xfrm>
                <a:off x="803160" y="5570640"/>
                <a:ext cx="700200" cy="363600"/>
                <a:chOff x="803160" y="5570640"/>
                <a:chExt cx="700200" cy="363600"/>
              </a:xfrm>
            </p:grpSpPr>
            <p:sp>
              <p:nvSpPr>
                <p:cNvPr id="290" name=""/>
                <p:cNvSpPr/>
                <p:nvPr/>
              </p:nvSpPr>
              <p:spPr>
                <a:xfrm>
                  <a:off x="873000" y="5570640"/>
                  <a:ext cx="555840" cy="363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D13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291" name=""/>
                <p:cNvSpPr/>
                <p:nvPr/>
              </p:nvSpPr>
              <p:spPr>
                <a:xfrm>
                  <a:off x="803160" y="5570640"/>
                  <a:ext cx="700200" cy="36360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292" name=""/>
              <p:cNvGrpSpPr/>
              <p:nvPr/>
            </p:nvGrpSpPr>
            <p:grpSpPr>
              <a:xfrm>
                <a:off x="1506600" y="5570640"/>
                <a:ext cx="1333440" cy="363600"/>
                <a:chOff x="1506600" y="5570640"/>
                <a:chExt cx="1333440" cy="363600"/>
              </a:xfrm>
            </p:grpSpPr>
            <p:sp>
              <p:nvSpPr>
                <p:cNvPr id="293" name=""/>
                <p:cNvSpPr/>
                <p:nvPr/>
              </p:nvSpPr>
              <p:spPr>
                <a:xfrm>
                  <a:off x="1577880" y="5570640"/>
                  <a:ext cx="1190880" cy="363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Overcast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294" name=""/>
                <p:cNvSpPr/>
                <p:nvPr/>
              </p:nvSpPr>
              <p:spPr>
                <a:xfrm>
                  <a:off x="1506600" y="5570640"/>
                  <a:ext cx="1333440" cy="36360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295" name=""/>
              <p:cNvGrpSpPr/>
              <p:nvPr/>
            </p:nvGrpSpPr>
            <p:grpSpPr>
              <a:xfrm>
                <a:off x="2846520" y="5570640"/>
                <a:ext cx="1581120" cy="363600"/>
                <a:chOff x="2846520" y="5570640"/>
                <a:chExt cx="1581120" cy="363600"/>
              </a:xfrm>
            </p:grpSpPr>
            <p:sp>
              <p:nvSpPr>
                <p:cNvPr id="296" name=""/>
                <p:cNvSpPr/>
                <p:nvPr/>
              </p:nvSpPr>
              <p:spPr>
                <a:xfrm>
                  <a:off x="2916360" y="5570640"/>
                  <a:ext cx="1436760" cy="363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Hot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297" name=""/>
                <p:cNvSpPr/>
                <p:nvPr/>
              </p:nvSpPr>
              <p:spPr>
                <a:xfrm>
                  <a:off x="2846520" y="5570640"/>
                  <a:ext cx="1581120" cy="36360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298" name=""/>
              <p:cNvGrpSpPr/>
              <p:nvPr/>
            </p:nvGrpSpPr>
            <p:grpSpPr>
              <a:xfrm>
                <a:off x="4432320" y="5570640"/>
                <a:ext cx="1281240" cy="363600"/>
                <a:chOff x="4432320" y="5570640"/>
                <a:chExt cx="1281240" cy="363600"/>
              </a:xfrm>
            </p:grpSpPr>
            <p:sp>
              <p:nvSpPr>
                <p:cNvPr id="299" name=""/>
                <p:cNvSpPr/>
                <p:nvPr/>
              </p:nvSpPr>
              <p:spPr>
                <a:xfrm>
                  <a:off x="4502160" y="5570640"/>
                  <a:ext cx="1136880" cy="363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Normal 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300" name=""/>
                <p:cNvSpPr/>
                <p:nvPr/>
              </p:nvSpPr>
              <p:spPr>
                <a:xfrm>
                  <a:off x="4432320" y="5570640"/>
                  <a:ext cx="1281240" cy="36360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301" name=""/>
              <p:cNvGrpSpPr/>
              <p:nvPr/>
            </p:nvGrpSpPr>
            <p:grpSpPr>
              <a:xfrm>
                <a:off x="5716440" y="5570640"/>
                <a:ext cx="1221120" cy="363600"/>
                <a:chOff x="5716440" y="5570640"/>
                <a:chExt cx="1221120" cy="363600"/>
              </a:xfrm>
            </p:grpSpPr>
            <p:sp>
              <p:nvSpPr>
                <p:cNvPr id="302" name=""/>
                <p:cNvSpPr/>
                <p:nvPr/>
              </p:nvSpPr>
              <p:spPr>
                <a:xfrm>
                  <a:off x="5788080" y="5570640"/>
                  <a:ext cx="1076400" cy="363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Weak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303" name=""/>
                <p:cNvSpPr/>
                <p:nvPr/>
              </p:nvSpPr>
              <p:spPr>
                <a:xfrm>
                  <a:off x="5716440" y="5570640"/>
                  <a:ext cx="1221120" cy="36360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304" name=""/>
              <p:cNvGrpSpPr/>
              <p:nvPr/>
            </p:nvGrpSpPr>
            <p:grpSpPr>
              <a:xfrm>
                <a:off x="6942240" y="5570640"/>
                <a:ext cx="1581120" cy="363600"/>
                <a:chOff x="6942240" y="5570640"/>
                <a:chExt cx="1581120" cy="363600"/>
              </a:xfrm>
            </p:grpSpPr>
            <p:sp>
              <p:nvSpPr>
                <p:cNvPr id="305" name=""/>
                <p:cNvSpPr/>
                <p:nvPr/>
              </p:nvSpPr>
              <p:spPr>
                <a:xfrm>
                  <a:off x="7013520" y="5570640"/>
                  <a:ext cx="1436760" cy="363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Yes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306" name=""/>
                <p:cNvSpPr/>
                <p:nvPr/>
              </p:nvSpPr>
              <p:spPr>
                <a:xfrm>
                  <a:off x="6942240" y="5570640"/>
                  <a:ext cx="1581120" cy="36360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307" name=""/>
              <p:cNvGrpSpPr/>
              <p:nvPr/>
            </p:nvGrpSpPr>
            <p:grpSpPr>
              <a:xfrm>
                <a:off x="803160" y="5938920"/>
                <a:ext cx="700200" cy="363600"/>
                <a:chOff x="803160" y="5938920"/>
                <a:chExt cx="700200" cy="363600"/>
              </a:xfrm>
            </p:grpSpPr>
            <p:sp>
              <p:nvSpPr>
                <p:cNvPr id="308" name=""/>
                <p:cNvSpPr/>
                <p:nvPr/>
              </p:nvSpPr>
              <p:spPr>
                <a:xfrm>
                  <a:off x="873000" y="5938920"/>
                  <a:ext cx="555840" cy="363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D14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309" name=""/>
                <p:cNvSpPr/>
                <p:nvPr/>
              </p:nvSpPr>
              <p:spPr>
                <a:xfrm>
                  <a:off x="803160" y="5938920"/>
                  <a:ext cx="700200" cy="36360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310" name=""/>
              <p:cNvGrpSpPr/>
              <p:nvPr/>
            </p:nvGrpSpPr>
            <p:grpSpPr>
              <a:xfrm>
                <a:off x="1506600" y="5938920"/>
                <a:ext cx="1333440" cy="363600"/>
                <a:chOff x="1506600" y="5938920"/>
                <a:chExt cx="1333440" cy="363600"/>
              </a:xfrm>
            </p:grpSpPr>
            <p:sp>
              <p:nvSpPr>
                <p:cNvPr id="311" name=""/>
                <p:cNvSpPr/>
                <p:nvPr/>
              </p:nvSpPr>
              <p:spPr>
                <a:xfrm>
                  <a:off x="1577880" y="5938920"/>
                  <a:ext cx="1190880" cy="363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Rain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312" name=""/>
                <p:cNvSpPr/>
                <p:nvPr/>
              </p:nvSpPr>
              <p:spPr>
                <a:xfrm>
                  <a:off x="1506600" y="5938920"/>
                  <a:ext cx="1333440" cy="36360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313" name=""/>
              <p:cNvGrpSpPr/>
              <p:nvPr/>
            </p:nvGrpSpPr>
            <p:grpSpPr>
              <a:xfrm>
                <a:off x="2846520" y="5938920"/>
                <a:ext cx="1581120" cy="363600"/>
                <a:chOff x="2846520" y="5938920"/>
                <a:chExt cx="1581120" cy="363600"/>
              </a:xfrm>
            </p:grpSpPr>
            <p:sp>
              <p:nvSpPr>
                <p:cNvPr id="314" name=""/>
                <p:cNvSpPr/>
                <p:nvPr/>
              </p:nvSpPr>
              <p:spPr>
                <a:xfrm>
                  <a:off x="2916360" y="5938920"/>
                  <a:ext cx="1436760" cy="363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Mild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315" name=""/>
                <p:cNvSpPr/>
                <p:nvPr/>
              </p:nvSpPr>
              <p:spPr>
                <a:xfrm>
                  <a:off x="2846520" y="5938920"/>
                  <a:ext cx="1581120" cy="36360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316" name=""/>
              <p:cNvGrpSpPr/>
              <p:nvPr/>
            </p:nvGrpSpPr>
            <p:grpSpPr>
              <a:xfrm>
                <a:off x="4432320" y="5938920"/>
                <a:ext cx="1281240" cy="363600"/>
                <a:chOff x="4432320" y="5938920"/>
                <a:chExt cx="1281240" cy="363600"/>
              </a:xfrm>
            </p:grpSpPr>
            <p:sp>
              <p:nvSpPr>
                <p:cNvPr id="317" name=""/>
                <p:cNvSpPr/>
                <p:nvPr/>
              </p:nvSpPr>
              <p:spPr>
                <a:xfrm>
                  <a:off x="4502160" y="5938920"/>
                  <a:ext cx="1136880" cy="363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High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318" name=""/>
                <p:cNvSpPr/>
                <p:nvPr/>
              </p:nvSpPr>
              <p:spPr>
                <a:xfrm>
                  <a:off x="4432320" y="5938920"/>
                  <a:ext cx="1281240" cy="36360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319" name=""/>
              <p:cNvGrpSpPr/>
              <p:nvPr/>
            </p:nvGrpSpPr>
            <p:grpSpPr>
              <a:xfrm>
                <a:off x="5716440" y="5938920"/>
                <a:ext cx="1221120" cy="363600"/>
                <a:chOff x="5716440" y="5938920"/>
                <a:chExt cx="1221120" cy="363600"/>
              </a:xfrm>
            </p:grpSpPr>
            <p:sp>
              <p:nvSpPr>
                <p:cNvPr id="320" name=""/>
                <p:cNvSpPr/>
                <p:nvPr/>
              </p:nvSpPr>
              <p:spPr>
                <a:xfrm>
                  <a:off x="5788080" y="5938920"/>
                  <a:ext cx="1076400" cy="363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Strong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321" name=""/>
                <p:cNvSpPr/>
                <p:nvPr/>
              </p:nvSpPr>
              <p:spPr>
                <a:xfrm>
                  <a:off x="5716440" y="5938920"/>
                  <a:ext cx="1221120" cy="36360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  <p:grpSp>
            <p:nvGrpSpPr>
              <p:cNvPr id="322" name=""/>
              <p:cNvGrpSpPr/>
              <p:nvPr/>
            </p:nvGrpSpPr>
            <p:grpSpPr>
              <a:xfrm>
                <a:off x="6942240" y="5938920"/>
                <a:ext cx="1581120" cy="363600"/>
                <a:chOff x="6942240" y="5938920"/>
                <a:chExt cx="1581120" cy="363600"/>
              </a:xfrm>
            </p:grpSpPr>
            <p:sp>
              <p:nvSpPr>
                <p:cNvPr id="323" name=""/>
                <p:cNvSpPr/>
                <p:nvPr/>
              </p:nvSpPr>
              <p:spPr>
                <a:xfrm>
                  <a:off x="7013520" y="5938920"/>
                  <a:ext cx="1436760" cy="363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r>
                    <a:rPr b="0" lang="en-US" sz="1400" spc="-1" strike="noStrike">
                      <a:solidFill>
                        <a:srgbClr val="000000"/>
                      </a:solidFill>
                      <a:latin typeface="Tahoma"/>
                      <a:ea typeface="DejaVu Sans"/>
                    </a:rPr>
                    <a:t>No</a:t>
                  </a: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1"/>
                    </a:spcBef>
                    <a:spcAft>
                      <a:spcPts val="11"/>
                    </a:spcAft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  <a:tab algn="l" pos="1051560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324" name=""/>
                <p:cNvSpPr/>
                <p:nvPr/>
              </p:nvSpPr>
              <p:spPr>
                <a:xfrm>
                  <a:off x="6942240" y="5938920"/>
                  <a:ext cx="1581120" cy="363600"/>
                </a:xfrm>
                <a:prstGeom prst="rect">
                  <a:avLst/>
                </a:prstGeom>
                <a:noFill/>
                <a:ln cap="sq" w="9360">
                  <a:solidFill>
                    <a:srgbClr val="a0a0a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ffffff"/>
                    </a:solidFill>
                    <a:latin typeface="Tahoma"/>
                    <a:ea typeface="DejaVu Sans"/>
                  </a:endParaRPr>
                </a:p>
              </p:txBody>
            </p:sp>
          </p:grpSp>
        </p:grpSp>
        <p:sp>
          <p:nvSpPr>
            <p:cNvPr id="325" name=""/>
            <p:cNvSpPr/>
            <p:nvPr/>
          </p:nvSpPr>
          <p:spPr>
            <a:xfrm>
              <a:off x="798480" y="1676520"/>
              <a:ext cx="7731360" cy="4629240"/>
            </a:xfrm>
            <a:prstGeom prst="rect">
              <a:avLst/>
            </a:prstGeom>
            <a:noFill/>
            <a:ln cap="sq" w="9360">
              <a:solidFill>
                <a:srgbClr val="a0a0a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Tahoma"/>
                <a:ea typeface="DejaVu Sans"/>
              </a:endParaRPr>
            </a:p>
          </p:txBody>
        </p:sp>
      </p:grpSp>
      <p:sp>
        <p:nvSpPr>
          <p:cNvPr id="326" name=""/>
          <p:cNvSpPr/>
          <p:nvPr/>
        </p:nvSpPr>
        <p:spPr>
          <a:xfrm>
            <a:off x="0" y="5943600"/>
            <a:ext cx="91425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Tahoma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cc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"/>
          <p:cNvSpPr/>
          <p:nvPr/>
        </p:nvSpPr>
        <p:spPr>
          <a:xfrm>
            <a:off x="457200" y="380880"/>
            <a:ext cx="822816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2800" spc="-1" strike="noStrike">
                <a:solidFill>
                  <a:srgbClr val="e5ffff"/>
                </a:solidFill>
                <a:latin typeface="Tahoma"/>
                <a:ea typeface="DejaVu Sans"/>
              </a:rPr>
              <a:t>Decision Tree Learning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" name=""/>
          <p:cNvSpPr/>
          <p:nvPr/>
        </p:nvSpPr>
        <p:spPr>
          <a:xfrm>
            <a:off x="457200" y="1981080"/>
            <a:ext cx="8228160" cy="41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Let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741240" indent="-284040">
              <a:lnSpc>
                <a:spcPct val="100000"/>
              </a:lnSpc>
              <a:spcBef>
                <a:spcPts val="513"/>
              </a:spcBef>
              <a:spcAft>
                <a:spcPts val="11"/>
              </a:spcAft>
              <a:buClr>
                <a:srgbClr val="ffcc00"/>
              </a:buClr>
              <a:buSzPct val="65000"/>
              <a:buFont typeface="Wingdings" charset="2"/>
              <a:buChar char=""/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  <a:ea typeface="Noto Sans CJK SC"/>
              </a:rPr>
              <a:t>E([X+,Y-]) represent that there are X positive training elements and Y negative elements.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Therefore the Entropy for the training data, E(S), can be represented as E([9+,5-]) because of the 14 training examples 9 of them are </a:t>
            </a:r>
            <a:r>
              <a:rPr b="1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yes 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and 5 of them are </a:t>
            </a:r>
            <a:r>
              <a:rPr b="1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no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cc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"/>
          <p:cNvSpPr/>
          <p:nvPr/>
        </p:nvSpPr>
        <p:spPr>
          <a:xfrm>
            <a:off x="457200" y="380880"/>
            <a:ext cx="822816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2800" spc="-1" strike="noStrike">
                <a:solidFill>
                  <a:srgbClr val="e5ffff"/>
                </a:solidFill>
                <a:latin typeface="Tahoma"/>
                <a:ea typeface="DejaVu Sans"/>
              </a:rPr>
              <a:t>Decision Tree Learning:</a:t>
            </a:r>
            <a:br>
              <a:rPr sz="2800"/>
            </a:br>
            <a:r>
              <a:rPr b="0" lang="en-US" sz="2800" spc="-1" strike="noStrike">
                <a:solidFill>
                  <a:srgbClr val="e5ffff"/>
                </a:solidFill>
                <a:latin typeface="Tahoma"/>
                <a:ea typeface="DejaVu Sans"/>
              </a:rPr>
              <a:t>A Simple Example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"/>
          <p:cNvSpPr/>
          <p:nvPr/>
        </p:nvSpPr>
        <p:spPr>
          <a:xfrm>
            <a:off x="457200" y="1981080"/>
            <a:ext cx="8228160" cy="41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Let’s start off by calculating the Entropy of the Training Set.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E(S) = E([9+,5-]) = (-9/14 log</a:t>
            </a:r>
            <a:r>
              <a:rPr b="0" lang="en-US" sz="2400" spc="-1" strike="noStrike" baseline="-25000">
                <a:solidFill>
                  <a:srgbClr val="000000"/>
                </a:solidFill>
                <a:latin typeface="Tahoma"/>
                <a:ea typeface="DejaVu Sans"/>
              </a:rPr>
              <a:t>2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 9/14) + (-5/14 log</a:t>
            </a:r>
            <a:r>
              <a:rPr b="0" lang="en-US" sz="2400" spc="-1" strike="noStrike" baseline="-25000">
                <a:solidFill>
                  <a:srgbClr val="000000"/>
                </a:solidFill>
                <a:latin typeface="Tahoma"/>
                <a:ea typeface="DejaVu Sans"/>
              </a:rPr>
              <a:t>2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 5/14)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= 0.94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cc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"/>
          <p:cNvSpPr/>
          <p:nvPr/>
        </p:nvSpPr>
        <p:spPr>
          <a:xfrm>
            <a:off x="457200" y="380880"/>
            <a:ext cx="822816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2800" spc="-1" strike="noStrike">
                <a:solidFill>
                  <a:srgbClr val="e5ffff"/>
                </a:solidFill>
                <a:latin typeface="Tahoma"/>
                <a:ea typeface="DejaVu Sans"/>
              </a:rPr>
              <a:t>Decision Tree Learning:</a:t>
            </a:r>
            <a:br>
              <a:rPr sz="2800"/>
            </a:br>
            <a:r>
              <a:rPr b="0" lang="en-US" sz="2800" spc="-1" strike="noStrike">
                <a:solidFill>
                  <a:srgbClr val="e5ffff"/>
                </a:solidFill>
                <a:latin typeface="Tahoma"/>
                <a:ea typeface="DejaVu Sans"/>
              </a:rPr>
              <a:t>A Simple Example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"/>
          <p:cNvSpPr/>
          <p:nvPr/>
        </p:nvSpPr>
        <p:spPr>
          <a:xfrm>
            <a:off x="457200" y="1981080"/>
            <a:ext cx="8228160" cy="41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Next we will need to calculate the information gain G(S,A) for each attribute A where A is taken from the set {Outlook, Temperature, Humidity, Wind}.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cc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"/>
          <p:cNvSpPr/>
          <p:nvPr/>
        </p:nvSpPr>
        <p:spPr>
          <a:xfrm>
            <a:off x="457200" y="228600"/>
            <a:ext cx="8228160" cy="58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The information gain for Outlook is: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741240" indent="-284040">
              <a:lnSpc>
                <a:spcPct val="100000"/>
              </a:lnSpc>
              <a:spcBef>
                <a:spcPts val="513"/>
              </a:spcBef>
              <a:spcAft>
                <a:spcPts val="11"/>
              </a:spcAft>
              <a:buClr>
                <a:srgbClr val="ffcc00"/>
              </a:buClr>
              <a:buSzPct val="65000"/>
              <a:buFont typeface="Wingdings" charset="2"/>
              <a:buChar char=""/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  <a:ea typeface="Noto Sans CJK SC"/>
              </a:rPr>
              <a:t>G(S,Outlook) = E(S) – [5/14 * E(Outlook=sunny) + 4/14 * E(Outlook = overcast) + 5/14 * E(Outlook=rain)]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741240" indent="-284040">
              <a:lnSpc>
                <a:spcPct val="100000"/>
              </a:lnSpc>
              <a:spcBef>
                <a:spcPts val="513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741240">
              <a:lnSpc>
                <a:spcPct val="100000"/>
              </a:lnSpc>
              <a:spcBef>
                <a:spcPts val="513"/>
              </a:spcBef>
              <a:spcAft>
                <a:spcPts val="11"/>
              </a:spcAft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741240">
              <a:lnSpc>
                <a:spcPct val="100000"/>
              </a:lnSpc>
              <a:spcBef>
                <a:spcPts val="513"/>
              </a:spcBef>
              <a:spcAft>
                <a:spcPts val="11"/>
              </a:spcAft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741240">
              <a:lnSpc>
                <a:spcPct val="100000"/>
              </a:lnSpc>
              <a:spcBef>
                <a:spcPts val="513"/>
              </a:spcBef>
              <a:spcAft>
                <a:spcPts val="11"/>
              </a:spcAft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741240">
              <a:lnSpc>
                <a:spcPct val="100000"/>
              </a:lnSpc>
              <a:spcBef>
                <a:spcPts val="513"/>
              </a:spcBef>
              <a:spcAft>
                <a:spcPts val="11"/>
              </a:spcAft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741240">
              <a:lnSpc>
                <a:spcPct val="100000"/>
              </a:lnSpc>
              <a:spcBef>
                <a:spcPts val="513"/>
              </a:spcBef>
              <a:spcAft>
                <a:spcPts val="11"/>
              </a:spcAft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741240">
              <a:lnSpc>
                <a:spcPct val="100000"/>
              </a:lnSpc>
              <a:spcBef>
                <a:spcPts val="513"/>
              </a:spcBef>
              <a:spcAft>
                <a:spcPts val="11"/>
              </a:spcAft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741240">
              <a:lnSpc>
                <a:spcPct val="100000"/>
              </a:lnSpc>
              <a:spcBef>
                <a:spcPts val="513"/>
              </a:spcBef>
              <a:spcAft>
                <a:spcPts val="11"/>
              </a:spcAft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741240">
              <a:lnSpc>
                <a:spcPct val="100000"/>
              </a:lnSpc>
              <a:spcBef>
                <a:spcPts val="513"/>
              </a:spcBef>
              <a:spcAft>
                <a:spcPts val="11"/>
              </a:spcAft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741240">
              <a:lnSpc>
                <a:spcPct val="100000"/>
              </a:lnSpc>
              <a:spcBef>
                <a:spcPts val="513"/>
              </a:spcBef>
              <a:spcAft>
                <a:spcPts val="11"/>
              </a:spcAft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1" marL="741240" indent="-284040">
              <a:lnSpc>
                <a:spcPct val="100000"/>
              </a:lnSpc>
              <a:spcBef>
                <a:spcPts val="513"/>
              </a:spcBef>
              <a:spcAft>
                <a:spcPts val="11"/>
              </a:spcAft>
              <a:buClr>
                <a:srgbClr val="ffcc00"/>
              </a:buClr>
              <a:buSzPct val="65000"/>
              <a:buFont typeface="Wingdings" charset="2"/>
              <a:buChar char=""/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  <a:ea typeface="Noto Sans CJK SC"/>
              </a:rPr>
              <a:t>G(S,Outlook) = E([9+,5-]) – [5/14*E(2+,3-) + 4/14*E([4+,0-]) + 5/14*E([3+,2-])]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741240" indent="-284040">
              <a:lnSpc>
                <a:spcPct val="100000"/>
              </a:lnSpc>
              <a:spcBef>
                <a:spcPts val="513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1" marL="741240" indent="-284040">
              <a:lnSpc>
                <a:spcPct val="100000"/>
              </a:lnSpc>
              <a:spcBef>
                <a:spcPts val="513"/>
              </a:spcBef>
              <a:spcAft>
                <a:spcPts val="11"/>
              </a:spcAft>
              <a:buClr>
                <a:srgbClr val="ffcc00"/>
              </a:buClr>
              <a:buSzPct val="65000"/>
              <a:buFont typeface="Wingdings" charset="2"/>
              <a:buChar char=""/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  <a:ea typeface="Noto Sans CJK SC"/>
              </a:rPr>
              <a:t>G(S,Outlook) = 0.94 – [5/14*0.971 + 4/14*0.0 + 5/14*0.971]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1" marL="741240" indent="-284040">
              <a:lnSpc>
                <a:spcPct val="100000"/>
              </a:lnSpc>
              <a:spcBef>
                <a:spcPts val="513"/>
              </a:spcBef>
              <a:spcAft>
                <a:spcPts val="11"/>
              </a:spcAft>
              <a:buClr>
                <a:srgbClr val="ffcc00"/>
              </a:buClr>
              <a:buSzPct val="65000"/>
              <a:buFont typeface="Wingdings" charset="2"/>
              <a:buChar char=""/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ahoma"/>
                <a:ea typeface="Noto Sans CJK SC"/>
              </a:rPr>
              <a:t>G(S,Outlook) = 0.246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741240" indent="-284040">
              <a:lnSpc>
                <a:spcPct val="100000"/>
              </a:lnSpc>
              <a:spcBef>
                <a:spcPts val="513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34" name="" descr=""/>
          <p:cNvPicPr/>
          <p:nvPr/>
        </p:nvPicPr>
        <p:blipFill>
          <a:blip r:embed="rId1"/>
          <a:stretch/>
        </p:blipFill>
        <p:spPr>
          <a:xfrm>
            <a:off x="1143000" y="1371600"/>
            <a:ext cx="6923160" cy="3535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cc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"/>
          <p:cNvSpPr/>
          <p:nvPr/>
        </p:nvSpPr>
        <p:spPr>
          <a:xfrm>
            <a:off x="457200" y="77760"/>
            <a:ext cx="8228160" cy="586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G(S,Temperature) = 0.94 – [4/14*E(Temperature=hot) + 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6/14*E(Temperature=mild) + 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4/14*E(Temperature=cool)]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G(S,Temperature) = 0.94 – [4/14*E([2+,2-]) +     6/14*E([4+,2-]) + 4/14*E([3+,1-])]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G(S,Temperature) = 0.94 – [4/14 + 6/14*0.918 + 4/14*0.811] 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G(S,Temperature) = 0.029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36" name="" descr=""/>
          <p:cNvPicPr/>
          <p:nvPr/>
        </p:nvPicPr>
        <p:blipFill>
          <a:blip r:embed="rId1"/>
          <a:stretch/>
        </p:blipFill>
        <p:spPr>
          <a:xfrm>
            <a:off x="792000" y="2057400"/>
            <a:ext cx="7893360" cy="3494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cc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"/>
          <p:cNvSpPr/>
          <p:nvPr/>
        </p:nvSpPr>
        <p:spPr>
          <a:xfrm>
            <a:off x="457200" y="457200"/>
            <a:ext cx="8228160" cy="594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G(S,Humidity) = 0.94 – [7/14*E(Humidity=high) + 7/14*E(Humidity=normal)]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G(S,Humidity = 0.94 – [7/14*E([3+,4-]) + 7/14*E([6+,1-])]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G(S,Humidity = 0.94 – [7/14*0.985 + 7/14*0.592]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G(S,Humidity) = 0.1515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38" name="" descr=""/>
          <p:cNvPicPr/>
          <p:nvPr/>
        </p:nvPicPr>
        <p:blipFill>
          <a:blip r:embed="rId1"/>
          <a:stretch/>
        </p:blipFill>
        <p:spPr>
          <a:xfrm>
            <a:off x="1692360" y="2286000"/>
            <a:ext cx="5850000" cy="228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cc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"/>
          <p:cNvSpPr/>
          <p:nvPr/>
        </p:nvSpPr>
        <p:spPr>
          <a:xfrm>
            <a:off x="457200" y="380880"/>
            <a:ext cx="822816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Tahoma"/>
              <a:ea typeface="DejaVu Sans"/>
            </a:endParaRPr>
          </a:p>
        </p:txBody>
      </p:sp>
      <p:sp>
        <p:nvSpPr>
          <p:cNvPr id="340" name=""/>
          <p:cNvSpPr/>
          <p:nvPr/>
        </p:nvSpPr>
        <p:spPr>
          <a:xfrm>
            <a:off x="457200" y="1981080"/>
            <a:ext cx="8228160" cy="41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G(S,Wind) = 0.94 – [8/14*0.811 + 6/14*1.00]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G(S,Wind) = 0.048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G(S,outlook) is the highest. So outlook is the root of our decision tree.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cc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"/>
          <p:cNvSpPr/>
          <p:nvPr/>
        </p:nvSpPr>
        <p:spPr>
          <a:xfrm>
            <a:off x="457200" y="380880"/>
            <a:ext cx="822816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2800" spc="-1" strike="noStrike">
                <a:solidFill>
                  <a:srgbClr val="e5ffff"/>
                </a:solidFill>
                <a:latin typeface="Tahoma"/>
                <a:ea typeface="DejaVu Sans"/>
              </a:rPr>
              <a:t>Decision Tree Learning:</a:t>
            </a:r>
            <a:br>
              <a:rPr sz="2800"/>
            </a:br>
            <a:r>
              <a:rPr b="0" lang="en-US" sz="2800" spc="-1" strike="noStrike">
                <a:solidFill>
                  <a:srgbClr val="e5ffff"/>
                </a:solidFill>
                <a:latin typeface="Tahoma"/>
                <a:ea typeface="DejaVu Sans"/>
              </a:rPr>
              <a:t>A Simple Example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"/>
          <p:cNvSpPr/>
          <p:nvPr/>
        </p:nvSpPr>
        <p:spPr>
          <a:xfrm>
            <a:off x="457200" y="1981080"/>
            <a:ext cx="8228160" cy="41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Outlook is our winner!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43" name="" descr=""/>
          <p:cNvPicPr/>
          <p:nvPr/>
        </p:nvPicPr>
        <p:blipFill>
          <a:blip r:embed="rId1"/>
          <a:stretch/>
        </p:blipFill>
        <p:spPr>
          <a:xfrm>
            <a:off x="2438280" y="2514600"/>
            <a:ext cx="5490000" cy="3570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cc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"/>
          <p:cNvSpPr/>
          <p:nvPr/>
        </p:nvSpPr>
        <p:spPr>
          <a:xfrm>
            <a:off x="457200" y="457200"/>
            <a:ext cx="8228160" cy="41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Now that we have discovered the root of our decision tree we must now recursively find the nodes that should go below Sunny, Overcast, and Rain.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45" name="" descr=""/>
          <p:cNvPicPr/>
          <p:nvPr/>
        </p:nvPicPr>
        <p:blipFill>
          <a:blip r:embed="rId1"/>
          <a:stretch/>
        </p:blipFill>
        <p:spPr>
          <a:xfrm>
            <a:off x="685800" y="1828800"/>
            <a:ext cx="7675560" cy="4799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cc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"/>
          <p:cNvSpPr/>
          <p:nvPr/>
        </p:nvSpPr>
        <p:spPr>
          <a:xfrm>
            <a:off x="457200" y="380880"/>
            <a:ext cx="822816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Tahoma"/>
              <a:ea typeface="DejaVu Sans"/>
            </a:endParaRPr>
          </a:p>
        </p:txBody>
      </p:sp>
      <p:sp>
        <p:nvSpPr>
          <p:cNvPr id="347" name=""/>
          <p:cNvSpPr/>
          <p:nvPr/>
        </p:nvSpPr>
        <p:spPr>
          <a:xfrm>
            <a:off x="457200" y="1981080"/>
            <a:ext cx="8228160" cy="41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If Outlook=Rain is considered next,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cc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"/>
          <p:cNvSpPr/>
          <p:nvPr/>
        </p:nvSpPr>
        <p:spPr>
          <a:xfrm>
            <a:off x="457200" y="228600"/>
            <a:ext cx="8228160" cy="41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,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49" name="" descr=""/>
          <p:cNvPicPr/>
          <p:nvPr/>
        </p:nvPicPr>
        <p:blipFill>
          <a:blip r:embed="rId1"/>
          <a:stretch/>
        </p:blipFill>
        <p:spPr>
          <a:xfrm>
            <a:off x="685800" y="276120"/>
            <a:ext cx="7732800" cy="2237040"/>
          </a:xfrm>
          <a:prstGeom prst="rect">
            <a:avLst/>
          </a:prstGeom>
          <a:ln w="0">
            <a:noFill/>
          </a:ln>
        </p:spPr>
      </p:pic>
      <p:pic>
        <p:nvPicPr>
          <p:cNvPr id="350" name="" descr=""/>
          <p:cNvPicPr/>
          <p:nvPr/>
        </p:nvPicPr>
        <p:blipFill>
          <a:blip r:embed="rId2"/>
          <a:stretch/>
        </p:blipFill>
        <p:spPr>
          <a:xfrm>
            <a:off x="647640" y="2886120"/>
            <a:ext cx="7809120" cy="3284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cc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"/>
          <p:cNvSpPr/>
          <p:nvPr/>
        </p:nvSpPr>
        <p:spPr>
          <a:xfrm>
            <a:off x="457200" y="228600"/>
            <a:ext cx="8228160" cy="41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E(S-Rain)=0.971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G(Outlook=Rain, Temperature)= 0.0192.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,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52" name="" descr=""/>
          <p:cNvPicPr/>
          <p:nvPr/>
        </p:nvPicPr>
        <p:blipFill>
          <a:blip r:embed="rId1"/>
          <a:stretch/>
        </p:blipFill>
        <p:spPr>
          <a:xfrm>
            <a:off x="1038240" y="1828800"/>
            <a:ext cx="5589720" cy="1351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cc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"/>
          <p:cNvSpPr/>
          <p:nvPr/>
        </p:nvSpPr>
        <p:spPr>
          <a:xfrm>
            <a:off x="457200" y="228600"/>
            <a:ext cx="8228160" cy="41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E(S-Rain)=0.971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G(Outlook=Rain, Humidity) = 0.971 – [2/5*E(Outlook=Rain ^ Humidity=high) + 3/5*E(Outlook=Rain ^Humidity=normal]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G(Outlook=Rain, Humidity) = 0.0192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G(Outlook=Rain, Humidity) = 0.0192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,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54" name="" descr=""/>
          <p:cNvPicPr/>
          <p:nvPr/>
        </p:nvPicPr>
        <p:blipFill>
          <a:blip r:embed="rId1"/>
          <a:stretch/>
        </p:blipFill>
        <p:spPr>
          <a:xfrm>
            <a:off x="457200" y="2743200"/>
            <a:ext cx="7533000" cy="1598760"/>
          </a:xfrm>
          <a:prstGeom prst="rect">
            <a:avLst/>
          </a:prstGeom>
          <a:ln w="0">
            <a:noFill/>
          </a:ln>
        </p:spPr>
      </p:pic>
      <p:pic>
        <p:nvPicPr>
          <p:cNvPr id="355" name="" descr=""/>
          <p:cNvPicPr/>
          <p:nvPr/>
        </p:nvPicPr>
        <p:blipFill>
          <a:blip r:embed="rId2"/>
          <a:stretch/>
        </p:blipFill>
        <p:spPr>
          <a:xfrm>
            <a:off x="685800" y="4381560"/>
            <a:ext cx="6894720" cy="1560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cc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"/>
          <p:cNvSpPr/>
          <p:nvPr/>
        </p:nvSpPr>
        <p:spPr>
          <a:xfrm>
            <a:off x="457200" y="192240"/>
            <a:ext cx="8228160" cy="41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G(Outlook=Rain,Wind) = 0.97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,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57" name="" descr=""/>
          <p:cNvPicPr/>
          <p:nvPr/>
        </p:nvPicPr>
        <p:blipFill>
          <a:blip r:embed="rId1"/>
          <a:stretch/>
        </p:blipFill>
        <p:spPr>
          <a:xfrm>
            <a:off x="723960" y="457200"/>
            <a:ext cx="7047000" cy="2008440"/>
          </a:xfrm>
          <a:prstGeom prst="rect">
            <a:avLst/>
          </a:prstGeom>
          <a:ln w="0">
            <a:noFill/>
          </a:ln>
        </p:spPr>
      </p:pic>
      <p:pic>
        <p:nvPicPr>
          <p:cNvPr id="358" name="" descr=""/>
          <p:cNvPicPr/>
          <p:nvPr/>
        </p:nvPicPr>
        <p:blipFill>
          <a:blip r:embed="rId2"/>
          <a:stretch/>
        </p:blipFill>
        <p:spPr>
          <a:xfrm>
            <a:off x="723960" y="2971800"/>
            <a:ext cx="7047000" cy="2008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cc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"/>
          <p:cNvSpPr/>
          <p:nvPr/>
        </p:nvSpPr>
        <p:spPr>
          <a:xfrm>
            <a:off x="457200" y="380880"/>
            <a:ext cx="822816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2800" spc="-1" strike="noStrike">
                <a:solidFill>
                  <a:srgbClr val="e5ffff"/>
                </a:solidFill>
                <a:latin typeface="Tahoma"/>
                <a:ea typeface="DejaVu Sans"/>
              </a:rPr>
              <a:t>Decision Tree Learning:</a:t>
            </a:r>
            <a:br>
              <a:rPr sz="2800"/>
            </a:br>
            <a:r>
              <a:rPr b="0" lang="en-US" sz="2800" spc="-1" strike="noStrike">
                <a:solidFill>
                  <a:srgbClr val="e5ffff"/>
                </a:solidFill>
                <a:latin typeface="Tahoma"/>
                <a:ea typeface="DejaVu Sans"/>
              </a:rPr>
              <a:t>A Simple Example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"/>
          <p:cNvSpPr/>
          <p:nvPr/>
        </p:nvSpPr>
        <p:spPr>
          <a:xfrm>
            <a:off x="457200" y="1789200"/>
            <a:ext cx="8228160" cy="49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If Outlook=Rain is considered next, following are the values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G(Outlook=Rain, Humidity) = 0.971 – [2/5*E(Outlook=Rain ^ Humidity=high) + 3/5*E(Outlook=Rain ^Humidity=normal]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G(Outlook=Rain, Humidity) = 0.0192(0.02)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G(Outlook=Rain,Wind) = 0.971- [3/5*0 + 2/5*0]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G(Outlook=Rain,Wind) = 0.971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G(Outlook=Rain, Temperature)= 0.0199.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0"/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This value will be less than wind as it is 0.971.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cc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"/>
          <p:cNvSpPr/>
          <p:nvPr/>
        </p:nvSpPr>
        <p:spPr>
          <a:xfrm>
            <a:off x="457200" y="380880"/>
            <a:ext cx="822816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2800" spc="-1" strike="noStrike">
                <a:solidFill>
                  <a:srgbClr val="e5ffff"/>
                </a:solidFill>
                <a:latin typeface="Tahoma"/>
                <a:ea typeface="DejaVu Sans"/>
              </a:rPr>
              <a:t>Decision Tree Learning:</a:t>
            </a:r>
            <a:br>
              <a:rPr sz="2800"/>
            </a:br>
            <a:r>
              <a:rPr b="0" lang="en-US" sz="2800" spc="-1" strike="noStrike">
                <a:solidFill>
                  <a:srgbClr val="e5ffff"/>
                </a:solidFill>
                <a:latin typeface="Tahoma"/>
                <a:ea typeface="DejaVu Sans"/>
              </a:rPr>
              <a:t>A Simple Example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"/>
          <p:cNvSpPr/>
          <p:nvPr/>
        </p:nvSpPr>
        <p:spPr>
          <a:xfrm>
            <a:off x="457200" y="1562040"/>
            <a:ext cx="8228160" cy="453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911160"/>
                <a:tab algn="l" pos="1825560"/>
                <a:tab algn="l" pos="2739960"/>
                <a:tab algn="l" pos="3654360"/>
                <a:tab algn="l" pos="4568760"/>
                <a:tab algn="l" pos="5483160"/>
                <a:tab algn="l" pos="6397560"/>
                <a:tab algn="l" pos="7311960"/>
                <a:tab algn="l" pos="8226360"/>
                <a:tab algn="l" pos="9140760"/>
                <a:tab algn="l" pos="1005516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  <a:ea typeface="DejaVu Sans"/>
              </a:rPr>
              <a:t>Now our decision tree looks like: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63" name="" descr=""/>
          <p:cNvPicPr/>
          <p:nvPr/>
        </p:nvPicPr>
        <p:blipFill>
          <a:blip r:embed="rId1"/>
          <a:stretch/>
        </p:blipFill>
        <p:spPr>
          <a:xfrm>
            <a:off x="2581200" y="2097000"/>
            <a:ext cx="5654880" cy="4302360"/>
          </a:xfrm>
          <a:prstGeom prst="rect">
            <a:avLst/>
          </a:prstGeom>
          <a:ln w="0">
            <a:noFill/>
          </a:ln>
        </p:spPr>
      </p:pic>
      <p:sp>
        <p:nvSpPr>
          <p:cNvPr id="364" name=""/>
          <p:cNvSpPr/>
          <p:nvPr/>
        </p:nvSpPr>
        <p:spPr>
          <a:xfrm>
            <a:off x="5105520" y="6095880"/>
            <a:ext cx="608040" cy="303480"/>
          </a:xfrm>
          <a:prstGeom prst="rect">
            <a:avLst/>
          </a:prstGeom>
          <a:solidFill>
            <a:srgbClr val="2b5481"/>
          </a:solidFill>
          <a:ln cap="sq"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Tahoma"/>
                <a:ea typeface="DejaVu Sans"/>
              </a:rPr>
              <a:t>D6,D14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"/>
          <p:cNvSpPr/>
          <p:nvPr/>
        </p:nvSpPr>
        <p:spPr>
          <a:xfrm>
            <a:off x="7095960" y="5943600"/>
            <a:ext cx="522720" cy="357480"/>
          </a:xfrm>
          <a:prstGeom prst="rect">
            <a:avLst/>
          </a:prstGeom>
          <a:solidFill>
            <a:srgbClr val="2b5481"/>
          </a:solidFill>
          <a:ln cap="sq"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Tahoma"/>
                <a:ea typeface="DejaVu Sans"/>
              </a:rPr>
              <a:t>D4,D5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00cc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"/>
          <p:cNvSpPr/>
          <p:nvPr/>
        </p:nvSpPr>
        <p:spPr>
          <a:xfrm>
            <a:off x="3352680" y="6324480"/>
            <a:ext cx="289440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Tahoma"/>
              <a:ea typeface="DejaVu Sans"/>
            </a:endParaRPr>
          </a:p>
        </p:txBody>
      </p:sp>
      <p:sp>
        <p:nvSpPr>
          <p:cNvPr id="367" name=""/>
          <p:cNvSpPr/>
          <p:nvPr/>
        </p:nvSpPr>
        <p:spPr>
          <a:xfrm>
            <a:off x="6553080" y="6245280"/>
            <a:ext cx="213084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fld id="{49CD0F47-E68D-48DC-8F76-F0913E08B83E}" type="slidenum">
              <a:rPr b="0" lang="en-US" sz="1400" spc="-1" strike="noStrike">
                <a:solidFill>
                  <a:srgbClr val="000000"/>
                </a:solidFill>
                <a:latin typeface="Tahoma"/>
                <a:ea typeface="DejaVu Sans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"/>
          <p:cNvSpPr/>
          <p:nvPr/>
        </p:nvSpPr>
        <p:spPr>
          <a:xfrm>
            <a:off x="457200" y="349200"/>
            <a:ext cx="8226720" cy="85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e5ffff"/>
                </a:solidFill>
                <a:latin typeface="Tahoma"/>
                <a:ea typeface="DejaVu Sans"/>
              </a:rPr>
              <a:t>If outlook=sunny is considered next, following are the values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"/>
          <p:cNvSpPr/>
          <p:nvPr/>
        </p:nvSpPr>
        <p:spPr>
          <a:xfrm flipH="1">
            <a:off x="2044440" y="1795320"/>
            <a:ext cx="2895480" cy="1828800"/>
          </a:xfrm>
          <a:prstGeom prst="line">
            <a:avLst/>
          </a:prstGeom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Tahoma"/>
              <a:ea typeface="DejaVu Sans"/>
            </a:endParaRPr>
          </a:p>
        </p:txBody>
      </p:sp>
      <p:sp>
        <p:nvSpPr>
          <p:cNvPr id="370" name=""/>
          <p:cNvSpPr/>
          <p:nvPr/>
        </p:nvSpPr>
        <p:spPr>
          <a:xfrm>
            <a:off x="5243400" y="2100240"/>
            <a:ext cx="1905120" cy="1676520"/>
          </a:xfrm>
          <a:prstGeom prst="line">
            <a:avLst/>
          </a:prstGeom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Tahoma"/>
              <a:ea typeface="DejaVu Sans"/>
            </a:endParaRPr>
          </a:p>
        </p:txBody>
      </p:sp>
      <p:sp>
        <p:nvSpPr>
          <p:cNvPr id="371" name=""/>
          <p:cNvSpPr/>
          <p:nvPr/>
        </p:nvSpPr>
        <p:spPr>
          <a:xfrm>
            <a:off x="4786200" y="2176560"/>
            <a:ext cx="1800" cy="1600200"/>
          </a:xfrm>
          <a:prstGeom prst="line">
            <a:avLst/>
          </a:prstGeom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Tahoma"/>
              <a:ea typeface="DejaVu Sans"/>
            </a:endParaRPr>
          </a:p>
        </p:txBody>
      </p:sp>
      <p:sp>
        <p:nvSpPr>
          <p:cNvPr id="372" name=""/>
          <p:cNvSpPr/>
          <p:nvPr/>
        </p:nvSpPr>
        <p:spPr>
          <a:xfrm>
            <a:off x="4145040" y="1643040"/>
            <a:ext cx="1325520" cy="459000"/>
          </a:xfrm>
          <a:prstGeom prst="rect">
            <a:avLst/>
          </a:prstGeom>
          <a:solidFill>
            <a:srgbClr val="ffffff"/>
          </a:solidFill>
          <a:ln w="38160">
            <a:solidFill>
              <a:srgbClr val="cccc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Outlook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"/>
          <p:cNvSpPr/>
          <p:nvPr/>
        </p:nvSpPr>
        <p:spPr>
          <a:xfrm>
            <a:off x="2722680" y="2633760"/>
            <a:ext cx="1066680" cy="45900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Sunny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"/>
          <p:cNvSpPr/>
          <p:nvPr/>
        </p:nvSpPr>
        <p:spPr>
          <a:xfrm>
            <a:off x="4080960" y="2633760"/>
            <a:ext cx="1437480" cy="45900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Overcast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"/>
          <p:cNvSpPr/>
          <p:nvPr/>
        </p:nvSpPr>
        <p:spPr>
          <a:xfrm>
            <a:off x="5854320" y="2633760"/>
            <a:ext cx="806040" cy="45900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Rain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"/>
          <p:cNvSpPr/>
          <p:nvPr/>
        </p:nvSpPr>
        <p:spPr>
          <a:xfrm>
            <a:off x="4439520" y="4462560"/>
            <a:ext cx="654120" cy="459000"/>
          </a:xfrm>
          <a:prstGeom prst="rect">
            <a:avLst/>
          </a:prstGeom>
          <a:solidFill>
            <a:srgbClr val="ffffff"/>
          </a:solidFill>
          <a:ln w="38160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Yes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"/>
          <p:cNvSpPr/>
          <p:nvPr/>
        </p:nvSpPr>
        <p:spPr>
          <a:xfrm>
            <a:off x="1600200" y="1600200"/>
            <a:ext cx="2230920" cy="82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sv-SE" sz="2400" spc="-1" strike="noStrike">
                <a:solidFill>
                  <a:srgbClr val="000000"/>
                </a:solidFill>
                <a:latin typeface="Tahoma"/>
                <a:ea typeface="DejaVu Sans"/>
              </a:rPr>
              <a:t>[D1,D2,…,D14]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sv-SE" sz="2400" spc="-1" strike="noStrike">
                <a:solidFill>
                  <a:srgbClr val="000000"/>
                </a:solidFill>
                <a:latin typeface="Tahoma"/>
                <a:ea typeface="DejaVu Sans"/>
              </a:rPr>
              <a:t>    </a:t>
            </a:r>
            <a:r>
              <a:rPr b="0" lang="sv-SE" sz="2400" spc="-1" strike="noStrike">
                <a:solidFill>
                  <a:srgbClr val="000000"/>
                </a:solidFill>
                <a:latin typeface="Tahoma"/>
                <a:ea typeface="DejaVu Sans"/>
              </a:rPr>
              <a:t>[9+,5-]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" name=""/>
          <p:cNvSpPr/>
          <p:nvPr/>
        </p:nvSpPr>
        <p:spPr>
          <a:xfrm>
            <a:off x="17280" y="3624120"/>
            <a:ext cx="3706200" cy="87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sv-SE" sz="2400" spc="-1" strike="noStrike">
                <a:solidFill>
                  <a:srgbClr val="000000"/>
                </a:solidFill>
                <a:latin typeface="Tahoma"/>
                <a:ea typeface="DejaVu Sans"/>
              </a:rPr>
              <a:t>S</a:t>
            </a:r>
            <a:r>
              <a:rPr b="0" lang="sv-SE" sz="2400" spc="-1" strike="noStrike" baseline="-25000">
                <a:solidFill>
                  <a:srgbClr val="000000"/>
                </a:solidFill>
                <a:latin typeface="Tahoma"/>
                <a:ea typeface="DejaVu Sans"/>
              </a:rPr>
              <a:t>sunny</a:t>
            </a:r>
            <a:r>
              <a:rPr b="0" lang="sv-SE" sz="2400" spc="-1" strike="noStrike">
                <a:solidFill>
                  <a:srgbClr val="000000"/>
                </a:solidFill>
                <a:latin typeface="Tahoma"/>
                <a:ea typeface="DejaVu Sans"/>
              </a:rPr>
              <a:t>=[D1,D2,D8,D9,D11]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sv-SE" sz="2400" spc="-1" strike="noStrike">
                <a:solidFill>
                  <a:srgbClr val="000000"/>
                </a:solidFill>
                <a:latin typeface="Tahoma"/>
                <a:ea typeface="DejaVu Sans"/>
              </a:rPr>
              <a:t>            </a:t>
            </a:r>
            <a:r>
              <a:rPr b="0" lang="sv-SE" sz="2400" spc="-1" strike="noStrike">
                <a:solidFill>
                  <a:srgbClr val="000000"/>
                </a:solidFill>
                <a:latin typeface="Tahoma"/>
                <a:ea typeface="DejaVu Sans"/>
              </a:rPr>
              <a:t>[2+,3-]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" name=""/>
          <p:cNvSpPr/>
          <p:nvPr/>
        </p:nvSpPr>
        <p:spPr>
          <a:xfrm>
            <a:off x="1592280" y="4538520"/>
            <a:ext cx="865440" cy="459000"/>
          </a:xfrm>
          <a:prstGeom prst="rect">
            <a:avLst/>
          </a:prstGeom>
          <a:solidFill>
            <a:srgbClr val="ffffff"/>
          </a:solidFill>
          <a:ln w="38160">
            <a:solidFill>
              <a:srgbClr val="cccc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sv-SE" sz="2400" spc="-1" strike="noStrike">
                <a:solidFill>
                  <a:srgbClr val="000000"/>
                </a:solidFill>
                <a:latin typeface="Tahoma"/>
                <a:ea typeface="DejaVu Sans"/>
              </a:rPr>
              <a:t>   </a:t>
            </a:r>
            <a:r>
              <a:rPr b="0" lang="sv-SE" sz="2400" spc="-1" strike="noStrike">
                <a:solidFill>
                  <a:srgbClr val="000000"/>
                </a:solidFill>
                <a:latin typeface="Tahoma"/>
                <a:ea typeface="DejaVu Sans"/>
              </a:rPr>
              <a:t>?   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"/>
          <p:cNvSpPr/>
          <p:nvPr/>
        </p:nvSpPr>
        <p:spPr>
          <a:xfrm>
            <a:off x="7004160" y="4538520"/>
            <a:ext cx="865440" cy="459000"/>
          </a:xfrm>
          <a:prstGeom prst="rect">
            <a:avLst/>
          </a:prstGeom>
          <a:solidFill>
            <a:srgbClr val="ffffff"/>
          </a:solidFill>
          <a:ln w="38160">
            <a:solidFill>
              <a:srgbClr val="cccc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sv-SE" sz="2400" spc="-1" strike="noStrike">
                <a:solidFill>
                  <a:srgbClr val="000000"/>
                </a:solidFill>
                <a:latin typeface="Tahoma"/>
                <a:ea typeface="DejaVu Sans"/>
              </a:rPr>
              <a:t>   </a:t>
            </a:r>
            <a:r>
              <a:rPr b="0" lang="sv-SE" sz="2400" spc="-1" strike="noStrike">
                <a:solidFill>
                  <a:srgbClr val="000000"/>
                </a:solidFill>
                <a:latin typeface="Tahoma"/>
                <a:ea typeface="DejaVu Sans"/>
              </a:rPr>
              <a:t>?   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"/>
          <p:cNvSpPr/>
          <p:nvPr/>
        </p:nvSpPr>
        <p:spPr>
          <a:xfrm>
            <a:off x="3713040" y="3624120"/>
            <a:ext cx="2559960" cy="82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sv-SE" sz="2400" spc="-1" strike="noStrike">
                <a:solidFill>
                  <a:srgbClr val="000000"/>
                </a:solidFill>
                <a:latin typeface="Tahoma"/>
                <a:ea typeface="DejaVu Sans"/>
              </a:rPr>
              <a:t>[D3,D7,D12,D13]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sv-SE" sz="2400" spc="-1" strike="noStrike">
                <a:solidFill>
                  <a:srgbClr val="000000"/>
                </a:solidFill>
                <a:latin typeface="Tahoma"/>
                <a:ea typeface="DejaVu Sans"/>
              </a:rPr>
              <a:t>    </a:t>
            </a:r>
            <a:r>
              <a:rPr b="0" lang="sv-SE" sz="2400" spc="-1" strike="noStrike">
                <a:solidFill>
                  <a:srgbClr val="000000"/>
                </a:solidFill>
                <a:latin typeface="Tahoma"/>
                <a:ea typeface="DejaVu Sans"/>
              </a:rPr>
              <a:t>[4+,0-]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"/>
          <p:cNvSpPr/>
          <p:nvPr/>
        </p:nvSpPr>
        <p:spPr>
          <a:xfrm>
            <a:off x="6130800" y="3624120"/>
            <a:ext cx="3038760" cy="82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sv-SE" sz="2400" spc="-1" strike="noStrike">
                <a:solidFill>
                  <a:srgbClr val="000000"/>
                </a:solidFill>
                <a:latin typeface="Tahoma"/>
                <a:ea typeface="DejaVu Sans"/>
              </a:rPr>
              <a:t>[D4,D5,D6,D10,D14]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sv-SE" sz="2400" spc="-1" strike="noStrike">
                <a:solidFill>
                  <a:srgbClr val="000000"/>
                </a:solidFill>
                <a:latin typeface="Tahoma"/>
                <a:ea typeface="DejaVu Sans"/>
              </a:rPr>
              <a:t>    </a:t>
            </a:r>
            <a:r>
              <a:rPr b="0" lang="sv-SE" sz="2400" spc="-1" strike="noStrike">
                <a:solidFill>
                  <a:srgbClr val="000000"/>
                </a:solidFill>
                <a:latin typeface="Tahoma"/>
                <a:ea typeface="DejaVu Sans"/>
              </a:rPr>
              <a:t>[3+,2-]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"/>
          <p:cNvSpPr/>
          <p:nvPr/>
        </p:nvSpPr>
        <p:spPr>
          <a:xfrm>
            <a:off x="0" y="5105520"/>
            <a:ext cx="8913960" cy="13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sv-SE" sz="2400" spc="-1" strike="noStrike">
                <a:solidFill>
                  <a:srgbClr val="000000"/>
                </a:solidFill>
                <a:latin typeface="Tahoma"/>
                <a:ea typeface="DejaVu Sans"/>
              </a:rPr>
              <a:t>Gain(S</a:t>
            </a:r>
            <a:r>
              <a:rPr b="0" lang="sv-SE" sz="2400" spc="-1" strike="noStrike" baseline="-25000">
                <a:solidFill>
                  <a:srgbClr val="000000"/>
                </a:solidFill>
                <a:latin typeface="Tahoma"/>
                <a:ea typeface="DejaVu Sans"/>
              </a:rPr>
              <a:t>sunny</a:t>
            </a:r>
            <a:r>
              <a:rPr b="0" lang="sv-SE" sz="2400" spc="-1" strike="noStrike">
                <a:solidFill>
                  <a:srgbClr val="000000"/>
                </a:solidFill>
                <a:latin typeface="Tahoma"/>
                <a:ea typeface="DejaVu Sans"/>
              </a:rPr>
              <a:t> , Humidity)=0.970-(3/5)0.0 – 2/5(0.0) = 0.970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sv-SE" sz="2400" spc="-1" strike="noStrike">
                <a:solidFill>
                  <a:srgbClr val="000000"/>
                </a:solidFill>
                <a:latin typeface="Tahoma"/>
                <a:ea typeface="DejaVu Sans"/>
              </a:rPr>
              <a:t>Gain(S</a:t>
            </a:r>
            <a:r>
              <a:rPr b="0" lang="sv-SE" sz="2400" spc="-1" strike="noStrike" baseline="-25000">
                <a:solidFill>
                  <a:srgbClr val="000000"/>
                </a:solidFill>
                <a:latin typeface="Tahoma"/>
                <a:ea typeface="DejaVu Sans"/>
              </a:rPr>
              <a:t>sunny</a:t>
            </a:r>
            <a:r>
              <a:rPr b="0" lang="sv-SE" sz="2400" spc="-1" strike="noStrike">
                <a:solidFill>
                  <a:srgbClr val="000000"/>
                </a:solidFill>
                <a:latin typeface="Tahoma"/>
                <a:ea typeface="DejaVu Sans"/>
              </a:rPr>
              <a:t> , Temp.)=0.970-(2/5)0.0 –2/5(1.0)-(1/5)0.0 = 0.570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sv-SE" sz="2400" spc="-1" strike="noStrike">
                <a:solidFill>
                  <a:srgbClr val="000000"/>
                </a:solidFill>
                <a:latin typeface="Tahoma"/>
                <a:ea typeface="DejaVu Sans"/>
              </a:rPr>
              <a:t>Gain(S</a:t>
            </a:r>
            <a:r>
              <a:rPr b="0" lang="sv-SE" sz="2400" spc="-1" strike="noStrike" baseline="-25000">
                <a:solidFill>
                  <a:srgbClr val="000000"/>
                </a:solidFill>
                <a:latin typeface="Tahoma"/>
                <a:ea typeface="DejaVu Sans"/>
              </a:rPr>
              <a:t>sunny</a:t>
            </a:r>
            <a:r>
              <a:rPr b="0" lang="sv-SE" sz="2400" spc="-1" strike="noStrike">
                <a:solidFill>
                  <a:srgbClr val="000000"/>
                </a:solidFill>
                <a:latin typeface="Tahoma"/>
                <a:ea typeface="DejaVu Sans"/>
              </a:rPr>
              <a:t> , Wind)=0.970-(2/5)1.0 – 3/5(0.918) = 0.019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cc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"/>
          <p:cNvSpPr/>
          <p:nvPr/>
        </p:nvSpPr>
        <p:spPr>
          <a:xfrm>
            <a:off x="3352680" y="6324480"/>
            <a:ext cx="289440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Tahoma"/>
              <a:ea typeface="DejaVu Sans"/>
            </a:endParaRPr>
          </a:p>
        </p:txBody>
      </p:sp>
      <p:sp>
        <p:nvSpPr>
          <p:cNvPr id="385" name=""/>
          <p:cNvSpPr/>
          <p:nvPr/>
        </p:nvSpPr>
        <p:spPr>
          <a:xfrm>
            <a:off x="6553080" y="6245280"/>
            <a:ext cx="213084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fld id="{8400A5BD-B805-402A-BFE0-CD1B7E94C844}" type="slidenum">
              <a:rPr b="0" lang="en-US" sz="1400" spc="-1" strike="noStrike">
                <a:solidFill>
                  <a:srgbClr val="000000"/>
                </a:solidFill>
                <a:latin typeface="Tahoma"/>
                <a:ea typeface="DejaVu Sans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" name=""/>
          <p:cNvSpPr/>
          <p:nvPr/>
        </p:nvSpPr>
        <p:spPr>
          <a:xfrm flipH="1">
            <a:off x="2034720" y="2268360"/>
            <a:ext cx="2233800" cy="1160640"/>
          </a:xfrm>
          <a:prstGeom prst="line">
            <a:avLst/>
          </a:prstGeom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Tahoma"/>
              <a:ea typeface="DejaVu Sans"/>
            </a:endParaRPr>
          </a:p>
        </p:txBody>
      </p:sp>
      <p:sp>
        <p:nvSpPr>
          <p:cNvPr id="387" name=""/>
          <p:cNvSpPr/>
          <p:nvPr/>
        </p:nvSpPr>
        <p:spPr>
          <a:xfrm>
            <a:off x="5214960" y="2268360"/>
            <a:ext cx="1643040" cy="1160640"/>
          </a:xfrm>
          <a:prstGeom prst="line">
            <a:avLst/>
          </a:prstGeom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Tahoma"/>
              <a:ea typeface="DejaVu Sans"/>
            </a:endParaRPr>
          </a:p>
        </p:txBody>
      </p:sp>
      <p:sp>
        <p:nvSpPr>
          <p:cNvPr id="388" name=""/>
          <p:cNvSpPr/>
          <p:nvPr/>
        </p:nvSpPr>
        <p:spPr>
          <a:xfrm flipH="1">
            <a:off x="660240" y="4332240"/>
            <a:ext cx="789120" cy="1001880"/>
          </a:xfrm>
          <a:prstGeom prst="line">
            <a:avLst/>
          </a:prstGeom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Tahoma"/>
              <a:ea typeface="DejaVu Sans"/>
            </a:endParaRPr>
          </a:p>
        </p:txBody>
      </p:sp>
      <p:sp>
        <p:nvSpPr>
          <p:cNvPr id="389" name=""/>
          <p:cNvSpPr/>
          <p:nvPr/>
        </p:nvSpPr>
        <p:spPr>
          <a:xfrm>
            <a:off x="1900080" y="4332240"/>
            <a:ext cx="919440" cy="1001880"/>
          </a:xfrm>
          <a:prstGeom prst="line">
            <a:avLst/>
          </a:prstGeom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Tahoma"/>
              <a:ea typeface="DejaVu Sans"/>
            </a:endParaRPr>
          </a:p>
        </p:txBody>
      </p:sp>
      <p:sp>
        <p:nvSpPr>
          <p:cNvPr id="390" name=""/>
          <p:cNvSpPr/>
          <p:nvPr/>
        </p:nvSpPr>
        <p:spPr>
          <a:xfrm>
            <a:off x="7147080" y="4332240"/>
            <a:ext cx="853920" cy="1001880"/>
          </a:xfrm>
          <a:prstGeom prst="line">
            <a:avLst/>
          </a:prstGeom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Tahoma"/>
              <a:ea typeface="DejaVu Sans"/>
            </a:endParaRPr>
          </a:p>
        </p:txBody>
      </p:sp>
      <p:sp>
        <p:nvSpPr>
          <p:cNvPr id="391" name=""/>
          <p:cNvSpPr/>
          <p:nvPr/>
        </p:nvSpPr>
        <p:spPr>
          <a:xfrm flipH="1">
            <a:off x="6070320" y="4332240"/>
            <a:ext cx="788760" cy="1001880"/>
          </a:xfrm>
          <a:prstGeom prst="line">
            <a:avLst/>
          </a:prstGeom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Tahoma"/>
              <a:ea typeface="DejaVu Sans"/>
            </a:endParaRPr>
          </a:p>
        </p:txBody>
      </p:sp>
      <p:sp>
        <p:nvSpPr>
          <p:cNvPr id="392" name=""/>
          <p:cNvSpPr/>
          <p:nvPr/>
        </p:nvSpPr>
        <p:spPr>
          <a:xfrm>
            <a:off x="4495680" y="2320920"/>
            <a:ext cx="1800" cy="1108080"/>
          </a:xfrm>
          <a:prstGeom prst="line">
            <a:avLst/>
          </a:prstGeom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Tahoma"/>
              <a:ea typeface="DejaVu Sans"/>
            </a:endParaRPr>
          </a:p>
        </p:txBody>
      </p:sp>
      <p:sp>
        <p:nvSpPr>
          <p:cNvPr id="393" name=""/>
          <p:cNvSpPr/>
          <p:nvPr/>
        </p:nvSpPr>
        <p:spPr>
          <a:xfrm>
            <a:off x="457200" y="349200"/>
            <a:ext cx="8226720" cy="143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Tahoma"/>
              <a:ea typeface="DejaVu Sans"/>
            </a:endParaRPr>
          </a:p>
        </p:txBody>
      </p:sp>
      <p:sp>
        <p:nvSpPr>
          <p:cNvPr id="394" name=""/>
          <p:cNvSpPr/>
          <p:nvPr/>
        </p:nvSpPr>
        <p:spPr>
          <a:xfrm>
            <a:off x="3930840" y="1600200"/>
            <a:ext cx="1325520" cy="459000"/>
          </a:xfrm>
          <a:prstGeom prst="rect">
            <a:avLst/>
          </a:prstGeom>
          <a:solidFill>
            <a:srgbClr val="ffffff"/>
          </a:solidFill>
          <a:ln w="38160">
            <a:solidFill>
              <a:srgbClr val="cccc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Outlook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"/>
          <p:cNvSpPr/>
          <p:nvPr/>
        </p:nvSpPr>
        <p:spPr>
          <a:xfrm>
            <a:off x="2432160" y="2590920"/>
            <a:ext cx="1066680" cy="45900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Sunny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"/>
          <p:cNvSpPr/>
          <p:nvPr/>
        </p:nvSpPr>
        <p:spPr>
          <a:xfrm>
            <a:off x="4019040" y="2590920"/>
            <a:ext cx="1437480" cy="45900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Overcast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"/>
          <p:cNvSpPr/>
          <p:nvPr/>
        </p:nvSpPr>
        <p:spPr>
          <a:xfrm>
            <a:off x="5868720" y="2590920"/>
            <a:ext cx="806040" cy="45900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Rain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"/>
          <p:cNvSpPr/>
          <p:nvPr/>
        </p:nvSpPr>
        <p:spPr>
          <a:xfrm>
            <a:off x="1072800" y="3581280"/>
            <a:ext cx="1488600" cy="459000"/>
          </a:xfrm>
          <a:prstGeom prst="rect">
            <a:avLst/>
          </a:prstGeom>
          <a:solidFill>
            <a:srgbClr val="ffffff"/>
          </a:solidFill>
          <a:ln w="38160">
            <a:solidFill>
              <a:srgbClr val="cccc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Humidity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"/>
          <p:cNvSpPr/>
          <p:nvPr/>
        </p:nvSpPr>
        <p:spPr>
          <a:xfrm>
            <a:off x="484200" y="4648320"/>
            <a:ext cx="859320" cy="45900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High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"/>
          <p:cNvSpPr/>
          <p:nvPr/>
        </p:nvSpPr>
        <p:spPr>
          <a:xfrm>
            <a:off x="2033640" y="4648320"/>
            <a:ext cx="1255680" cy="45900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Normal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"/>
          <p:cNvSpPr/>
          <p:nvPr/>
        </p:nvSpPr>
        <p:spPr>
          <a:xfrm>
            <a:off x="6519600" y="3581280"/>
            <a:ext cx="917280" cy="459000"/>
          </a:xfrm>
          <a:prstGeom prst="rect">
            <a:avLst/>
          </a:prstGeom>
          <a:solidFill>
            <a:srgbClr val="ffffff"/>
          </a:solidFill>
          <a:ln w="38160">
            <a:solidFill>
              <a:srgbClr val="cccc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Wind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"/>
          <p:cNvSpPr/>
          <p:nvPr/>
        </p:nvSpPr>
        <p:spPr>
          <a:xfrm>
            <a:off x="5850360" y="4648320"/>
            <a:ext cx="1137240" cy="45900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Strong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"/>
          <p:cNvSpPr/>
          <p:nvPr/>
        </p:nvSpPr>
        <p:spPr>
          <a:xfrm>
            <a:off x="7374960" y="4648320"/>
            <a:ext cx="961920" cy="45900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Weak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"/>
          <p:cNvSpPr/>
          <p:nvPr/>
        </p:nvSpPr>
        <p:spPr>
          <a:xfrm>
            <a:off x="306360" y="5486400"/>
            <a:ext cx="595800" cy="459000"/>
          </a:xfrm>
          <a:prstGeom prst="rect">
            <a:avLst/>
          </a:prstGeom>
          <a:solidFill>
            <a:srgbClr val="ffffff"/>
          </a:solidFill>
          <a:ln w="38160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No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"/>
          <p:cNvSpPr/>
          <p:nvPr/>
        </p:nvSpPr>
        <p:spPr>
          <a:xfrm>
            <a:off x="2629800" y="5486400"/>
            <a:ext cx="654120" cy="459000"/>
          </a:xfrm>
          <a:prstGeom prst="rect">
            <a:avLst/>
          </a:prstGeom>
          <a:solidFill>
            <a:srgbClr val="ffffff"/>
          </a:solidFill>
          <a:ln w="38160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Yes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"/>
          <p:cNvSpPr/>
          <p:nvPr/>
        </p:nvSpPr>
        <p:spPr>
          <a:xfrm>
            <a:off x="4306320" y="3581280"/>
            <a:ext cx="654120" cy="459000"/>
          </a:xfrm>
          <a:prstGeom prst="rect">
            <a:avLst/>
          </a:prstGeom>
          <a:solidFill>
            <a:srgbClr val="ffffff"/>
          </a:solidFill>
          <a:ln w="38160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Yes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"/>
          <p:cNvSpPr/>
          <p:nvPr/>
        </p:nvSpPr>
        <p:spPr>
          <a:xfrm>
            <a:off x="7887600" y="5486400"/>
            <a:ext cx="654120" cy="459000"/>
          </a:xfrm>
          <a:prstGeom prst="rect">
            <a:avLst/>
          </a:prstGeom>
          <a:solidFill>
            <a:srgbClr val="ffffff"/>
          </a:solidFill>
          <a:ln w="38160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Yes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"/>
          <p:cNvSpPr/>
          <p:nvPr/>
        </p:nvSpPr>
        <p:spPr>
          <a:xfrm>
            <a:off x="5716440" y="5486400"/>
            <a:ext cx="595800" cy="459000"/>
          </a:xfrm>
          <a:prstGeom prst="rect">
            <a:avLst/>
          </a:prstGeom>
          <a:solidFill>
            <a:srgbClr val="ffffff"/>
          </a:solidFill>
          <a:ln w="38160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DejaVu Sans"/>
              </a:rPr>
              <a:t>No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"/>
          <p:cNvSpPr/>
          <p:nvPr/>
        </p:nvSpPr>
        <p:spPr>
          <a:xfrm>
            <a:off x="3429000" y="4027320"/>
            <a:ext cx="266544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514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sv-SE" sz="2400" spc="-1" strike="noStrike">
                <a:solidFill>
                  <a:srgbClr val="000000"/>
                </a:solidFill>
                <a:latin typeface="Tahoma"/>
                <a:ea typeface="DejaVu Sans"/>
              </a:rPr>
              <a:t>[D3,D7,D12,D13]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"/>
          <p:cNvSpPr/>
          <p:nvPr/>
        </p:nvSpPr>
        <p:spPr>
          <a:xfrm>
            <a:off x="2185920" y="6161040"/>
            <a:ext cx="223236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514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sv-SE" sz="2400" spc="-1" strike="noStrike">
                <a:solidFill>
                  <a:srgbClr val="000000"/>
                </a:solidFill>
                <a:latin typeface="Tahoma"/>
                <a:ea typeface="DejaVu Sans"/>
              </a:rPr>
              <a:t>[D9,D11]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"/>
          <p:cNvSpPr/>
          <p:nvPr/>
        </p:nvSpPr>
        <p:spPr>
          <a:xfrm>
            <a:off x="5310360" y="6084720"/>
            <a:ext cx="223200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514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sv-SE" sz="2400" spc="-1" strike="noStrike">
                <a:solidFill>
                  <a:srgbClr val="000000"/>
                </a:solidFill>
                <a:latin typeface="Tahoma"/>
                <a:ea typeface="DejaVu Sans"/>
              </a:rPr>
              <a:t>[D6,D14]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"/>
          <p:cNvSpPr/>
          <p:nvPr/>
        </p:nvSpPr>
        <p:spPr>
          <a:xfrm>
            <a:off x="0" y="6172200"/>
            <a:ext cx="182736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514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sv-SE" sz="2400" spc="-1" strike="noStrike">
                <a:solidFill>
                  <a:srgbClr val="000000"/>
                </a:solidFill>
                <a:latin typeface="Tahoma"/>
                <a:ea typeface="DejaVu Sans"/>
              </a:rPr>
              <a:t>[D1,D2,D8]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"/>
          <p:cNvSpPr/>
          <p:nvPr/>
        </p:nvSpPr>
        <p:spPr>
          <a:xfrm>
            <a:off x="7291440" y="6084720"/>
            <a:ext cx="223200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514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sv-SE" sz="2400" spc="-1" strike="noStrike">
                <a:solidFill>
                  <a:srgbClr val="000000"/>
                </a:solidFill>
                <a:latin typeface="Tahoma"/>
                <a:ea typeface="DejaVu Sans"/>
              </a:rPr>
              <a:t>[D4,D5,D10]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cc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"/>
          <p:cNvSpPr/>
          <p:nvPr/>
        </p:nvSpPr>
        <p:spPr>
          <a:xfrm>
            <a:off x="457200" y="380880"/>
            <a:ext cx="822816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Tahoma"/>
              <a:ea typeface="DejaVu Sans"/>
            </a:endParaRPr>
          </a:p>
        </p:txBody>
      </p:sp>
      <p:sp>
        <p:nvSpPr>
          <p:cNvPr id="415" name=""/>
          <p:cNvSpPr/>
          <p:nvPr/>
        </p:nvSpPr>
        <p:spPr>
          <a:xfrm>
            <a:off x="457200" y="773280"/>
            <a:ext cx="8228160" cy="49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Tahoma"/>
              <a:ea typeface="DejaVu Sans"/>
            </a:endParaRPr>
          </a:p>
        </p:txBody>
      </p:sp>
      <p:pic>
        <p:nvPicPr>
          <p:cNvPr id="416" name="" descr=""/>
          <p:cNvPicPr/>
          <p:nvPr/>
        </p:nvPicPr>
        <p:blipFill>
          <a:blip r:embed="rId1"/>
          <a:stretch/>
        </p:blipFill>
        <p:spPr>
          <a:xfrm>
            <a:off x="685800" y="990720"/>
            <a:ext cx="7828200" cy="4932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cc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"/>
          <p:cNvSpPr/>
          <p:nvPr/>
        </p:nvSpPr>
        <p:spPr>
          <a:xfrm>
            <a:off x="457200" y="380880"/>
            <a:ext cx="822816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Tahoma"/>
              <a:ea typeface="DejaVu Sans"/>
            </a:endParaRPr>
          </a:p>
        </p:txBody>
      </p:sp>
      <p:sp>
        <p:nvSpPr>
          <p:cNvPr id="418" name=""/>
          <p:cNvSpPr/>
          <p:nvPr/>
        </p:nvSpPr>
        <p:spPr>
          <a:xfrm>
            <a:off x="457200" y="773280"/>
            <a:ext cx="8228160" cy="49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Tahoma"/>
              <a:ea typeface="DejaVu Sans"/>
            </a:endParaRPr>
          </a:p>
        </p:txBody>
      </p:sp>
      <p:sp>
        <p:nvSpPr>
          <p:cNvPr id="419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6720" cy="4492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20" name="" descr=""/>
          <p:cNvPicPr/>
          <p:nvPr/>
        </p:nvPicPr>
        <p:blipFill>
          <a:blip r:embed="rId1"/>
          <a:stretch/>
        </p:blipFill>
        <p:spPr>
          <a:xfrm>
            <a:off x="457200" y="1600200"/>
            <a:ext cx="8528040" cy="3884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cc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"/>
          <p:cNvSpPr/>
          <p:nvPr/>
        </p:nvSpPr>
        <p:spPr>
          <a:xfrm>
            <a:off x="457200" y="380880"/>
            <a:ext cx="822816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Tahoma"/>
              <a:ea typeface="DejaVu Sans"/>
            </a:endParaRPr>
          </a:p>
        </p:txBody>
      </p:sp>
      <p:sp>
        <p:nvSpPr>
          <p:cNvPr id="422" name=""/>
          <p:cNvSpPr/>
          <p:nvPr/>
        </p:nvSpPr>
        <p:spPr>
          <a:xfrm>
            <a:off x="457200" y="773280"/>
            <a:ext cx="8228160" cy="49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Tahoma"/>
              <a:ea typeface="DejaVu Sans"/>
            </a:endParaRPr>
          </a:p>
        </p:txBody>
      </p:sp>
      <p:sp>
        <p:nvSpPr>
          <p:cNvPr id="423" name="PlaceHolder 1"/>
          <p:cNvSpPr>
            <a:spLocks noGrp="1"/>
          </p:cNvSpPr>
          <p:nvPr>
            <p:ph/>
          </p:nvPr>
        </p:nvSpPr>
        <p:spPr>
          <a:xfrm>
            <a:off x="457200" y="458640"/>
            <a:ext cx="8226720" cy="5483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488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sv-SE" sz="2400" spc="-1" strike="noStrike">
                <a:solidFill>
                  <a:srgbClr val="000000"/>
                </a:solidFill>
                <a:latin typeface="Tahoma"/>
              </a:rPr>
              <a:t>One of the biggest problems with decision trees is </a:t>
            </a:r>
            <a:r>
              <a:rPr b="1" lang="sv-SE" sz="2400" spc="-1" strike="noStrike">
                <a:solidFill>
                  <a:srgbClr val="000000"/>
                </a:solidFill>
                <a:latin typeface="Tahoma"/>
              </a:rPr>
              <a:t>Overfitting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88"/>
              </a:spcBef>
              <a:spcAft>
                <a:spcPts val="11"/>
              </a:spcAft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431640" indent="-215640">
              <a:lnSpc>
                <a:spcPct val="100000"/>
              </a:lnSpc>
              <a:spcBef>
                <a:spcPts val="1774"/>
              </a:spcBef>
              <a:spcAft>
                <a:spcPts val="1074"/>
              </a:spcAft>
              <a:buNone/>
              <a:tabLst>
                <a:tab algn="l" pos="0"/>
              </a:tabLst>
            </a:pPr>
            <a:r>
              <a:rPr b="1" lang="sv-SE" sz="2400" spc="-1" strike="noStrike">
                <a:solidFill>
                  <a:srgbClr val="000000"/>
                </a:solidFill>
                <a:latin typeface="Tahoma"/>
                <a:ea typeface="Noto Serif CJK SC"/>
              </a:rPr>
              <a:t>-Techniques to avoid overfitting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431640" indent="-215640">
              <a:lnSpc>
                <a:spcPct val="100000"/>
              </a:lnSpc>
              <a:spcBef>
                <a:spcPts val="1774"/>
              </a:spcBef>
              <a:spcAft>
                <a:spcPts val="1074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sv-SE" sz="2400" spc="-1" strike="noStrike">
                <a:solidFill>
                  <a:srgbClr val="000000"/>
                </a:solidFill>
                <a:latin typeface="Tahoma"/>
                <a:ea typeface="Noto Serif CJK SC"/>
              </a:rPr>
              <a:t> </a:t>
            </a:r>
            <a:r>
              <a:rPr b="1" lang="sv-SE" sz="2400" spc="-1" strike="noStrike">
                <a:solidFill>
                  <a:srgbClr val="000000"/>
                </a:solidFill>
                <a:latin typeface="Tahoma"/>
                <a:ea typeface="Noto Serif CJK SC"/>
              </a:rPr>
              <a:t>Pre Pruning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431640" indent="-215640">
              <a:lnSpc>
                <a:spcPct val="100000"/>
              </a:lnSpc>
              <a:spcBef>
                <a:spcPts val="1774"/>
              </a:spcBef>
              <a:spcAft>
                <a:spcPts val="1074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sv-SE" sz="2400" spc="-1" strike="noStrike">
                <a:solidFill>
                  <a:srgbClr val="000000"/>
                </a:solidFill>
                <a:latin typeface="Tahoma"/>
                <a:ea typeface="Noto Serif CJK SC"/>
              </a:rPr>
              <a:t>Post Pruning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431640" indent="-215640">
              <a:lnSpc>
                <a:spcPct val="100000"/>
              </a:lnSpc>
              <a:spcBef>
                <a:spcPts val="1774"/>
              </a:spcBef>
              <a:spcAft>
                <a:spcPts val="1074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sv-SE" sz="2400" spc="-1" strike="noStrike">
                <a:solidFill>
                  <a:srgbClr val="000000"/>
                </a:solidFill>
                <a:latin typeface="Tahoma"/>
                <a:ea typeface="Noto Serif CJK SC"/>
              </a:rPr>
              <a:t>Gain ratio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431640" indent="-215640">
              <a:lnSpc>
                <a:spcPct val="100000"/>
              </a:lnSpc>
              <a:spcBef>
                <a:spcPts val="1774"/>
              </a:spcBef>
              <a:spcAft>
                <a:spcPts val="1074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sv-SE" sz="2400" spc="-1" strike="noStrike">
                <a:solidFill>
                  <a:srgbClr val="000000"/>
                </a:solidFill>
                <a:latin typeface="Tahoma"/>
                <a:ea typeface="Noto Serif CJK SC"/>
              </a:rPr>
              <a:t>Cross validation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431640" indent="-215640">
              <a:lnSpc>
                <a:spcPct val="100000"/>
              </a:lnSpc>
              <a:spcBef>
                <a:spcPts val="1774"/>
              </a:spcBef>
              <a:spcAft>
                <a:spcPts val="1074"/>
              </a:spcAft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cc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"/>
          <p:cNvSpPr/>
          <p:nvPr/>
        </p:nvSpPr>
        <p:spPr>
          <a:xfrm>
            <a:off x="871560" y="861840"/>
            <a:ext cx="8161560" cy="7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4400" spc="-1" strike="noStrike">
                <a:solidFill>
                  <a:srgbClr val="e5ffff"/>
                </a:solidFill>
                <a:latin typeface="Arial"/>
                <a:ea typeface="DejaVu Sans"/>
              </a:rPr>
              <a:t>Advantages of using ID3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"/>
          <p:cNvSpPr/>
          <p:nvPr/>
        </p:nvSpPr>
        <p:spPr>
          <a:xfrm>
            <a:off x="457200" y="1981080"/>
            <a:ext cx="8226720" cy="41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lnSpc>
                <a:spcPct val="100000"/>
              </a:lnSpc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  <a:ea typeface="DejaVu Sans"/>
              </a:rPr>
              <a:t>Understandable prediction rules are created from the training data.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  <a:ea typeface="DejaVu Sans"/>
              </a:rPr>
              <a:t>Builds the fastest tree.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  <a:ea typeface="DejaVu Sans"/>
              </a:rPr>
              <a:t>Builds a short tree.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  <a:ea typeface="DejaVu Sans"/>
              </a:rPr>
              <a:t>Only need to test enough attributes until all data is classified.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  <a:ea typeface="DejaVu Sans"/>
              </a:rPr>
              <a:t>Finding leaf nodes enables test data to be pruned, reducing</a:t>
            </a:r>
            <a:r>
              <a:rPr b="0" lang="en-US" sz="3200" spc="-1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ffffff"/>
                </a:solidFill>
                <a:latin typeface="Arial"/>
                <a:ea typeface="DejaVu Sans"/>
              </a:rPr>
              <a:t>number of tests.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  <a:ea typeface="DejaVu Sans"/>
              </a:rPr>
              <a:t>Whole dataset is searched to create tree.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cc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"/>
          <p:cNvSpPr/>
          <p:nvPr/>
        </p:nvSpPr>
        <p:spPr>
          <a:xfrm>
            <a:off x="871560" y="861840"/>
            <a:ext cx="8161560" cy="7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4400" spc="-1" strike="noStrike">
                <a:solidFill>
                  <a:srgbClr val="e5ffff"/>
                </a:solidFill>
                <a:latin typeface="Arial"/>
                <a:ea typeface="DejaVu Sans"/>
              </a:rPr>
              <a:t>Disadvantages of using ID3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"/>
          <p:cNvSpPr/>
          <p:nvPr/>
        </p:nvSpPr>
        <p:spPr>
          <a:xfrm>
            <a:off x="457200" y="1981080"/>
            <a:ext cx="8226720" cy="41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lnSpc>
                <a:spcPct val="100000"/>
              </a:lnSpc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  <a:ea typeface="DejaVu Sans"/>
              </a:rPr>
              <a:t>Data may be over-fitted or over-classified, if a small sample is tested.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  <a:ea typeface="DejaVu Sans"/>
              </a:rPr>
              <a:t>Only one attribute at a time is tested for making a decision.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  <a:ea typeface="DejaVu Sans"/>
              </a:rPr>
              <a:t>Classifying continuous data may be computationally expensive, as many trees must be generated to see where to break the continuum.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615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2007-04-24T04:49:28Z</dcterms:created>
  <dc:creator>Medha Pradhan</dc:creator>
  <dc:description/>
  <dc:language>en-US</dc:language>
  <cp:lastModifiedBy/>
  <dcterms:modified xsi:type="dcterms:W3CDTF">2026-01-21T16:23:48Z</dcterms:modified>
  <cp:revision>62</cp:revision>
  <dc:subject/>
  <dc:title>ID3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1033-11.1.0.8722</vt:lpwstr>
  </property>
</Properties>
</file>