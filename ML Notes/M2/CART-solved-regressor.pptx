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1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</p:sld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ABF786-E29F-4A7A-A28E-4BD355663C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7ABB031-BE57-44DC-B71B-CFE1F5E3EE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DF4C145-63BA-4919-849F-09CA37DFB9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E42C17A-4EEF-443C-8FCE-54A7680684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2269900-D67A-4762-93DA-F795869DD0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9E46477-F525-4A98-8C37-E42BCA7928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472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673160" y="1600200"/>
            <a:ext cx="401472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712BB29-D10F-4B69-AADC-D7725A8103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EBC01B2-8D74-4F69-A80C-5324DCC28E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650F58FA-CF56-459C-AC12-FB349414F3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6387E72-69F8-4D96-919F-BEB03B0CEE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6AB18A8A-561F-4544-A282-7756ED3DFD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514A574F-E229-4F40-94CC-F6107CFC02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7E3ADA62-B4F1-4AB0-95AA-D6FBB3F071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AD3BE57-495B-455A-BF8B-38FDE0C8447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ECD5C77-C8F3-44DD-9029-E670E67F2E7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D08C304-08A3-4103-B074-B933D49B328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6C28663-9F97-4813-B1A5-F1A5D9B52D7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031A1F0-EE9F-4C7C-A50D-AE28261B7D9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9427CB3-9A07-49C6-9C72-C495C30974F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436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673160" y="1600200"/>
            <a:ext cx="401436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384C75C-F0B4-48D2-9F91-807DF440081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AE708CF-28B3-4F18-8910-603344621E5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C60C0C8-C547-4463-B591-7F0549B02FA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B6EA3E6-F53C-4992-830A-F8B4800BC5B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7D72F74-746F-4293-AC15-9EB6539802B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520D356-F7CD-479F-B559-2C8912D433E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ftr" idx="37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sldNum" idx="38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C77E67B-5482-42DD-8A48-519F128E13D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dt" idx="39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9880" cy="146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CART Algorithm - Regressor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398280" cy="174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/>
          </p:nvPr>
        </p:nvSpPr>
        <p:spPr>
          <a:xfrm>
            <a:off x="457200" y="27684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Splits data into two parts at each node (binary split)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Chooses splits that minimize prediction error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Predicts the mean value of the target in each leaf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Split criterion: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Variance(Mean Squared Error (MSE))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    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Other options- RSS,SD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952920" y="4572000"/>
            <a:ext cx="6329520" cy="1142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Split data to reduce variance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Choose split with minimum weighted MSE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Leaf node prediction = mean of target values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Top-down, greedy algorithm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70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592560" y="1334160"/>
            <a:ext cx="82270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685800" y="1392480"/>
            <a:ext cx="7049160" cy="464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1250640" y="2124000"/>
            <a:ext cx="6694200" cy="263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74760" y="685800"/>
            <a:ext cx="82270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For 3 categories, unique binary splits are:</a:t>
            </a:r>
            <a:br>
              <a:rPr sz="1500"/>
            </a:b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{Good} vs {Average, Poor}</a:t>
            </a:r>
            <a:br>
              <a:rPr sz="1500"/>
            </a:br>
            <a:br>
              <a:rPr sz="1500"/>
            </a:br>
            <a:br>
              <a:rPr sz="2200"/>
            </a:b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502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Split: {Good} vs {Average, Poor}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686160" y="5447880"/>
            <a:ext cx="6856920" cy="1294200"/>
          </a:xfrm>
          <a:prstGeom prst="rect">
            <a:avLst/>
          </a:prstGeom>
          <a:ln w="0">
            <a:noFill/>
          </a:ln>
        </p:spPr>
      </p:pic>
      <p:pic>
        <p:nvPicPr>
          <p:cNvPr id="86" name="" descr=""/>
          <p:cNvPicPr/>
          <p:nvPr/>
        </p:nvPicPr>
        <p:blipFill>
          <a:blip r:embed="rId2"/>
          <a:stretch/>
        </p:blipFill>
        <p:spPr>
          <a:xfrm>
            <a:off x="454320" y="1514160"/>
            <a:ext cx="8333280" cy="4225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{Average} vs {Good, Poor}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914400"/>
            <a:ext cx="8227080" cy="571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305280" y="1324440"/>
            <a:ext cx="8609400" cy="530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{Poor} vs {Good, Average}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305280" y="1143000"/>
            <a:ext cx="8609400" cy="530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95760" y="274680"/>
            <a:ext cx="8361000" cy="584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469080" y="457200"/>
            <a:ext cx="8285040" cy="555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/>
          </p:nvPr>
        </p:nvSpPr>
        <p:spPr>
          <a:xfrm>
            <a:off x="459360" y="457200"/>
            <a:ext cx="8227080" cy="59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1371600" y="3429000"/>
            <a:ext cx="64004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                         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Assessment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        ┌────────┴────────┐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     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Good                   Average / Poor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76680" y="685800"/>
            <a:ext cx="8838000" cy="238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228600" y="457200"/>
            <a:ext cx="8457840" cy="596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322920" y="290880"/>
            <a:ext cx="8577360" cy="6856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/>
          </p:nvPr>
        </p:nvSpPr>
        <p:spPr>
          <a:xfrm>
            <a:off x="914400" y="119124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1371600" y="1371600"/>
            <a:ext cx="5714640" cy="4021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Assessment = Good AND Assignment = Yes</a:t>
            </a:r>
            <a:br>
              <a:rPr sz="1600"/>
            </a:b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502200" y="897120"/>
            <a:ext cx="8561160" cy="3141360"/>
          </a:xfrm>
          <a:prstGeom prst="rect">
            <a:avLst/>
          </a:prstGeom>
          <a:ln w="0">
            <a:noFill/>
          </a:ln>
        </p:spPr>
      </p:pic>
      <p:sp>
        <p:nvSpPr>
          <p:cNvPr id="112" name=""/>
          <p:cNvSpPr/>
          <p:nvPr/>
        </p:nvSpPr>
        <p:spPr>
          <a:xfrm>
            <a:off x="1143000" y="4114800"/>
            <a:ext cx="6856560" cy="187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Remaining feature: Project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But both records have: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</a:rPr>
              <a:t>Project = Yes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So split gives no separation.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/>
          </p:nvPr>
        </p:nvSpPr>
        <p:spPr>
          <a:xfrm>
            <a:off x="457200" y="914400"/>
            <a:ext cx="8227080" cy="520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Assessment=Good, Assignment=No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Error reduction is small with respect to parent. So treated as leaf node.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1803240" y="2609640"/>
            <a:ext cx="5590440" cy="166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Right subtree = Assessment = Average / Poor</a:t>
            </a:r>
            <a:br>
              <a:rPr sz="2200"/>
            </a:b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MSE2=208.6 approx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WMSE= 128  appro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2743200" y="914400"/>
            <a:ext cx="6094800" cy="4856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/>
          </p:nvPr>
        </p:nvSpPr>
        <p:spPr>
          <a:xfrm>
            <a:off x="0" y="25146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457200" y="279360"/>
            <a:ext cx="8542080" cy="47494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85.03(approx)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2"/>
          <a:stretch/>
        </p:blipFill>
        <p:spPr>
          <a:xfrm>
            <a:off x="1096200" y="4915440"/>
            <a:ext cx="5761440" cy="125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/>
          </p:nvPr>
        </p:nvSpPr>
        <p:spPr>
          <a:xfrm>
            <a:off x="457200" y="276840"/>
            <a:ext cx="8000640" cy="589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Assessment= Average and Poor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MSE:  Average=81.66, Poor=100,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       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WMSE=      88.9 (app)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685800" y="1371600"/>
            <a:ext cx="8000640" cy="3200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Final Tree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41760" y="1371960"/>
            <a:ext cx="9142200" cy="609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2026-03-07T10:21:26Z</dcterms:modified>
  <cp:revision>96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