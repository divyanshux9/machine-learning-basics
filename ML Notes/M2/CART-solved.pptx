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3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  <p:sldId id="287" r:id="rId49"/>
    <p:sldId id="288" r:id="rId50"/>
    <p:sldId id="289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8" r:id="rId60"/>
    <p:sldId id="299" r:id="rId61"/>
    <p:sldId id="300" r:id="rId62"/>
    <p:sldId id="301" r:id="rId63"/>
    <p:sldId id="302" r:id="rId64"/>
    <p:sldId id="303" r:id="rId65"/>
    <p:sldId id="304" r:id="rId6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Relationship Id="rId6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D882EE-6A43-487B-ADBF-A4480EBC70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F5466C9-0AD8-4F24-99C9-2CD16B51F8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211824-30FD-4482-B471-B9CB79FE96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27F03C-FDA2-4E7E-856A-F7C32062E6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327E0AF-4CC6-4D5A-9C3A-C5EDEB87D3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2D27762-3166-411E-9137-2B18718B23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CB3751C-B2A3-455C-8F15-DCF31DF8A7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00F9C9A-49EB-4464-97F4-5E8957A603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794121D-EE4B-448C-A027-7250A76377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E3D5EBF-543E-4121-BBEB-D2DA000067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36F9BC9-8628-4380-B083-9F7A8E04CE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DBCF836-A7C2-4149-A8F0-216606EDF5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270116E5-C8D6-4564-A34F-43EF7AC353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33EBCD-4D7A-4FE4-8623-A77A81C8CC1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320628-C5EC-4F75-AA8D-F6369586E81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386FF4-E517-4168-89EF-46A47A9401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1665126-2575-43C6-80EF-2E46C0C32D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E9A1D9A-AA6D-4E4E-9AB6-BFBD59B7B1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877648-2FF0-4392-9006-A514082ED9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C218E6-5118-4932-B368-73AB790170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B55EC7-0AC5-4D77-9015-4FC6228A45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C4BFE1-E329-4F43-9CE8-B915EEDC9D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28BFAE-41D2-4916-8B7F-CFC04395A8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A93A7D5-3F79-4353-9AE0-71BF6272CC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DC9B000-A51A-4ABF-8CCC-96971BADE5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7B0BF8-3196-44B8-9ED1-1F3633939A2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hyperlink" Target="https://www.geeksforgeeks.org/machine-learning/pruning-decision-trees/" TargetMode="External"/><Relationship Id="rId2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CART Algorithm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399360" cy="175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What is CART?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CART stands for Classification And Regression Trees.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Supervised learning algorithm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Used for classification and regression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Produces binary decision trees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Key Characteristics of CART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Binary splits only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Uses Gini Index (classification)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Uses Mean Squared Error (regression)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Works with numerical and categorical features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- Supports pruning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Gini Index (Classification)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Gini = 1 − Σ (pi)^2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Where pi is the probability of class i in a node.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Lower Gini → purer node.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CART chooses split with minimum weighted Gini.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63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Calibri"/>
              </a:rPr>
              <a:t>Weighted Gini in CART?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7800" cy="52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In CART (Classification and Regression Trees), when a node is split into child nodes,  do not look at each child’s Gini separately.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Compute a weighted average of the Gini impurities of the child nodes.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914400" y="2514600"/>
            <a:ext cx="5713560" cy="365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choose the split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1. Subtract from parent (Impurity Reduction)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2. Weighted child impurity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Choose the split with MINIMUM weighted Gini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609840" y="2057400"/>
            <a:ext cx="4875840" cy="98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Steps in CART Algorithm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1. Select best feature and threshold using Gini/MSE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 Split data into two child nodes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 Repeat recursively for each node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 Stop when stopping criteria is met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 Optionally prune the tree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1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92560" y="133416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" descr=""/>
          <p:cNvPicPr/>
          <p:nvPr/>
        </p:nvPicPr>
        <p:blipFill>
          <a:blip r:embed="rId1"/>
          <a:stretch/>
        </p:blipFill>
        <p:spPr>
          <a:xfrm>
            <a:off x="950760" y="885600"/>
            <a:ext cx="7294680" cy="511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Step 1: Root Node Gini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Yes = 6, No = 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Gini = 1 − (6/10)² − (4/10)²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Gini(root) = 0.48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Possible CART binary splits for Age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1️ {≤30} vs {31–40, &gt;40}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2️. {31–40} vs {≤30, &gt;40}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3️. {&gt;40} vs {≤30, 31–40}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920" y="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Split 1: {≤30} vs {31–40, &gt;40}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86520" y="914400"/>
            <a:ext cx="8228160" cy="548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10000"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dk1"/>
                </a:solidFill>
                <a:latin typeface="Calibri"/>
              </a:rPr>
              <a:t>Group 1 (≤30)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Yes = 1, No = 3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Gini1=1−(1/4)2−(3/4)2=0.375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0560" spc="-1" strike="noStrike">
                <a:solidFill>
                  <a:schemeClr val="dk1"/>
                </a:solidFill>
                <a:latin typeface="Calibri"/>
              </a:rPr>
              <a:t>Group 2 (31–40, &gt;40)</a:t>
            </a:r>
            <a:endParaRPr b="0" lang="en-US" sz="1056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dk1"/>
                </a:solidFill>
                <a:latin typeface="Calibri"/>
              </a:rPr>
              <a:t>Yes = 5, No = 1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8800" spc="-1" strike="noStrike">
                <a:solidFill>
                  <a:schemeClr val="dk1"/>
                </a:solidFill>
                <a:latin typeface="Calibri"/>
              </a:rPr>
              <a:t>Gini2=1−(5/6)2−(1/6)2=0.278</a:t>
            </a:r>
            <a:endParaRPr b="0" lang="en-US" sz="8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Weighted Gini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200" spc="-1" strike="noStrike">
                <a:solidFill>
                  <a:schemeClr val="dk1"/>
                </a:solidFill>
                <a:latin typeface="Calibri"/>
              </a:rPr>
              <a:t>=(4/10)(0.375)+(6/10)(0.278)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4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200" spc="-1" strike="noStrike">
                <a:solidFill>
                  <a:schemeClr val="dk1"/>
                </a:solidFill>
                <a:latin typeface="Calibri"/>
              </a:rPr>
              <a:t>=0.15+0.1668=0.3168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{31–40} vs {≤30, &gt;40}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57200" y="1442880"/>
            <a:ext cx="7802280" cy="45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457560" y="46440"/>
            <a:ext cx="8228160" cy="612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676800" y="362160"/>
            <a:ext cx="8602920" cy="306612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1143000" y="3200400"/>
            <a:ext cx="7249680" cy="297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{&gt;40} vs {≤30, 31–40}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143000" y="1143000"/>
            <a:ext cx="5075280" cy="531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8160" cy="525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1162440" y="476640"/>
            <a:ext cx="5694480" cy="226548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1600200" y="3219840"/>
            <a:ext cx="5485320" cy="180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{≤30} vs {31–40, &gt;40} → Gini = 0.3168 -selected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{31–40} vs {≤30, &gt;40} → Gini = 0.40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{&gt;40} vs {≤30, 31–40} → Gini = 0.45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INCOME (Binary Options)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{Low} vs {High, Medium} → Gini = 0.45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{High} vs {Medium, Low} → Gini = 0.419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{Medium} vs {High, Low} → Gini = 0.476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879120" y="1828800"/>
            <a:ext cx="7437600" cy="322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1"/>
          <a:stretch/>
        </p:blipFill>
        <p:spPr>
          <a:xfrm>
            <a:off x="892800" y="1835640"/>
            <a:ext cx="7437600" cy="322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169920" y="1600200"/>
            <a:ext cx="8522280" cy="452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Student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229320" y="18288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32840" y="1407600"/>
            <a:ext cx="8198280" cy="479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Credit rating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457200" y="1416960"/>
            <a:ext cx="7873920" cy="477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br>
              <a:rPr sz="3200"/>
            </a:b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AGE - root</a:t>
            </a:r>
            <a:br>
              <a:rPr sz="4400"/>
            </a:b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Left Subtree: Age ≤ 30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20574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1284120" y="2404800"/>
            <a:ext cx="6627960" cy="207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Student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914400" y="1417320"/>
            <a:ext cx="6488280" cy="416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Income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575640" y="1417320"/>
            <a:ext cx="7450560" cy="406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522720" y="1417320"/>
            <a:ext cx="7503480" cy="406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522720" y="1371600"/>
            <a:ext cx="7503480" cy="4113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/>
                </a:solidFill>
                <a:latin typeface="Calibri"/>
              </a:rPr>
              <a:t>Credit rating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1164960" y="1676160"/>
            <a:ext cx="6865920" cy="35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Best split- Student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8160" cy="4981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777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Student = Yes → Yes = 1, No = 0 →  Pure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Student = No → Yes = 0, No = 3 →  Pure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Age ≤ 30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     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|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  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Student?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 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/        \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Yes          No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(Yes)        (No)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Right Subtree: Age &gt; 30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228600" y="11430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609840" y="1371600"/>
            <a:ext cx="8495280" cy="38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Credit rating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                       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=0.167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1631880" y="1971720"/>
            <a:ext cx="5932800" cy="294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student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1641240" y="1785600"/>
            <a:ext cx="5913720" cy="331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chemeClr val="dk1"/>
                </a:solidFill>
                <a:latin typeface="Calibri"/>
              </a:rPr>
              <a:t>Income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1393560" y="1604880"/>
            <a:ext cx="6408720" cy="3675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1331640" y="1780920"/>
            <a:ext cx="6532560" cy="332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                                        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527040" y="685800"/>
            <a:ext cx="7337160" cy="5485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Age Split: {31–40} vs {&gt;40}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31–40 → IDs 3,7 → Yes=2, No=0 → Gini = 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&gt;40 → IDs 4,5,6,10 → Yes=3, No=1 → Gini = 0.375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Weighted Gini: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(2/6)(0)+(4/6)(0.375)=0.25(2/6)(0) + (4/6)(0.375) = 0.25(2/6)(0)+(4/6)(0.375)=0.25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Choose the best – credit rating is the best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Age - 0.25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457200" y="2286000"/>
            <a:ext cx="6392880" cy="262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Right Subtree: Credit = Excellent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1"/>
          <a:stretch/>
        </p:blipFill>
        <p:spPr>
          <a:xfrm>
            <a:off x="1235880" y="2697480"/>
            <a:ext cx="6751800" cy="150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Right Subtree: Credit = Excellent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For Age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Leaves are pure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876600" y="2200680"/>
            <a:ext cx="7352280" cy="305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/>
          </p:nvPr>
        </p:nvSpPr>
        <p:spPr>
          <a:xfrm>
            <a:off x="228600" y="457560"/>
            <a:ext cx="8228160" cy="617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7020" spc="-1" strike="noStrike">
                <a:solidFill>
                  <a:schemeClr val="dk1"/>
                </a:solidFill>
                <a:latin typeface="Calibri"/>
              </a:rPr>
              <a:t>Student</a:t>
            </a:r>
            <a:endParaRPr b="0" lang="en-US" sz="1702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Left child (Student = Yes): Yes = 1, No = 1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Right child (Student = No): 0 records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Weighted Gini: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(2/2)∗0.5+(0/2)∗0=0.5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15470" spc="-1" strike="noStrike">
                <a:solidFill>
                  <a:schemeClr val="dk1"/>
                </a:solidFill>
                <a:latin typeface="Calibri"/>
              </a:rPr>
              <a:t>Income</a:t>
            </a:r>
            <a:endParaRPr b="0" lang="en-US" sz="1547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9310" spc="-1" strike="noStrike">
                <a:solidFill>
                  <a:schemeClr val="dk1"/>
                </a:solidFill>
                <a:latin typeface="Calibri"/>
              </a:rPr>
              <a:t>Left child (Income=low) :</a:t>
            </a:r>
            <a:r>
              <a:rPr b="1" lang="en-US" sz="1278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Yes = 1, No = 1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</a:rPr>
              <a:t>No right child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r>
              <a:rPr b="0" lang="en-US" sz="7200" spc="-1" strike="noStrike">
                <a:solidFill>
                  <a:schemeClr val="dk1"/>
                </a:solidFill>
                <a:latin typeface="Calibri"/>
                <a:ea typeface="Noto Sans CJK SC"/>
              </a:rPr>
              <a:t>Weighted Gini: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chemeClr val="dk1"/>
                </a:solidFill>
                <a:latin typeface="Calibri"/>
                <a:ea typeface="Noto Sans CJK SC"/>
              </a:rPr>
              <a:t>  </a:t>
            </a:r>
            <a:r>
              <a:rPr b="0" lang="en-US" sz="7200" spc="-1" strike="noStrike">
                <a:solidFill>
                  <a:schemeClr val="dk1"/>
                </a:solidFill>
                <a:latin typeface="Calibri"/>
                <a:ea typeface="Noto Sans CJK SC"/>
              </a:rPr>
              <a:t>(2/2)∗0.5+(0/2)∗0=0.5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Weighted Gini: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Student =0.5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Income=0.5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Age=0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Student and Income cannot split (no variability)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Split Age → produces pure leaves 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Final Tree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-456120" y="1220400"/>
            <a:ext cx="9142920" cy="609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Other possibilities</a:t>
            </a:r>
            <a:br>
              <a:rPr sz="2200"/>
            </a:b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(Leaf decision) 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en-US" sz="2200" spc="-1" strike="noStrike">
                <a:solidFill>
                  <a:schemeClr val="dk1"/>
                </a:solidFill>
                <a:latin typeface="Calibri"/>
              </a:rPr>
              <a:t>For example(if Age attribute is not available, and when student and Income has same value, no reduction in impurity)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Tie → take parent majority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Parent, majority = Yes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Predict YES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Tree(For Tie)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                            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"/>
          <a:stretch/>
        </p:blipFill>
        <p:spPr>
          <a:xfrm>
            <a:off x="1079280" y="1981080"/>
            <a:ext cx="7037640" cy="396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Every split is strictly binary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All attributes tested at every node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Root Gini is baseline impurity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CART stops at pure nodes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Pruning in CART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 u="sng">
                <a:solidFill>
                  <a:schemeClr val="dk1"/>
                </a:solidFill>
                <a:uFillTx/>
                <a:latin typeface="Calibri"/>
                <a:hlinkClick r:id="rId1"/>
              </a:rPr>
              <a:t>Pruning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 is used to prevent overfitting by trimming branches of the decision tree that add little or no improvement to model accuracy. It simplifies the tree, improves generalization and reduces model complexity.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Types of Pruning in CART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Cost Complexity Pruning: Removes branches by comparing the trade off between tree accuracy and tree size, keeping only those nodes that significantly improve performance.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Reduced Error Pruning: Eliminates nodes that do not improve the model’s accuracy on a validation dataset, ensuring only beneficial splits remain.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Common Stopping or Pruning Criteria Used in CART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Maximum tree depth reached: The tree stops growing after a predefined maximum depth.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Minimum samples required to split a node: Splitting stops when a node has fewer samples than the minimum required.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No further improvement in impurity: If a split does not reduce impurity or error, CART stops splitting.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Node becomes pure: When all samples belong to one class, no further split is needed.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2026-02-05T12:36:50Z</dcterms:modified>
  <cp:revision>64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