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slide" Target="slides/slide13.xml"/><Relationship Id="rId31" Type="http://schemas.openxmlformats.org/officeDocument/2006/relationships/slide" Target="slides/slide14.xml"/><Relationship Id="rId32" Type="http://schemas.openxmlformats.org/officeDocument/2006/relationships/slide" Target="slides/slide15.xml"/><Relationship Id="rId33" Type="http://schemas.openxmlformats.org/officeDocument/2006/relationships/slide" Target="slides/slide16.xml"/><Relationship Id="rId34" Type="http://schemas.openxmlformats.org/officeDocument/2006/relationships/slide" Target="slides/slide17.xml"/><Relationship Id="rId35" Type="http://schemas.openxmlformats.org/officeDocument/2006/relationships/slide" Target="slides/slide18.xml"/><Relationship Id="rId36" Type="http://schemas.openxmlformats.org/officeDocument/2006/relationships/slide" Target="slides/slide19.xml"/><Relationship Id="rId3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066EE0B-D570-4217-B0A0-0262F1B0ADF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761A2E-5BDF-4C27-A515-2C8C373B27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FA75218-B28D-4D09-8742-38598A69B5A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1DA1893-AF7D-436A-BD26-65596C04BD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B3EC500-46BA-425E-8985-3B621CBADE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989D492-534E-4F76-B406-4AB86C55A5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F0E5723E-CEF3-4D46-BE06-B1FA4902FD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5B17250-437C-4314-B27A-94E441E9F4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B0EEACF-46FF-4081-B095-F32699F31D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302B6287-A1BB-48CD-B57B-750DE8C0C9C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436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2800" y="1600200"/>
            <a:ext cx="401436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A5234EB-467F-4925-8BDB-B31F344C33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CAF93E3-19E8-43BF-BA99-861F6F806E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45CDAEA3-6F20-47E5-BC2A-5BEBC591123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D7DB5F13-851B-4750-9361-F18811E40A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B360DC9A-8489-47A8-BBD4-9014759A45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76936D13-14C3-4464-8E90-A50CFF29D4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F29FBEE-7DE4-4E4C-AD4A-4233B222961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1D0C7FC-3F10-4030-8A1C-BD6EFA688EF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860B58-273E-43A0-ACEB-B8EE18CCA0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BACCBAD-994F-41FC-9E42-9AAF8F9DED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0DA27B-894D-4906-8CA1-BA05100779C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604096-7DB5-417B-9BE7-C407A15F0F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30738B-6BD4-439B-9080-7C8EE3A141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D77FF4-C2E3-4A4A-8CE2-900B47843CD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A024BD8-E910-4737-AC72-2C32F8B331D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276CFF7-F4C8-4A3A-BA96-91D2FF1E45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1436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3160" y="1600200"/>
            <a:ext cx="401436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BC25787-7F76-40E1-B745-145C9765BD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34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35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4D7DB71-C8CD-4934-9894-FD18A789473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6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37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38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22E5AB-81D6-42FD-8CF2-FE0779AEC73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39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ftr" idx="40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41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8FAAED-C1E3-4453-BB40-56D70302C28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42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ftr" idx="43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44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0389411-E436-4118-BE5C-68A4358BA54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dt" idx="45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ftr" idx="46"/>
          </p:nvPr>
        </p:nvSpPr>
        <p:spPr>
          <a:xfrm>
            <a:off x="3124080" y="6356520"/>
            <a:ext cx="289260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sldNum" idx="47"/>
          </p:nvPr>
        </p:nvSpPr>
        <p:spPr>
          <a:xfrm>
            <a:off x="655308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0C1B71-7C9C-4490-9056-D837272C6F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48"/>
          </p:nvPr>
        </p:nvSpPr>
        <p:spPr>
          <a:xfrm>
            <a:off x="457200" y="6356520"/>
            <a:ext cx="213084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Bernoulli Naive Bayes Classifier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Bernoulli Naive Bayes is a subcategory of the Naive Bayes Algorithm.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It is typically used when the data is binary and it models the occurrence of features using Bernoulli distribution.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It is used for the classification of binary features such as 'Yes' or 'No', '1' or '0', 'True' or 'False' etc.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 Bernoulli Naive Bayes model we assume that each feature is conditionally independent given the class y.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Bernoulli NB considers both presence AND absence of features.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/>
          </p:nvPr>
        </p:nvSpPr>
        <p:spPr>
          <a:xfrm>
            <a:off x="457200" y="2057400"/>
            <a:ext cx="8226720" cy="406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416160" y="685800"/>
            <a:ext cx="8269560" cy="5028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Contd….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609840" y="1371600"/>
            <a:ext cx="8198640" cy="4340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-45684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br>
              <a:rPr sz="1800"/>
            </a:b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Example -Dataset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4664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457200" y="623520"/>
            <a:ext cx="7998840" cy="577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Test message:    “buy now”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228960" y="141804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914400" y="1600200"/>
            <a:ext cx="6502680" cy="4112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62640" y="457200"/>
            <a:ext cx="9078840" cy="594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/>
          </p:nvPr>
        </p:nvSpPr>
        <p:spPr>
          <a:xfrm>
            <a:off x="457200" y="457200"/>
            <a:ext cx="8226720" cy="566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1298160" y="1438200"/>
            <a:ext cx="6599880" cy="4008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686160" y="228600"/>
            <a:ext cx="7999560" cy="639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9444"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5400" spc="-1" strike="noStrike">
                <a:solidFill>
                  <a:srgbClr val="000000"/>
                </a:solidFill>
                <a:latin typeface="Arial"/>
                <a:ea typeface="Noto Sans CJK SC"/>
              </a:rPr>
              <a:t>The above general formula is applied with likelihood, smoothening parameter  α=1. K is the  possible outcomes(values) of the features.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143000" y="176040"/>
            <a:ext cx="7542360" cy="465804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1383120" y="4800600"/>
            <a:ext cx="6661440" cy="137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229320" y="732600"/>
            <a:ext cx="8226720" cy="566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 rot="17400">
            <a:off x="216360" y="2630880"/>
            <a:ext cx="8080920" cy="1915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Priors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P(Spam)=0.5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P(Not Spam)=0.5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346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4184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975240" y="457200"/>
            <a:ext cx="6795000" cy="548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457200"/>
            <a:ext cx="8226720" cy="566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5" name="" descr=""/>
          <p:cNvPicPr/>
          <p:nvPr/>
        </p:nvPicPr>
        <p:blipFill>
          <a:blip r:embed="rId1"/>
          <a:stretch/>
        </p:blipFill>
        <p:spPr>
          <a:xfrm>
            <a:off x="685800" y="914400"/>
            <a:ext cx="7322400" cy="5331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36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Likelihood: buy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920" y="203400"/>
            <a:ext cx="8226720" cy="6351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175"/>
              </a:spcBef>
              <a:spcAft>
                <a:spcPts val="706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175"/>
              </a:spcBef>
              <a:spcAft>
                <a:spcPts val="706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Class =Spam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3175"/>
              </a:spcBef>
              <a:spcAft>
                <a:spcPts val="706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[ P(buy=1|Spam) = (2+1)/(2+2) = 3/4 ]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[ P(buy=0|Spam) = 1 - 3/4 = 1/4 ]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class=Not 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Noto Sans CJK SC"/>
              </a:rPr>
              <a:t>[ P(buy=1|NotSpam) = (0+1)/(2+2) = 1/4 ][ P(buy=0|NotSpam) = 1 - 1/4 = 3/4 ]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560" y="36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Likelihood: now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143000"/>
            <a:ext cx="8226720" cy="52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3175"/>
              </a:spcBef>
              <a:spcAft>
                <a:spcPts val="706"/>
              </a:spcAft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000000"/>
                </a:solidFill>
                <a:latin typeface="Aptos Display"/>
              </a:rPr>
              <a:t>Class= Spam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[ P(now=1|Spam) = (1+1)/(2+2) = 1/2 ]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[ P(now=0|Spam) = 1/2 ]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4000" spc="-1" strike="noStrike">
                <a:solidFill>
                  <a:schemeClr val="dk1"/>
                </a:solidFill>
                <a:latin typeface="Calibri"/>
              </a:rPr>
              <a:t>class=Not Spam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  <a:p>
            <a:pPr marL="457200" indent="-228600">
              <a:lnSpc>
                <a:spcPct val="100000"/>
              </a:lnSpc>
              <a:spcBef>
                <a:spcPts val="320"/>
              </a:spcBef>
              <a:spcAft>
                <a:spcPts val="320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[ P(now=1|NotSpam) = (1+1)/(2+2) = 1/2 ]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Times New Roman"/>
              </a:rPr>
              <a:t>[ P(now=0|NotSpam) = 1/2 ]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40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457200" y="732240"/>
            <a:ext cx="8226720" cy="566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Posterior Probability – 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P(Spam∣X)=P(Spam)⋅P(buy=1∣Spam)⋅P(now=1∣Spam)=0.5⋅0.75⋅0.5=0.1875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590"/>
              </a:spcBef>
              <a:spcAft>
                <a:spcPts val="1590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Posterior Probability -Not 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P(Not Spam∣X)=P(Not Spam)⋅P(buy=1∣Not Spam)⋅P(now=1∣Not Spam)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=0.5⋅0.25⋅0.5=0.0625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Final Classification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P(Spam∣X)=0.1875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P(Not Spam∣X)=0.0625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Since P(Spam∣X)&gt;P(Not Spam∣X),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The message is classified as: Spam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000" spc="-1" strike="noStrike" u="sng">
                <a:solidFill>
                  <a:srgbClr val="000000"/>
                </a:solidFill>
                <a:uFillTx/>
                <a:latin typeface="Arial"/>
              </a:rPr>
              <a:t>Advantages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Fast training and prediction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Works well with binary values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Suitable for text classification (presence / absence)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Performs well even with small datasets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6720" cy="114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6720" cy="452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1" lang="en-US" sz="2200" spc="-1" strike="noStrike" u="sng">
                <a:solidFill>
                  <a:srgbClr val="000000"/>
                </a:solidFill>
                <a:uFillTx/>
                <a:latin typeface="Arial"/>
              </a:rPr>
              <a:t>Limitations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Assumes features are independent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Works only with binary features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Needs smoothing to avoid zero probability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 suitable for continuous numerical 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2026-01-10T09:36:43Z</dcterms:modified>
  <cp:revision>37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