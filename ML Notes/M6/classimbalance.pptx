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02E2D17-46AD-4921-BB84-0BE8F747C3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5506DA-DE39-4D05-ADB8-030493051BB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</a:rPr>
              <a:t>Introduction to Class Imbalance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415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685800" y="914400"/>
            <a:ext cx="8456760" cy="38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irregular data distribution between classes is referred to as Class imbalance.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 simple terms, it can be said that when the class contains disproportionate number of instances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i.e. having more specimens in one sub-dataset than the other.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Class imbalance refers to the non uniformity in the class distribution, which means that there are many examples in one class and few in other classes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This is a scenario where the number of observations belonging to one class is significantly lower than those belonging to the other classes.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457200" y="228600"/>
            <a:ext cx="7313400" cy="5132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For Numerical Example: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In an utility fraud detection data set you have the following data: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▪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Total Observations = 1000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▪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Fraudulent Observations = 20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▪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Non Fraudulent Observations = 980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/>
          </a:bodyPr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Many classifiers are designed to optimize error/accuracy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This tends to bias performance towards the majority class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Anytime there is an imbalance in the data this can happen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An imbalanced classification problem is an example of a classification problem where the distribution of examples across the known classes is biased or skewed.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/>
          </p:nvPr>
        </p:nvSpPr>
        <p:spPr>
          <a:xfrm>
            <a:off x="457200" y="685800"/>
            <a:ext cx="907020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5555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Decision trees: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explicitly minimizes training error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when pruning pick “majority” label at leaves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tend to do very poor at imbalanced problems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k-NN: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even for small k, majority class will tend to overwhelm the vote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perceptron: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can be reasonable since only updates when a mistake is made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can take a long time to learn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Class imbalance- How to deal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Model-level: Models can be modified to introduce heavier weighting to smaller representative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classes, penalizing more heavily errors in training prediction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Evaluation-level: Alternative evaluation metrics must be used to account for class balance –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note that this solves only the problem of performance evaluation, it does not actually lead to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better model classification.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Data-level: Alternatively, the data itself can be transformed. If done in a smart way, new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instances can be introduced in such a way to allow models to better model these classes. These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methods fall under the name of data samplers (or data sampling related algorithms).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 widely adopted technique for dealing with highly unbalanced datasets is called resampling.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1. Removing samples from the majority class (under-sampling).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2. Adding more examples to the minority class (over-sampling).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3. Or perform both simultaneously: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Under-Sample the majority &amp;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Over-Sample the minority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Since Random Oversampling has disadvantages we pay attention to yet another technique called SMOTE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70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Synthetic Minority Oversampling Technique (SMOTE)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SMOTE not only increases the size of the training data set, it also increases the variety.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SMOTE creates new (artificial) training examples based on the original training examples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For an imbalanced dataset, first SMOTE is applied to create new synthetic minority samples to get a balanced distribution.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228600" y="768240"/>
            <a:ext cx="10078200" cy="4097160"/>
          </a:xfrm>
          <a:prstGeom prst="rect">
            <a:avLst/>
          </a:prstGeom>
          <a:ln w="0">
            <a:noFill/>
          </a:ln>
        </p:spPr>
      </p:pic>
      <p:sp>
        <p:nvSpPr>
          <p:cNvPr id="25" name=""/>
          <p:cNvSpPr/>
          <p:nvPr/>
        </p:nvSpPr>
        <p:spPr>
          <a:xfrm>
            <a:off x="685800" y="4682520"/>
            <a:ext cx="86162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newly generated sample resembles and inherits characteristics of its neighbors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SMOTE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/>
          <a:stretch/>
        </p:blipFill>
        <p:spPr>
          <a:xfrm>
            <a:off x="1800" y="1202760"/>
            <a:ext cx="10079280" cy="325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At a high level, the SMOTE algorithm can be described as follows: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Take difference between a sample and its nearest neighbour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Multiply the difference by a random number between 0 and 1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Add this difference to the sample to generate a new synthetic example in feature space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Continue on with next nearest neighbour up to user-defined number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/>
          </p:nvPr>
        </p:nvSpPr>
        <p:spPr>
          <a:xfrm>
            <a:off x="504000" y="228600"/>
            <a:ext cx="9070200" cy="525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SMOTE creates new synthetic points between existing minority samples.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Formula: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xnew​ = xi​ + r×(xnn​−xi​)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Where: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xi​ = minority sample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xnn​ = nearest minority neighbor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r = random number between 0 and 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SMOTE does not always use only the single nearest neighbor.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It chooses from k nearest neighbors.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k controls neighbor selection ,  n controls number of synthetic samples generated.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Different random numbers be used in the synthetic sample generation. (during implementation, random numbers generated automatically)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/>
          </p:nvPr>
        </p:nvSpPr>
        <p:spPr>
          <a:xfrm>
            <a:off x="504000" y="457200"/>
            <a:ext cx="9070200" cy="479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" descr=""/>
          <p:cNvPicPr/>
          <p:nvPr/>
        </p:nvPicPr>
        <p:blipFill>
          <a:blip r:embed="rId1"/>
          <a:stretch/>
        </p:blipFill>
        <p:spPr>
          <a:xfrm>
            <a:off x="1600200" y="36000"/>
            <a:ext cx="7658640" cy="566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1"/>
          <a:stretch/>
        </p:blipFill>
        <p:spPr>
          <a:xfrm>
            <a:off x="1143000" y="99360"/>
            <a:ext cx="6399720" cy="537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/>
          </p:nvPr>
        </p:nvSpPr>
        <p:spPr>
          <a:xfrm>
            <a:off x="504000" y="685800"/>
            <a:ext cx="9070200" cy="392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Synthetic sample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" name="" descr=""/>
          <p:cNvPicPr/>
          <p:nvPr/>
        </p:nvPicPr>
        <p:blipFill>
          <a:blip r:embed="rId1"/>
          <a:stretch/>
        </p:blipFill>
        <p:spPr>
          <a:xfrm>
            <a:off x="914400" y="1047960"/>
            <a:ext cx="7314480" cy="462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/>
          </p:nvPr>
        </p:nvSpPr>
        <p:spPr>
          <a:xfrm>
            <a:off x="504000" y="457200"/>
            <a:ext cx="9070200" cy="415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Synthetic sample 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714600" y="810000"/>
            <a:ext cx="7742880" cy="4675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/>
          </p:nvPr>
        </p:nvSpPr>
        <p:spPr>
          <a:xfrm>
            <a:off x="504000" y="0"/>
            <a:ext cx="9070200" cy="548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Synthetic sample 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2514600" y="322920"/>
            <a:ext cx="5257080" cy="493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/>
          </p:nvPr>
        </p:nvSpPr>
        <p:spPr>
          <a:xfrm>
            <a:off x="504000" y="457200"/>
            <a:ext cx="9070200" cy="47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1371600" y="685800"/>
            <a:ext cx="6579360" cy="4369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360" y="768240"/>
            <a:ext cx="10078200" cy="4097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/>
          </p:nvPr>
        </p:nvSpPr>
        <p:spPr>
          <a:xfrm>
            <a:off x="504000" y="685800"/>
            <a:ext cx="9070200" cy="392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360" y="768240"/>
            <a:ext cx="10078200" cy="4097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2026-03-06T15:52:31Z</dcterms:created>
  <dc:creator/>
  <dc:description/>
  <dc:language>en-US</dc:language>
  <cp:lastModifiedBy/>
  <dcterms:modified xsi:type="dcterms:W3CDTF">2026-03-12T13:35:20Z</dcterms:modified>
  <cp:revision>48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